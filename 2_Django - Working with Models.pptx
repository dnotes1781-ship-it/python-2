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CDCB00-0716-4DB9-BD81-0CC3D1FB335B}"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0309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DCB00-0716-4DB9-BD81-0CC3D1FB335B}"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402339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9CDCB00-0716-4DB9-BD81-0CC3D1FB335B}"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444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CDCB00-0716-4DB9-BD81-0CC3D1FB335B}"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269205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CDCB00-0716-4DB9-BD81-0CC3D1FB335B}" type="datetimeFigureOut">
              <a:rPr lang="en-US" smtClean="0"/>
              <a:t>7/3/2025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752725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CDCB00-0716-4DB9-BD81-0CC3D1FB335B}" type="datetimeFigureOut">
              <a:rPr lang="en-US" smtClean="0"/>
              <a:t>7/3/2025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1687272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9CDCB00-0716-4DB9-BD81-0CC3D1FB335B}" type="datetimeFigureOut">
              <a:rPr lang="en-US" smtClean="0"/>
              <a:t>7/3/2025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2751783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9CDCB00-0716-4DB9-BD81-0CC3D1FB335B}" type="datetimeFigureOut">
              <a:rPr lang="en-US" smtClean="0"/>
              <a:t>7/3/2025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6438F1A-BE99-4A4E-BFCB-23118592936A}" type="slidenum">
              <a:rPr lang="en-US" smtClean="0"/>
              <a:t>‹#›</a:t>
            </a:fld>
            <a:endParaRPr lang="en-US"/>
          </a:p>
        </p:txBody>
      </p:sp>
    </p:spTree>
    <p:extLst>
      <p:ext uri="{BB962C8B-B14F-4D97-AF65-F5344CB8AC3E}">
        <p14:creationId xmlns:p14="http://schemas.microsoft.com/office/powerpoint/2010/main" val="1118272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CDCB00-0716-4DB9-BD81-0CC3D1FB335B}"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2780474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DCB00-0716-4DB9-BD81-0CC3D1FB335B}"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291424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DCB00-0716-4DB9-BD81-0CC3D1FB335B}"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1466195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9CDCB00-0716-4DB9-BD81-0CC3D1FB335B}" type="datetimeFigureOut">
              <a:rPr lang="en-US" smtClean="0"/>
              <a:t>7/3/2025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6438F1A-BE99-4A4E-BFCB-23118592936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656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cs.djangoproject.com/en/4.0/ref/models/field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pypi.org/project/Pillow/"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ocs.djangoproject.com/en/4.0/ref/templates/language/#tag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2029-F1CB-4AF9-B7A2-6E20A4A442BE}"/>
              </a:ext>
            </a:extLst>
          </p:cNvPr>
          <p:cNvSpPr>
            <a:spLocks noGrp="1"/>
          </p:cNvSpPr>
          <p:nvPr>
            <p:ph type="ctrTitle"/>
          </p:nvPr>
        </p:nvSpPr>
        <p:spPr/>
        <p:txBody>
          <a:bodyPr>
            <a:normAutofit/>
          </a:bodyPr>
          <a:lstStyle/>
          <a:p>
            <a:r>
              <a:rPr lang="en-IN" sz="6000" b="1" dirty="0"/>
              <a:t>Django -</a:t>
            </a:r>
            <a:r>
              <a:rPr lang="en-US" sz="6000" b="1" dirty="0"/>
              <a:t> Working with Models</a:t>
            </a:r>
          </a:p>
        </p:txBody>
      </p:sp>
      <p:sp>
        <p:nvSpPr>
          <p:cNvPr id="3" name="Subtitle 2">
            <a:extLst>
              <a:ext uri="{FF2B5EF4-FFF2-40B4-BE49-F238E27FC236}">
                <a16:creationId xmlns:a16="http://schemas.microsoft.com/office/drawing/2014/main" id="{255D8FB8-3CB9-4717-B0CD-883B3EB3951A}"/>
              </a:ext>
            </a:extLst>
          </p:cNvPr>
          <p:cNvSpPr>
            <a:spLocks noGrp="1"/>
          </p:cNvSpPr>
          <p:nvPr>
            <p:ph type="subTitle" idx="1"/>
          </p:nvPr>
        </p:nvSpPr>
        <p:spPr/>
        <p:txBody>
          <a:bodyPr/>
          <a:lstStyle/>
          <a:p>
            <a:r>
              <a:rPr lang="en-US" dirty="0"/>
              <a:t>AMI PATEL</a:t>
            </a:r>
          </a:p>
        </p:txBody>
      </p:sp>
    </p:spTree>
    <p:extLst>
      <p:ext uri="{BB962C8B-B14F-4D97-AF65-F5344CB8AC3E}">
        <p14:creationId xmlns:p14="http://schemas.microsoft.com/office/powerpoint/2010/main" val="549170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B44B-650F-4281-89EA-2EF266A6438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C7E8D9-B552-4DE5-B16B-BF551411475E}"/>
              </a:ext>
            </a:extLst>
          </p:cNvPr>
          <p:cNvSpPr>
            <a:spLocks noGrp="1"/>
          </p:cNvSpPr>
          <p:nvPr>
            <p:ph idx="1"/>
          </p:nvPr>
        </p:nvSpPr>
        <p:spPr/>
        <p:txBody>
          <a:bodyPr/>
          <a:lstStyle/>
          <a:p>
            <a:pPr>
              <a:buFont typeface="Wingdings" panose="05000000000000000000" pitchFamily="2" charset="2"/>
              <a:buChar char="§"/>
            </a:pPr>
            <a:r>
              <a:rPr lang="en-US" dirty="0">
                <a:solidFill>
                  <a:srgbClr val="FF0000"/>
                </a:solidFill>
              </a:rPr>
              <a:t>Storing data in a database </a:t>
            </a:r>
            <a:r>
              <a:rPr lang="en-US" dirty="0"/>
              <a:t>is a common practice in most web applications. </a:t>
            </a:r>
          </a:p>
          <a:p>
            <a:pPr>
              <a:buFont typeface="Wingdings" panose="05000000000000000000" pitchFamily="2" charset="2"/>
              <a:buChar char="§"/>
            </a:pPr>
            <a:r>
              <a:rPr lang="en-US" dirty="0"/>
              <a:t>In a Django project, it involves working with </a:t>
            </a:r>
            <a:r>
              <a:rPr lang="en-US" dirty="0">
                <a:solidFill>
                  <a:srgbClr val="FF0000"/>
                </a:solidFill>
              </a:rPr>
              <a:t>Django models</a:t>
            </a:r>
            <a:r>
              <a:rPr lang="en-US" dirty="0"/>
              <a:t>. We will create a </a:t>
            </a:r>
            <a:r>
              <a:rPr lang="en-US" dirty="0">
                <a:solidFill>
                  <a:srgbClr val="FF0000"/>
                </a:solidFill>
              </a:rPr>
              <a:t>database model </a:t>
            </a:r>
            <a:r>
              <a:rPr lang="en-US" dirty="0"/>
              <a:t>(for example, blog posts and movies) and Django will turn this model into a </a:t>
            </a:r>
            <a:r>
              <a:rPr lang="en-US" dirty="0">
                <a:solidFill>
                  <a:srgbClr val="FF0000"/>
                </a:solidFill>
              </a:rPr>
              <a:t>database table </a:t>
            </a:r>
            <a:r>
              <a:rPr lang="en-US" dirty="0"/>
              <a:t>for us. </a:t>
            </a:r>
          </a:p>
          <a:p>
            <a:pPr>
              <a:buFont typeface="Wingdings" panose="05000000000000000000" pitchFamily="2" charset="2"/>
              <a:buChar char="§"/>
            </a:pPr>
            <a:r>
              <a:rPr lang="en-US" dirty="0"/>
              <a:t>powerful built-in admin interface that provides a visual way of managing all aspects of a Django project</a:t>
            </a:r>
          </a:p>
          <a:p>
            <a:endParaRPr lang="en-US" dirty="0"/>
          </a:p>
        </p:txBody>
      </p:sp>
    </p:spTree>
    <p:extLst>
      <p:ext uri="{BB962C8B-B14F-4D97-AF65-F5344CB8AC3E}">
        <p14:creationId xmlns:p14="http://schemas.microsoft.com/office/powerpoint/2010/main" val="1140647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05046-D251-40F6-9A0A-06132456F732}"/>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24D8B0F7-6039-420E-A9A1-303192CFFCD1}"/>
              </a:ext>
            </a:extLst>
          </p:cNvPr>
          <p:cNvSpPr>
            <a:spLocks noGrp="1"/>
          </p:cNvSpPr>
          <p:nvPr>
            <p:ph idx="1"/>
          </p:nvPr>
        </p:nvSpPr>
        <p:spPr/>
        <p:txBody>
          <a:bodyPr/>
          <a:lstStyle/>
          <a:p>
            <a:r>
              <a:rPr lang="en-US" dirty="0"/>
              <a:t>• Creating our first model</a:t>
            </a:r>
          </a:p>
          <a:p>
            <a:r>
              <a:rPr lang="en-US" dirty="0"/>
              <a:t>• Managing migrations</a:t>
            </a:r>
          </a:p>
          <a:p>
            <a:r>
              <a:rPr lang="en-US" dirty="0"/>
              <a:t>• Accessing the Django admin interface</a:t>
            </a:r>
          </a:p>
          <a:p>
            <a:r>
              <a:rPr lang="en-US" dirty="0"/>
              <a:t>• Configuring for images</a:t>
            </a:r>
          </a:p>
          <a:p>
            <a:r>
              <a:rPr lang="en-US" dirty="0"/>
              <a:t>• Serving stored images</a:t>
            </a:r>
          </a:p>
          <a:p>
            <a:r>
              <a:rPr lang="en-US" dirty="0"/>
              <a:t>• Adding a movie model to admin</a:t>
            </a:r>
          </a:p>
        </p:txBody>
      </p:sp>
    </p:spTree>
    <p:extLst>
      <p:ext uri="{BB962C8B-B14F-4D97-AF65-F5344CB8AC3E}">
        <p14:creationId xmlns:p14="http://schemas.microsoft.com/office/powerpoint/2010/main" val="883850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A12B4-1949-4EE3-847B-602E335DDFFA}"/>
              </a:ext>
            </a:extLst>
          </p:cNvPr>
          <p:cNvSpPr>
            <a:spLocks noGrp="1"/>
          </p:cNvSpPr>
          <p:nvPr>
            <p:ph type="title"/>
          </p:nvPr>
        </p:nvSpPr>
        <p:spPr/>
        <p:txBody>
          <a:bodyPr/>
          <a:lstStyle/>
          <a:p>
            <a:r>
              <a:rPr lang="en-US" b="1" dirty="0"/>
              <a:t>Creating our first model</a:t>
            </a:r>
            <a:endParaRPr lang="en-US" dirty="0"/>
          </a:p>
        </p:txBody>
      </p:sp>
      <p:sp>
        <p:nvSpPr>
          <p:cNvPr id="3" name="Content Placeholder 2">
            <a:extLst>
              <a:ext uri="{FF2B5EF4-FFF2-40B4-BE49-F238E27FC236}">
                <a16:creationId xmlns:a16="http://schemas.microsoft.com/office/drawing/2014/main" id="{C1E548AC-ABDF-48A4-98A5-4ADE53F0F0F4}"/>
              </a:ext>
            </a:extLst>
          </p:cNvPr>
          <p:cNvSpPr>
            <a:spLocks noGrp="1"/>
          </p:cNvSpPr>
          <p:nvPr>
            <p:ph idx="1"/>
          </p:nvPr>
        </p:nvSpPr>
        <p:spPr/>
        <p:txBody>
          <a:bodyPr/>
          <a:lstStyle/>
          <a:p>
            <a:r>
              <a:rPr lang="en-US" dirty="0"/>
              <a:t>Django model basics:</a:t>
            </a:r>
          </a:p>
          <a:p>
            <a:r>
              <a:rPr lang="en-US" dirty="0"/>
              <a:t>• Each model is a class that extends </a:t>
            </a:r>
            <a:r>
              <a:rPr lang="en-US" dirty="0" err="1">
                <a:solidFill>
                  <a:srgbClr val="FF0000"/>
                </a:solidFill>
              </a:rPr>
              <a:t>django.db.models.Model</a:t>
            </a:r>
            <a:endParaRPr lang="en-US" dirty="0">
              <a:solidFill>
                <a:srgbClr val="FF0000"/>
              </a:solidFill>
            </a:endParaRPr>
          </a:p>
          <a:p>
            <a:r>
              <a:rPr lang="en-US" dirty="0"/>
              <a:t>• Each model attribute represents a </a:t>
            </a:r>
            <a:r>
              <a:rPr lang="en-US" dirty="0">
                <a:solidFill>
                  <a:srgbClr val="FF0000"/>
                </a:solidFill>
              </a:rPr>
              <a:t>database column</a:t>
            </a:r>
            <a:endParaRPr lang="en-US" dirty="0"/>
          </a:p>
          <a:p>
            <a:r>
              <a:rPr lang="en-US" dirty="0"/>
              <a:t>• With all of this, Django provides us with a set of useful methods to </a:t>
            </a:r>
            <a:r>
              <a:rPr lang="en-US" b="1" dirty="0"/>
              <a:t>create, update, </a:t>
            </a:r>
          </a:p>
          <a:p>
            <a:r>
              <a:rPr lang="en-US" b="1" dirty="0"/>
              <a:t>read, and delete (CRUD) model information from a database.</a:t>
            </a:r>
            <a:endParaRPr lang="en-US" dirty="0"/>
          </a:p>
        </p:txBody>
      </p:sp>
    </p:spTree>
    <p:extLst>
      <p:ext uri="{BB962C8B-B14F-4D97-AF65-F5344CB8AC3E}">
        <p14:creationId xmlns:p14="http://schemas.microsoft.com/office/powerpoint/2010/main" val="568712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24EF-5A5E-4C31-BF22-ECD45084D4D2}"/>
              </a:ext>
            </a:extLst>
          </p:cNvPr>
          <p:cNvSpPr>
            <a:spLocks noGrp="1"/>
          </p:cNvSpPr>
          <p:nvPr>
            <p:ph type="title"/>
          </p:nvPr>
        </p:nvSpPr>
        <p:spPr/>
        <p:txBody>
          <a:bodyPr>
            <a:normAutofit/>
          </a:bodyPr>
          <a:lstStyle/>
          <a:p>
            <a:r>
              <a:rPr lang="en-US" sz="3200" b="1" dirty="0">
                <a:solidFill>
                  <a:srgbClr val="FF0000"/>
                </a:solidFill>
              </a:rPr>
              <a:t>/movie/models.py</a:t>
            </a:r>
            <a:endParaRPr lang="en-US" sz="3200" dirty="0">
              <a:solidFill>
                <a:srgbClr val="FF0000"/>
              </a:solidFill>
            </a:endParaRPr>
          </a:p>
        </p:txBody>
      </p:sp>
      <p:sp>
        <p:nvSpPr>
          <p:cNvPr id="3" name="Content Placeholder 2">
            <a:extLst>
              <a:ext uri="{FF2B5EF4-FFF2-40B4-BE49-F238E27FC236}">
                <a16:creationId xmlns:a16="http://schemas.microsoft.com/office/drawing/2014/main" id="{A9DB3562-47BF-45C6-9746-E70C2825827F}"/>
              </a:ext>
            </a:extLst>
          </p:cNvPr>
          <p:cNvSpPr>
            <a:spLocks noGrp="1"/>
          </p:cNvSpPr>
          <p:nvPr>
            <p:ph idx="1"/>
          </p:nvPr>
        </p:nvSpPr>
        <p:spPr/>
        <p:txBody>
          <a:bodyPr/>
          <a:lstStyle/>
          <a:p>
            <a:r>
              <a:rPr lang="en-US" dirty="0"/>
              <a:t>from </a:t>
            </a:r>
            <a:r>
              <a:rPr lang="en-US" dirty="0" err="1"/>
              <a:t>django.db</a:t>
            </a:r>
            <a:r>
              <a:rPr lang="en-US" dirty="0"/>
              <a:t> import models</a:t>
            </a:r>
          </a:p>
          <a:p>
            <a:r>
              <a:rPr lang="en-US" dirty="0"/>
              <a:t>class Movie(</a:t>
            </a:r>
            <a:r>
              <a:rPr lang="en-US" dirty="0" err="1"/>
              <a:t>models.Model</a:t>
            </a:r>
            <a:r>
              <a:rPr lang="en-US" dirty="0"/>
              <a:t>):</a:t>
            </a:r>
          </a:p>
          <a:p>
            <a:r>
              <a:rPr lang="en-US" dirty="0"/>
              <a:t>    title = </a:t>
            </a:r>
            <a:r>
              <a:rPr lang="en-US" dirty="0" err="1"/>
              <a:t>models.CharField</a:t>
            </a:r>
            <a:r>
              <a:rPr lang="en-US" dirty="0"/>
              <a:t>(</a:t>
            </a:r>
            <a:r>
              <a:rPr lang="en-US" dirty="0" err="1"/>
              <a:t>max_length</a:t>
            </a:r>
            <a:r>
              <a:rPr lang="en-US" dirty="0"/>
              <a:t>=100)</a:t>
            </a:r>
          </a:p>
          <a:p>
            <a:r>
              <a:rPr lang="en-US" dirty="0"/>
              <a:t>    description = </a:t>
            </a:r>
            <a:r>
              <a:rPr lang="en-US" dirty="0" err="1"/>
              <a:t>models.CharField</a:t>
            </a:r>
            <a:r>
              <a:rPr lang="en-US" dirty="0"/>
              <a:t>(</a:t>
            </a:r>
            <a:r>
              <a:rPr lang="en-US" dirty="0" err="1"/>
              <a:t>max_length</a:t>
            </a:r>
            <a:r>
              <a:rPr lang="en-US" dirty="0"/>
              <a:t>=250)</a:t>
            </a:r>
          </a:p>
          <a:p>
            <a:r>
              <a:rPr lang="en-US" dirty="0"/>
              <a:t>    image = </a:t>
            </a:r>
            <a:r>
              <a:rPr lang="en-US" dirty="0" err="1"/>
              <a:t>models.ImageField</a:t>
            </a:r>
            <a:r>
              <a:rPr lang="en-US" dirty="0"/>
              <a:t>(</a:t>
            </a:r>
            <a:r>
              <a:rPr lang="en-US" dirty="0" err="1"/>
              <a:t>upload_to</a:t>
            </a:r>
            <a:r>
              <a:rPr lang="en-US" dirty="0"/>
              <a:t>='movie/images/')</a:t>
            </a:r>
          </a:p>
          <a:p>
            <a:r>
              <a:rPr lang="en-US" dirty="0"/>
              <a:t>    </a:t>
            </a:r>
            <a:r>
              <a:rPr lang="en-US" dirty="0" err="1"/>
              <a:t>url</a:t>
            </a:r>
            <a:r>
              <a:rPr lang="en-US" dirty="0"/>
              <a:t> = </a:t>
            </a:r>
            <a:r>
              <a:rPr lang="en-US" dirty="0" err="1"/>
              <a:t>models.URLField</a:t>
            </a:r>
            <a:r>
              <a:rPr lang="en-US" dirty="0"/>
              <a:t>(blank=True)</a:t>
            </a:r>
          </a:p>
          <a:p>
            <a:endParaRPr lang="en-US" dirty="0"/>
          </a:p>
          <a:p>
            <a:r>
              <a:rPr lang="en-US" dirty="0"/>
              <a:t>To refer model fields </a:t>
            </a:r>
            <a:r>
              <a:rPr lang="en-US" dirty="0">
                <a:hlinkClick r:id="rId2"/>
              </a:rPr>
              <a:t>https://docs.djangoproject.com/en/4.0/ref/models/fields</a:t>
            </a:r>
            <a:endParaRPr lang="en-US" dirty="0"/>
          </a:p>
          <a:p>
            <a:endParaRPr lang="en-US" dirty="0"/>
          </a:p>
        </p:txBody>
      </p:sp>
    </p:spTree>
    <p:extLst>
      <p:ext uri="{BB962C8B-B14F-4D97-AF65-F5344CB8AC3E}">
        <p14:creationId xmlns:p14="http://schemas.microsoft.com/office/powerpoint/2010/main" val="3119530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8CC32-1F0B-4721-81BC-5FB23797DD2D}"/>
              </a:ext>
            </a:extLst>
          </p:cNvPr>
          <p:cNvSpPr>
            <a:spLocks noGrp="1"/>
          </p:cNvSpPr>
          <p:nvPr>
            <p:ph type="title"/>
          </p:nvPr>
        </p:nvSpPr>
        <p:spPr/>
        <p:txBody>
          <a:bodyPr>
            <a:normAutofit/>
          </a:bodyPr>
          <a:lstStyle/>
          <a:p>
            <a:r>
              <a:rPr lang="en-US" sz="2400" b="1" dirty="0"/>
              <a:t>Installing pillow</a:t>
            </a:r>
            <a:endParaRPr lang="en-US" sz="2400" dirty="0"/>
          </a:p>
        </p:txBody>
      </p:sp>
      <p:sp>
        <p:nvSpPr>
          <p:cNvPr id="3" name="Content Placeholder 2">
            <a:extLst>
              <a:ext uri="{FF2B5EF4-FFF2-40B4-BE49-F238E27FC236}">
                <a16:creationId xmlns:a16="http://schemas.microsoft.com/office/drawing/2014/main" id="{9AE9C924-C272-4FE9-A0FB-4C0BA6757380}"/>
              </a:ext>
            </a:extLst>
          </p:cNvPr>
          <p:cNvSpPr>
            <a:spLocks noGrp="1"/>
          </p:cNvSpPr>
          <p:nvPr>
            <p:ph idx="1"/>
          </p:nvPr>
        </p:nvSpPr>
        <p:spPr>
          <a:xfrm>
            <a:off x="1097280" y="1845734"/>
            <a:ext cx="5907527" cy="4023360"/>
          </a:xfrm>
        </p:spPr>
        <p:txBody>
          <a:bodyPr>
            <a:normAutofit lnSpcReduction="10000"/>
          </a:bodyPr>
          <a:lstStyle/>
          <a:p>
            <a:r>
              <a:rPr lang="en-US" dirty="0"/>
              <a:t>we are using images, we need to install Pillow </a:t>
            </a:r>
            <a:r>
              <a:rPr lang="en-US" dirty="0">
                <a:hlinkClick r:id="rId2"/>
              </a:rPr>
              <a:t>https://pypi.org/project/Pillow/</a:t>
            </a:r>
            <a:r>
              <a:rPr lang="en-US" dirty="0"/>
              <a:t> , which adds image processing capabilities to our Python interpreter.</a:t>
            </a:r>
          </a:p>
          <a:p>
            <a:r>
              <a:rPr lang="en-US" b="1" dirty="0">
                <a:solidFill>
                  <a:srgbClr val="FF0000"/>
                </a:solidFill>
              </a:rPr>
              <a:t>pip install pillow</a:t>
            </a:r>
          </a:p>
          <a:p>
            <a:pPr>
              <a:buFont typeface="Wingdings" panose="05000000000000000000" pitchFamily="2" charset="2"/>
              <a:buChar char="§"/>
            </a:pPr>
            <a:r>
              <a:rPr lang="en-US" b="1" dirty="0"/>
              <a:t>Managing migrations</a:t>
            </a:r>
          </a:p>
          <a:p>
            <a:r>
              <a:rPr lang="en-US" b="1" dirty="0"/>
              <a:t>Migrations allow us to generate a database schema based on model code. Once we make </a:t>
            </a:r>
            <a:r>
              <a:rPr lang="en-US" dirty="0"/>
              <a:t>changes to our models (such as adding a field and renaming a field), new migrations should be created. In the end, migrations allow us to have a trace of the evolution of our database schema.</a:t>
            </a:r>
            <a:endParaRPr lang="en-US" b="1" dirty="0"/>
          </a:p>
          <a:p>
            <a:r>
              <a:rPr lang="en-US" b="1" dirty="0">
                <a:solidFill>
                  <a:srgbClr val="FF0000"/>
                </a:solidFill>
              </a:rPr>
              <a:t>python manage.py migrate</a:t>
            </a:r>
          </a:p>
          <a:p>
            <a:endParaRPr lang="en-US" b="1" dirty="0">
              <a:solidFill>
                <a:srgbClr val="FF0000"/>
              </a:solidFill>
            </a:endParaRPr>
          </a:p>
          <a:p>
            <a:endParaRPr lang="en-US" dirty="0"/>
          </a:p>
        </p:txBody>
      </p:sp>
      <p:pic>
        <p:nvPicPr>
          <p:cNvPr id="4" name="Picture 3">
            <a:extLst>
              <a:ext uri="{FF2B5EF4-FFF2-40B4-BE49-F238E27FC236}">
                <a16:creationId xmlns:a16="http://schemas.microsoft.com/office/drawing/2014/main" id="{1B8C2F36-AC25-4372-818A-D983FDD1BF8C}"/>
              </a:ext>
            </a:extLst>
          </p:cNvPr>
          <p:cNvPicPr>
            <a:picLocks noChangeAspect="1"/>
          </p:cNvPicPr>
          <p:nvPr/>
        </p:nvPicPr>
        <p:blipFill>
          <a:blip r:embed="rId3"/>
          <a:stretch>
            <a:fillRect/>
          </a:stretch>
        </p:blipFill>
        <p:spPr>
          <a:xfrm>
            <a:off x="7315200" y="2232310"/>
            <a:ext cx="3981120" cy="3094699"/>
          </a:xfrm>
          <a:prstGeom prst="rect">
            <a:avLst/>
          </a:prstGeom>
        </p:spPr>
      </p:pic>
    </p:spTree>
    <p:extLst>
      <p:ext uri="{BB962C8B-B14F-4D97-AF65-F5344CB8AC3E}">
        <p14:creationId xmlns:p14="http://schemas.microsoft.com/office/powerpoint/2010/main" val="1371003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4FF0D-1DBA-4FF6-8339-0AA60257A2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93B590-16E6-4944-83F6-5530EB9018BB}"/>
              </a:ext>
            </a:extLst>
          </p:cNvPr>
          <p:cNvSpPr>
            <a:spLocks noGrp="1"/>
          </p:cNvSpPr>
          <p:nvPr>
            <p:ph idx="1"/>
          </p:nvPr>
        </p:nvSpPr>
        <p:spPr/>
        <p:txBody>
          <a:bodyPr/>
          <a:lstStyle/>
          <a:p>
            <a:r>
              <a:rPr lang="en-US" dirty="0"/>
              <a:t>create the migrations for the movie app. We will run the </a:t>
            </a:r>
            <a:r>
              <a:rPr lang="en-US" dirty="0" err="1"/>
              <a:t>makemigrations</a:t>
            </a:r>
            <a:r>
              <a:rPr lang="en-US" dirty="0"/>
              <a:t> command in the Terminal.</a:t>
            </a:r>
          </a:p>
          <a:p>
            <a:r>
              <a:rPr lang="en-US" b="1" dirty="0">
                <a:solidFill>
                  <a:srgbClr val="FF0000"/>
                </a:solidFill>
              </a:rPr>
              <a:t>python manage.py </a:t>
            </a:r>
            <a:r>
              <a:rPr lang="en-US" b="1" dirty="0" err="1">
                <a:solidFill>
                  <a:srgbClr val="FF0000"/>
                </a:solidFill>
              </a:rPr>
              <a:t>makemigrations</a:t>
            </a:r>
            <a:endParaRPr lang="en-US" b="1" dirty="0">
              <a:solidFill>
                <a:srgbClr val="FF0000"/>
              </a:solidFill>
            </a:endParaRPr>
          </a:p>
          <a:p>
            <a:endParaRPr lang="en-US" dirty="0"/>
          </a:p>
        </p:txBody>
      </p:sp>
      <p:pic>
        <p:nvPicPr>
          <p:cNvPr id="4" name="Picture 3">
            <a:extLst>
              <a:ext uri="{FF2B5EF4-FFF2-40B4-BE49-F238E27FC236}">
                <a16:creationId xmlns:a16="http://schemas.microsoft.com/office/drawing/2014/main" id="{7FA9E264-0856-4DA8-9628-6CCA4363B973}"/>
              </a:ext>
            </a:extLst>
          </p:cNvPr>
          <p:cNvPicPr>
            <a:picLocks noChangeAspect="1"/>
          </p:cNvPicPr>
          <p:nvPr/>
        </p:nvPicPr>
        <p:blipFill>
          <a:blip r:embed="rId2"/>
          <a:stretch>
            <a:fillRect/>
          </a:stretch>
        </p:blipFill>
        <p:spPr>
          <a:xfrm>
            <a:off x="1212515" y="3095319"/>
            <a:ext cx="6096292" cy="1543793"/>
          </a:xfrm>
          <a:prstGeom prst="rect">
            <a:avLst/>
          </a:prstGeom>
        </p:spPr>
      </p:pic>
      <p:pic>
        <p:nvPicPr>
          <p:cNvPr id="5" name="Picture 4">
            <a:extLst>
              <a:ext uri="{FF2B5EF4-FFF2-40B4-BE49-F238E27FC236}">
                <a16:creationId xmlns:a16="http://schemas.microsoft.com/office/drawing/2014/main" id="{7546DD4E-695A-429E-86B9-95F7B2976F79}"/>
              </a:ext>
            </a:extLst>
          </p:cNvPr>
          <p:cNvPicPr>
            <a:picLocks noChangeAspect="1"/>
          </p:cNvPicPr>
          <p:nvPr/>
        </p:nvPicPr>
        <p:blipFill>
          <a:blip r:embed="rId3"/>
          <a:stretch>
            <a:fillRect/>
          </a:stretch>
        </p:blipFill>
        <p:spPr>
          <a:xfrm>
            <a:off x="8564416" y="3059666"/>
            <a:ext cx="1724025" cy="2486025"/>
          </a:xfrm>
          <a:prstGeom prst="rect">
            <a:avLst/>
          </a:prstGeom>
        </p:spPr>
      </p:pic>
    </p:spTree>
    <p:extLst>
      <p:ext uri="{BB962C8B-B14F-4D97-AF65-F5344CB8AC3E}">
        <p14:creationId xmlns:p14="http://schemas.microsoft.com/office/powerpoint/2010/main" val="3915488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740B5-C17C-4295-B167-8324E27D351E}"/>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99A47A57-BE56-4199-ADA3-37FD7283C140}"/>
              </a:ext>
            </a:extLst>
          </p:cNvPr>
          <p:cNvPicPr>
            <a:picLocks noGrp="1" noChangeAspect="1"/>
          </p:cNvPicPr>
          <p:nvPr>
            <p:ph idx="1"/>
          </p:nvPr>
        </p:nvPicPr>
        <p:blipFill>
          <a:blip r:embed="rId2"/>
          <a:stretch>
            <a:fillRect/>
          </a:stretch>
        </p:blipFill>
        <p:spPr>
          <a:xfrm>
            <a:off x="4095153" y="3429000"/>
            <a:ext cx="5219700" cy="1028700"/>
          </a:xfrm>
          <a:prstGeom prst="rect">
            <a:avLst/>
          </a:prstGeom>
        </p:spPr>
      </p:pic>
      <p:sp>
        <p:nvSpPr>
          <p:cNvPr id="5" name="TextBox 4">
            <a:extLst>
              <a:ext uri="{FF2B5EF4-FFF2-40B4-BE49-F238E27FC236}">
                <a16:creationId xmlns:a16="http://schemas.microsoft.com/office/drawing/2014/main" id="{441E6E7C-5D30-45F3-B145-E1115615339C}"/>
              </a:ext>
            </a:extLst>
          </p:cNvPr>
          <p:cNvSpPr txBox="1"/>
          <p:nvPr/>
        </p:nvSpPr>
        <p:spPr>
          <a:xfrm>
            <a:off x="1191236" y="2021747"/>
            <a:ext cx="8282460" cy="1754326"/>
          </a:xfrm>
          <a:prstGeom prst="rect">
            <a:avLst/>
          </a:prstGeom>
          <a:noFill/>
        </p:spPr>
        <p:txBody>
          <a:bodyPr wrap="none" rtlCol="0">
            <a:spAutoFit/>
          </a:bodyPr>
          <a:lstStyle/>
          <a:p>
            <a:r>
              <a:rPr lang="en-US" dirty="0"/>
              <a:t>we need to build the actual database with migrate (python3 manage.py migrate), </a:t>
            </a:r>
          </a:p>
          <a:p>
            <a:r>
              <a:rPr lang="en-US" dirty="0"/>
              <a:t>which executes the SQL commands in the migrations file. Currently, it</a:t>
            </a:r>
          </a:p>
          <a:p>
            <a:r>
              <a:rPr lang="en-US" dirty="0"/>
              <a:t>uses the default SQLite database engine, but you can integrate your own DB system by</a:t>
            </a:r>
          </a:p>
          <a:p>
            <a:r>
              <a:rPr lang="en-US" dirty="0"/>
              <a:t>modifying the moviereviews/settings.py file.</a:t>
            </a:r>
          </a:p>
          <a:p>
            <a:endParaRPr lang="en-US" dirty="0"/>
          </a:p>
          <a:p>
            <a:r>
              <a:rPr lang="en-US" b="1" dirty="0">
                <a:solidFill>
                  <a:srgbClr val="FF0000"/>
                </a:solidFill>
              </a:rPr>
              <a:t>python manage.py migrate</a:t>
            </a:r>
            <a:endParaRPr lang="en-US" dirty="0">
              <a:solidFill>
                <a:srgbClr val="FF0000"/>
              </a:solidFill>
            </a:endParaRPr>
          </a:p>
        </p:txBody>
      </p:sp>
      <p:sp>
        <p:nvSpPr>
          <p:cNvPr id="6" name="TextBox 5">
            <a:extLst>
              <a:ext uri="{FF2B5EF4-FFF2-40B4-BE49-F238E27FC236}">
                <a16:creationId xmlns:a16="http://schemas.microsoft.com/office/drawing/2014/main" id="{E9BCAFD7-7121-43F5-82F0-F48527E9395C}"/>
              </a:ext>
            </a:extLst>
          </p:cNvPr>
          <p:cNvSpPr txBox="1"/>
          <p:nvPr/>
        </p:nvSpPr>
        <p:spPr>
          <a:xfrm>
            <a:off x="1283516" y="4790114"/>
            <a:ext cx="8419356" cy="1200329"/>
          </a:xfrm>
          <a:prstGeom prst="rect">
            <a:avLst/>
          </a:prstGeom>
          <a:noFill/>
        </p:spPr>
        <p:txBody>
          <a:bodyPr wrap="none" rtlCol="0">
            <a:spAutoFit/>
          </a:bodyPr>
          <a:lstStyle/>
          <a:p>
            <a:r>
              <a:rPr lang="en-US" dirty="0"/>
              <a:t>In summary, each time you make changes to a model file, you have to run the following.</a:t>
            </a:r>
          </a:p>
          <a:p>
            <a:endParaRPr lang="en-US" dirty="0"/>
          </a:p>
          <a:p>
            <a:r>
              <a:rPr lang="en-US" b="1" dirty="0">
                <a:solidFill>
                  <a:srgbClr val="FF0000"/>
                </a:solidFill>
              </a:rPr>
              <a:t>python manage.py </a:t>
            </a:r>
            <a:r>
              <a:rPr lang="en-US" b="1" dirty="0" err="1">
                <a:solidFill>
                  <a:srgbClr val="FF0000"/>
                </a:solidFill>
              </a:rPr>
              <a:t>makemigrations</a:t>
            </a:r>
            <a:endParaRPr lang="en-US" b="1" dirty="0">
              <a:solidFill>
                <a:srgbClr val="FF0000"/>
              </a:solidFill>
            </a:endParaRPr>
          </a:p>
          <a:p>
            <a:r>
              <a:rPr lang="en-US" b="1" dirty="0">
                <a:solidFill>
                  <a:srgbClr val="FF0000"/>
                </a:solidFill>
              </a:rPr>
              <a:t>python manage.py migrate</a:t>
            </a:r>
            <a:endParaRPr lang="en-US" dirty="0">
              <a:solidFill>
                <a:srgbClr val="FF0000"/>
              </a:solidFill>
            </a:endParaRPr>
          </a:p>
        </p:txBody>
      </p:sp>
    </p:spTree>
    <p:extLst>
      <p:ext uri="{BB962C8B-B14F-4D97-AF65-F5344CB8AC3E}">
        <p14:creationId xmlns:p14="http://schemas.microsoft.com/office/powerpoint/2010/main" val="2179372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EA0CE-84B0-4E13-87DC-285EE55AB57D}"/>
              </a:ext>
            </a:extLst>
          </p:cNvPr>
          <p:cNvSpPr>
            <a:spLocks noGrp="1"/>
          </p:cNvSpPr>
          <p:nvPr>
            <p:ph type="title"/>
          </p:nvPr>
        </p:nvSpPr>
        <p:spPr/>
        <p:txBody>
          <a:bodyPr/>
          <a:lstStyle/>
          <a:p>
            <a:r>
              <a:rPr lang="en-US" b="1" dirty="0"/>
              <a:t>Accessing the Django admin interface</a:t>
            </a:r>
            <a:endParaRPr lang="en-US" dirty="0"/>
          </a:p>
        </p:txBody>
      </p:sp>
      <p:sp>
        <p:nvSpPr>
          <p:cNvPr id="3" name="Content Placeholder 2">
            <a:extLst>
              <a:ext uri="{FF2B5EF4-FFF2-40B4-BE49-F238E27FC236}">
                <a16:creationId xmlns:a16="http://schemas.microsoft.com/office/drawing/2014/main" id="{3C25F3FD-D3D8-42F8-A55B-03FE889854F9}"/>
              </a:ext>
            </a:extLst>
          </p:cNvPr>
          <p:cNvSpPr>
            <a:spLocks noGrp="1"/>
          </p:cNvSpPr>
          <p:nvPr>
            <p:ph idx="1"/>
          </p:nvPr>
        </p:nvSpPr>
        <p:spPr/>
        <p:txBody>
          <a:bodyPr/>
          <a:lstStyle/>
          <a:p>
            <a:pPr>
              <a:buFont typeface="Wingdings" panose="05000000000000000000" pitchFamily="2" charset="2"/>
              <a:buChar char="§"/>
            </a:pPr>
            <a:r>
              <a:rPr lang="en-US" dirty="0"/>
              <a:t>To access our database, we have to go into the Django admin interface. Remember that there is an admin path in /</a:t>
            </a:r>
            <a:r>
              <a:rPr lang="en-US" dirty="0" err="1"/>
              <a:t>moviereviews</a:t>
            </a:r>
            <a:r>
              <a:rPr lang="en-US" dirty="0"/>
              <a:t>/urls.py?</a:t>
            </a:r>
          </a:p>
          <a:p>
            <a:pPr>
              <a:buFont typeface="Wingdings" panose="05000000000000000000" pitchFamily="2" charset="2"/>
              <a:buChar char="§"/>
            </a:pPr>
            <a:r>
              <a:rPr lang="en-US" dirty="0"/>
              <a:t>Django has a powerful built-in admin interface that provides a visual way of managing all aspects of a Django project – for example, managing users and making changes to model data.</a:t>
            </a:r>
          </a:p>
          <a:p>
            <a:pPr>
              <a:buFont typeface="Wingdings" panose="05000000000000000000" pitchFamily="2" charset="2"/>
              <a:buChar char="§"/>
            </a:pPr>
            <a:r>
              <a:rPr lang="en-US" dirty="0"/>
              <a:t>With what username and password do we log in to Admin? We will have to first create a superuser in the Terminal.</a:t>
            </a:r>
          </a:p>
          <a:p>
            <a:pPr marL="0" indent="0">
              <a:buNone/>
            </a:pPr>
            <a:r>
              <a:rPr lang="en-US" b="1" dirty="0">
                <a:solidFill>
                  <a:srgbClr val="FF0000"/>
                </a:solidFill>
              </a:rPr>
              <a:t>python manage.py </a:t>
            </a:r>
            <a:r>
              <a:rPr lang="en-US" b="1" dirty="0" err="1">
                <a:solidFill>
                  <a:srgbClr val="FF0000"/>
                </a:solidFill>
              </a:rPr>
              <a:t>createsuperuser</a:t>
            </a:r>
            <a:endParaRPr lang="en-US" b="1" dirty="0">
              <a:solidFill>
                <a:srgbClr val="FF0000"/>
              </a:solidFill>
            </a:endParaRPr>
          </a:p>
          <a:p>
            <a:pPr marL="0" indent="0">
              <a:buNone/>
            </a:pPr>
            <a:r>
              <a:rPr lang="en-US" b="1" dirty="0">
                <a:solidFill>
                  <a:srgbClr val="FF0000"/>
                </a:solidFill>
              </a:rPr>
              <a:t>Enter user name, email and password</a:t>
            </a:r>
          </a:p>
          <a:p>
            <a:pPr>
              <a:buFont typeface="Wingdings" panose="05000000000000000000" pitchFamily="2" charset="2"/>
              <a:buChar char="§"/>
            </a:pPr>
            <a:r>
              <a:rPr lang="en-US" dirty="0"/>
              <a:t>If you wish to change your password later, you can run the following commands.</a:t>
            </a:r>
          </a:p>
          <a:p>
            <a:pPr marL="0" indent="0">
              <a:buNone/>
            </a:pPr>
            <a:r>
              <a:rPr lang="en-US" b="1" dirty="0">
                <a:solidFill>
                  <a:srgbClr val="FF0000"/>
                </a:solidFill>
              </a:rPr>
              <a:t>python manage.py </a:t>
            </a:r>
            <a:r>
              <a:rPr lang="en-US" b="1" dirty="0" err="1">
                <a:solidFill>
                  <a:srgbClr val="FF0000"/>
                </a:solidFill>
              </a:rPr>
              <a:t>changepassword</a:t>
            </a:r>
            <a:r>
              <a:rPr lang="en-US" b="1" dirty="0">
                <a:solidFill>
                  <a:srgbClr val="FF0000"/>
                </a:solidFill>
              </a:rPr>
              <a:t> &lt;username&gt;</a:t>
            </a:r>
          </a:p>
          <a:p>
            <a:pPr marL="0" indent="0">
              <a:buNone/>
            </a:pPr>
            <a:endParaRPr lang="en-US" b="1" dirty="0">
              <a:solidFill>
                <a:srgbClr val="FF0000"/>
              </a:solidFill>
            </a:endParaRPr>
          </a:p>
          <a:p>
            <a:pPr>
              <a:buFont typeface="Wingdings" panose="05000000000000000000" pitchFamily="2" charset="2"/>
              <a:buChar char="§"/>
            </a:pPr>
            <a:endParaRPr lang="en-US" dirty="0"/>
          </a:p>
        </p:txBody>
      </p:sp>
    </p:spTree>
    <p:extLst>
      <p:ext uri="{BB962C8B-B14F-4D97-AF65-F5344CB8AC3E}">
        <p14:creationId xmlns:p14="http://schemas.microsoft.com/office/powerpoint/2010/main" val="2979993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D0CEF-EA29-4A6D-B982-6AFADFD2EB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9CBE9C-B87C-4453-84EF-472B3F56007C}"/>
              </a:ext>
            </a:extLst>
          </p:cNvPr>
          <p:cNvSpPr>
            <a:spLocks noGrp="1"/>
          </p:cNvSpPr>
          <p:nvPr>
            <p:ph idx="1"/>
          </p:nvPr>
        </p:nvSpPr>
        <p:spPr/>
        <p:txBody>
          <a:bodyPr/>
          <a:lstStyle/>
          <a:p>
            <a:r>
              <a:rPr lang="en-US" dirty="0"/>
              <a:t>Currently, our movie model doesn't show up in admin. We need to explicitly tell Django what to display in it. Before adding our movie model in admin, let's first configure our images.</a:t>
            </a:r>
          </a:p>
          <a:p>
            <a:pPr>
              <a:buFont typeface="Wingdings" panose="05000000000000000000" pitchFamily="2" charset="2"/>
              <a:buChar char="§"/>
            </a:pPr>
            <a:r>
              <a:rPr lang="en-US" b="1" dirty="0"/>
              <a:t>Configuring for images</a:t>
            </a:r>
          </a:p>
          <a:p>
            <a:pPr marL="0" indent="0">
              <a:buNone/>
            </a:pPr>
            <a:r>
              <a:rPr lang="en-US" b="1" dirty="0">
                <a:solidFill>
                  <a:srgbClr val="FF0000"/>
                </a:solidFill>
              </a:rPr>
              <a:t>moviereviews/settings.py </a:t>
            </a:r>
            <a:r>
              <a:rPr lang="en-US" dirty="0"/>
              <a:t>and add the following at the bottom of the file:</a:t>
            </a:r>
            <a:endParaRPr lang="en-US" b="1" dirty="0"/>
          </a:p>
          <a:p>
            <a:endParaRPr lang="en-US" dirty="0"/>
          </a:p>
          <a:p>
            <a:endParaRPr lang="en-US" dirty="0"/>
          </a:p>
          <a:p>
            <a:r>
              <a:rPr lang="en-US" dirty="0"/>
              <a:t>At the top of the file, add the following:</a:t>
            </a:r>
          </a:p>
          <a:p>
            <a:endParaRPr lang="en-US" dirty="0"/>
          </a:p>
        </p:txBody>
      </p:sp>
      <p:pic>
        <p:nvPicPr>
          <p:cNvPr id="4" name="Picture 3">
            <a:extLst>
              <a:ext uri="{FF2B5EF4-FFF2-40B4-BE49-F238E27FC236}">
                <a16:creationId xmlns:a16="http://schemas.microsoft.com/office/drawing/2014/main" id="{76D2E024-CA71-49F0-A272-1281A229D775}"/>
              </a:ext>
            </a:extLst>
          </p:cNvPr>
          <p:cNvPicPr>
            <a:picLocks noChangeAspect="1"/>
          </p:cNvPicPr>
          <p:nvPr/>
        </p:nvPicPr>
        <p:blipFill>
          <a:blip r:embed="rId2"/>
          <a:stretch>
            <a:fillRect/>
          </a:stretch>
        </p:blipFill>
        <p:spPr>
          <a:xfrm>
            <a:off x="1097280" y="3353499"/>
            <a:ext cx="7467880" cy="922147"/>
          </a:xfrm>
          <a:prstGeom prst="rect">
            <a:avLst/>
          </a:prstGeom>
        </p:spPr>
      </p:pic>
      <p:pic>
        <p:nvPicPr>
          <p:cNvPr id="5" name="Picture 4">
            <a:extLst>
              <a:ext uri="{FF2B5EF4-FFF2-40B4-BE49-F238E27FC236}">
                <a16:creationId xmlns:a16="http://schemas.microsoft.com/office/drawing/2014/main" id="{8D8BA09C-9D95-4AB4-AE64-928039D42C4E}"/>
              </a:ext>
            </a:extLst>
          </p:cNvPr>
          <p:cNvPicPr>
            <a:picLocks noChangeAspect="1"/>
          </p:cNvPicPr>
          <p:nvPr/>
        </p:nvPicPr>
        <p:blipFill>
          <a:blip r:embed="rId3"/>
          <a:stretch>
            <a:fillRect/>
          </a:stretch>
        </p:blipFill>
        <p:spPr>
          <a:xfrm>
            <a:off x="1097280" y="4975022"/>
            <a:ext cx="5841794" cy="561711"/>
          </a:xfrm>
          <a:prstGeom prst="rect">
            <a:avLst/>
          </a:prstGeom>
        </p:spPr>
      </p:pic>
    </p:spTree>
    <p:extLst>
      <p:ext uri="{BB962C8B-B14F-4D97-AF65-F5344CB8AC3E}">
        <p14:creationId xmlns:p14="http://schemas.microsoft.com/office/powerpoint/2010/main" val="3268794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8975E-FF7B-40C3-9B0D-0EFCDB4D23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FDE68C-1357-490D-824D-8F6884411E0E}"/>
              </a:ext>
            </a:extLst>
          </p:cNvPr>
          <p:cNvSpPr>
            <a:spLocks noGrp="1"/>
          </p:cNvSpPr>
          <p:nvPr>
            <p:ph idx="1"/>
          </p:nvPr>
        </p:nvSpPr>
        <p:spPr/>
        <p:txBody>
          <a:bodyPr/>
          <a:lstStyle/>
          <a:p>
            <a:pPr>
              <a:buFont typeface="Wingdings" panose="05000000000000000000" pitchFamily="2" charset="2"/>
              <a:buChar char="§"/>
            </a:pPr>
            <a:r>
              <a:rPr lang="en-US" b="1" dirty="0"/>
              <a:t>Serving the stored images</a:t>
            </a:r>
          </a:p>
          <a:p>
            <a:pPr marL="0" indent="0">
              <a:buNone/>
            </a:pPr>
            <a:r>
              <a:rPr lang="en-US" b="1" dirty="0">
                <a:solidFill>
                  <a:srgbClr val="FF0000"/>
                </a:solidFill>
              </a:rPr>
              <a:t>/movie/urls.py </a:t>
            </a:r>
            <a:r>
              <a:rPr lang="en-US" dirty="0"/>
              <a:t>the following:</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endParaRPr lang="en-US" dirty="0"/>
          </a:p>
        </p:txBody>
      </p:sp>
      <p:pic>
        <p:nvPicPr>
          <p:cNvPr id="4" name="Picture 3">
            <a:extLst>
              <a:ext uri="{FF2B5EF4-FFF2-40B4-BE49-F238E27FC236}">
                <a16:creationId xmlns:a16="http://schemas.microsoft.com/office/drawing/2014/main" id="{2809D071-9FE6-4CB8-92A1-0DCF6BF0987A}"/>
              </a:ext>
            </a:extLst>
          </p:cNvPr>
          <p:cNvPicPr>
            <a:picLocks noChangeAspect="1"/>
          </p:cNvPicPr>
          <p:nvPr/>
        </p:nvPicPr>
        <p:blipFill>
          <a:blip r:embed="rId2"/>
          <a:stretch>
            <a:fillRect/>
          </a:stretch>
        </p:blipFill>
        <p:spPr>
          <a:xfrm>
            <a:off x="1097279" y="2616840"/>
            <a:ext cx="8526575" cy="3252254"/>
          </a:xfrm>
          <a:prstGeom prst="rect">
            <a:avLst/>
          </a:prstGeom>
        </p:spPr>
      </p:pic>
    </p:spTree>
    <p:extLst>
      <p:ext uri="{BB962C8B-B14F-4D97-AF65-F5344CB8AC3E}">
        <p14:creationId xmlns:p14="http://schemas.microsoft.com/office/powerpoint/2010/main" val="4013318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DC5B-30C9-42F8-A022-355BA3B9E3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F147C1-8D75-42B4-9697-DA973B2E5DBF}"/>
              </a:ext>
            </a:extLst>
          </p:cNvPr>
          <p:cNvSpPr>
            <a:spLocks noGrp="1"/>
          </p:cNvSpPr>
          <p:nvPr>
            <p:ph idx="1"/>
          </p:nvPr>
        </p:nvSpPr>
        <p:spPr/>
        <p:txBody>
          <a:bodyPr/>
          <a:lstStyle/>
          <a:p>
            <a:pPr>
              <a:buFont typeface="Wingdings" panose="05000000000000000000" pitchFamily="2" charset="2"/>
              <a:buChar char="§"/>
            </a:pPr>
            <a:r>
              <a:rPr lang="en-US" b="1" dirty="0"/>
              <a:t>Adding a movie model to admin</a:t>
            </a:r>
          </a:p>
          <a:p>
            <a:r>
              <a:rPr lang="en-US" b="1" dirty="0">
                <a:solidFill>
                  <a:srgbClr val="FF0000"/>
                </a:solidFill>
              </a:rPr>
              <a:t>/movie/admin.py</a:t>
            </a:r>
            <a:r>
              <a:rPr lang="en-US" dirty="0"/>
              <a:t>, and register our model with the following:</a:t>
            </a:r>
          </a:p>
          <a:p>
            <a:endParaRPr lang="en-US" b="1" dirty="0"/>
          </a:p>
          <a:p>
            <a:endParaRPr lang="en-US" dirty="0"/>
          </a:p>
        </p:txBody>
      </p:sp>
      <p:pic>
        <p:nvPicPr>
          <p:cNvPr id="4" name="Picture 3">
            <a:extLst>
              <a:ext uri="{FF2B5EF4-FFF2-40B4-BE49-F238E27FC236}">
                <a16:creationId xmlns:a16="http://schemas.microsoft.com/office/drawing/2014/main" id="{DA3D0DBC-24F8-4FC4-98EF-DAFDA5AEDE45}"/>
              </a:ext>
            </a:extLst>
          </p:cNvPr>
          <p:cNvPicPr>
            <a:picLocks noChangeAspect="1"/>
          </p:cNvPicPr>
          <p:nvPr/>
        </p:nvPicPr>
        <p:blipFill>
          <a:blip r:embed="rId2"/>
          <a:stretch>
            <a:fillRect/>
          </a:stretch>
        </p:blipFill>
        <p:spPr>
          <a:xfrm>
            <a:off x="1097280" y="2813107"/>
            <a:ext cx="7014563" cy="1238775"/>
          </a:xfrm>
          <a:prstGeom prst="rect">
            <a:avLst/>
          </a:prstGeom>
        </p:spPr>
      </p:pic>
      <p:pic>
        <p:nvPicPr>
          <p:cNvPr id="5" name="Picture 4">
            <a:extLst>
              <a:ext uri="{FF2B5EF4-FFF2-40B4-BE49-F238E27FC236}">
                <a16:creationId xmlns:a16="http://schemas.microsoft.com/office/drawing/2014/main" id="{4BC54B39-1DD3-4633-AEF3-CF0B0F07A2CB}"/>
              </a:ext>
            </a:extLst>
          </p:cNvPr>
          <p:cNvPicPr>
            <a:picLocks noChangeAspect="1"/>
          </p:cNvPicPr>
          <p:nvPr/>
        </p:nvPicPr>
        <p:blipFill>
          <a:blip r:embed="rId3"/>
          <a:stretch>
            <a:fillRect/>
          </a:stretch>
        </p:blipFill>
        <p:spPr>
          <a:xfrm>
            <a:off x="8265166" y="2076239"/>
            <a:ext cx="3295650" cy="3562350"/>
          </a:xfrm>
          <a:prstGeom prst="rect">
            <a:avLst/>
          </a:prstGeom>
        </p:spPr>
      </p:pic>
    </p:spTree>
    <p:extLst>
      <p:ext uri="{BB962C8B-B14F-4D97-AF65-F5344CB8AC3E}">
        <p14:creationId xmlns:p14="http://schemas.microsoft.com/office/powerpoint/2010/main" val="246208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1818-AD74-49D7-9539-117F416096B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8464BEC-0CAF-49CA-B8FD-688F73D055C0}"/>
              </a:ext>
            </a:extLst>
          </p:cNvPr>
          <p:cNvSpPr>
            <a:spLocks noGrp="1"/>
          </p:cNvSpPr>
          <p:nvPr>
            <p:ph idx="1"/>
          </p:nvPr>
        </p:nvSpPr>
        <p:spPr/>
        <p:txBody>
          <a:bodyPr/>
          <a:lstStyle/>
          <a:p>
            <a:r>
              <a:rPr lang="en-US" dirty="0"/>
              <a:t>Try adding a movie object by clicking on </a:t>
            </a:r>
            <a:r>
              <a:rPr lang="en-US" b="1" dirty="0"/>
              <a:t>+Add. You will be brought to the Add movie</a:t>
            </a:r>
          </a:p>
          <a:p>
            <a:endParaRPr lang="en-US" dirty="0"/>
          </a:p>
        </p:txBody>
      </p:sp>
      <p:pic>
        <p:nvPicPr>
          <p:cNvPr id="4" name="Picture 3">
            <a:extLst>
              <a:ext uri="{FF2B5EF4-FFF2-40B4-BE49-F238E27FC236}">
                <a16:creationId xmlns:a16="http://schemas.microsoft.com/office/drawing/2014/main" id="{29D42C8D-D296-4675-801B-3F76E6F9BC0E}"/>
              </a:ext>
            </a:extLst>
          </p:cNvPr>
          <p:cNvPicPr>
            <a:picLocks noChangeAspect="1"/>
          </p:cNvPicPr>
          <p:nvPr/>
        </p:nvPicPr>
        <p:blipFill>
          <a:blip r:embed="rId2"/>
          <a:stretch>
            <a:fillRect/>
          </a:stretch>
        </p:blipFill>
        <p:spPr>
          <a:xfrm>
            <a:off x="1239780" y="2264940"/>
            <a:ext cx="7459604" cy="3487386"/>
          </a:xfrm>
          <a:prstGeom prst="rect">
            <a:avLst/>
          </a:prstGeom>
        </p:spPr>
      </p:pic>
      <p:sp>
        <p:nvSpPr>
          <p:cNvPr id="5" name="TextBox 4">
            <a:extLst>
              <a:ext uri="{FF2B5EF4-FFF2-40B4-BE49-F238E27FC236}">
                <a16:creationId xmlns:a16="http://schemas.microsoft.com/office/drawing/2014/main" id="{7C9EA6F3-5D39-44C7-8B27-132763C9B725}"/>
              </a:ext>
            </a:extLst>
          </p:cNvPr>
          <p:cNvSpPr txBox="1"/>
          <p:nvPr/>
        </p:nvSpPr>
        <p:spPr>
          <a:xfrm>
            <a:off x="1174459" y="5654302"/>
            <a:ext cx="10704352" cy="646331"/>
          </a:xfrm>
          <a:prstGeom prst="rect">
            <a:avLst/>
          </a:prstGeom>
          <a:noFill/>
        </p:spPr>
        <p:txBody>
          <a:bodyPr wrap="square" rtlCol="0">
            <a:spAutoFit/>
          </a:bodyPr>
          <a:lstStyle/>
          <a:p>
            <a:r>
              <a:rPr lang="en-US" dirty="0"/>
              <a:t>Note that </a:t>
            </a:r>
            <a:r>
              <a:rPr lang="en-US" b="1" dirty="0" err="1"/>
              <a:t>Url</a:t>
            </a:r>
            <a:r>
              <a:rPr lang="en-US" b="1" dirty="0"/>
              <a:t> is not in bold, as we marked it as optional back in models.py, </a:t>
            </a:r>
            <a:r>
              <a:rPr lang="en-US" b="1" dirty="0" err="1"/>
              <a:t>url</a:t>
            </a:r>
            <a:r>
              <a:rPr lang="en-US" b="1" dirty="0"/>
              <a:t> = </a:t>
            </a:r>
            <a:r>
              <a:rPr lang="en-US" dirty="0" err="1"/>
              <a:t>models.URLField</a:t>
            </a:r>
            <a:r>
              <a:rPr lang="en-US" dirty="0"/>
              <a:t>(blank=True). The other required fields are in bold.</a:t>
            </a:r>
          </a:p>
        </p:txBody>
      </p:sp>
    </p:spTree>
    <p:extLst>
      <p:ext uri="{BB962C8B-B14F-4D97-AF65-F5344CB8AC3E}">
        <p14:creationId xmlns:p14="http://schemas.microsoft.com/office/powerpoint/2010/main" val="2037222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7DF51-EBBB-4D11-B728-183D69B839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F2A411-9770-4DCA-B777-FE6B4EB18DB9}"/>
              </a:ext>
            </a:extLst>
          </p:cNvPr>
          <p:cNvSpPr>
            <a:spLocks noGrp="1"/>
          </p:cNvSpPr>
          <p:nvPr>
            <p:ph idx="1"/>
          </p:nvPr>
        </p:nvSpPr>
        <p:spPr/>
        <p:txBody>
          <a:bodyPr/>
          <a:lstStyle/>
          <a:p>
            <a:r>
              <a:rPr lang="en-US" dirty="0"/>
              <a:t>Try adding a movie and hit </a:t>
            </a:r>
            <a:r>
              <a:rPr lang="en-US" b="1" dirty="0"/>
              <a:t>Save. Your movie object will be saved to the database and </a:t>
            </a:r>
            <a:r>
              <a:rPr lang="en-US" dirty="0"/>
              <a:t>reflected in the admin page as shown in Figure : </a:t>
            </a:r>
          </a:p>
          <a:p>
            <a:endParaRPr lang="en-US" dirty="0"/>
          </a:p>
        </p:txBody>
      </p:sp>
      <p:pic>
        <p:nvPicPr>
          <p:cNvPr id="4" name="Picture 3">
            <a:extLst>
              <a:ext uri="{FF2B5EF4-FFF2-40B4-BE49-F238E27FC236}">
                <a16:creationId xmlns:a16="http://schemas.microsoft.com/office/drawing/2014/main" id="{38E019E6-0AB8-4F2C-A9AA-EF5543488AA2}"/>
              </a:ext>
            </a:extLst>
          </p:cNvPr>
          <p:cNvPicPr>
            <a:picLocks noChangeAspect="1"/>
          </p:cNvPicPr>
          <p:nvPr/>
        </p:nvPicPr>
        <p:blipFill>
          <a:blip r:embed="rId2"/>
          <a:stretch>
            <a:fillRect/>
          </a:stretch>
        </p:blipFill>
        <p:spPr>
          <a:xfrm>
            <a:off x="1179090" y="2586010"/>
            <a:ext cx="6522004" cy="3124793"/>
          </a:xfrm>
          <a:prstGeom prst="rect">
            <a:avLst/>
          </a:prstGeom>
        </p:spPr>
      </p:pic>
      <p:sp>
        <p:nvSpPr>
          <p:cNvPr id="5" name="TextBox 4">
            <a:extLst>
              <a:ext uri="{FF2B5EF4-FFF2-40B4-BE49-F238E27FC236}">
                <a16:creationId xmlns:a16="http://schemas.microsoft.com/office/drawing/2014/main" id="{6647D088-CF9E-438F-9A35-2FFCA2074BE0}"/>
              </a:ext>
            </a:extLst>
          </p:cNvPr>
          <p:cNvSpPr txBox="1"/>
          <p:nvPr/>
        </p:nvSpPr>
        <p:spPr>
          <a:xfrm>
            <a:off x="1179090" y="5792802"/>
            <a:ext cx="8988367" cy="369332"/>
          </a:xfrm>
          <a:prstGeom prst="rect">
            <a:avLst/>
          </a:prstGeom>
          <a:noFill/>
        </p:spPr>
        <p:txBody>
          <a:bodyPr wrap="square" rtlCol="0">
            <a:spAutoFit/>
          </a:bodyPr>
          <a:lstStyle/>
          <a:p>
            <a:r>
              <a:rPr lang="en-US" dirty="0"/>
              <a:t>You can also see the movie image in /</a:t>
            </a:r>
            <a:r>
              <a:rPr lang="en-US" dirty="0" err="1"/>
              <a:t>moviereviews</a:t>
            </a:r>
            <a:r>
              <a:rPr lang="en-US" dirty="0"/>
              <a:t>/media/movie/images/&lt;image file&gt;.jpg.</a:t>
            </a:r>
          </a:p>
        </p:txBody>
      </p:sp>
    </p:spTree>
    <p:extLst>
      <p:ext uri="{BB962C8B-B14F-4D97-AF65-F5344CB8AC3E}">
        <p14:creationId xmlns:p14="http://schemas.microsoft.com/office/powerpoint/2010/main" val="3852046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5DE00-F1FC-4FB6-B99C-601C8C245687}"/>
              </a:ext>
            </a:extLst>
          </p:cNvPr>
          <p:cNvSpPr>
            <a:spLocks noGrp="1"/>
          </p:cNvSpPr>
          <p:nvPr>
            <p:ph type="title"/>
          </p:nvPr>
        </p:nvSpPr>
        <p:spPr/>
        <p:txBody>
          <a:bodyPr/>
          <a:lstStyle/>
          <a:p>
            <a:r>
              <a:rPr lang="en-US" b="1" dirty="0"/>
              <a:t>Displaying Objects from Admin</a:t>
            </a:r>
            <a:endParaRPr lang="en-US" dirty="0"/>
          </a:p>
        </p:txBody>
      </p:sp>
      <p:sp>
        <p:nvSpPr>
          <p:cNvPr id="3" name="Content Placeholder 2">
            <a:extLst>
              <a:ext uri="{FF2B5EF4-FFF2-40B4-BE49-F238E27FC236}">
                <a16:creationId xmlns:a16="http://schemas.microsoft.com/office/drawing/2014/main" id="{1CFE32CA-F8F2-464B-9612-C3E34A1B323A}"/>
              </a:ext>
            </a:extLst>
          </p:cNvPr>
          <p:cNvSpPr>
            <a:spLocks noGrp="1"/>
          </p:cNvSpPr>
          <p:nvPr>
            <p:ph idx="1"/>
          </p:nvPr>
        </p:nvSpPr>
        <p:spPr/>
        <p:txBody>
          <a:bodyPr/>
          <a:lstStyle/>
          <a:p>
            <a:r>
              <a:rPr lang="en-US" dirty="0"/>
              <a:t>Previously, we learned how to store data in a database. In this chapter, we will collect and display database information. </a:t>
            </a:r>
          </a:p>
          <a:p>
            <a:r>
              <a:rPr lang="en-US" dirty="0"/>
              <a:t>we will be covering the following topics:</a:t>
            </a:r>
          </a:p>
          <a:p>
            <a:r>
              <a:rPr lang="en-US" dirty="0"/>
              <a:t>• Listing movies</a:t>
            </a:r>
          </a:p>
          <a:p>
            <a:r>
              <a:rPr lang="en-US" dirty="0"/>
              <a:t>• Using the card component</a:t>
            </a:r>
          </a:p>
          <a:p>
            <a:r>
              <a:rPr lang="en-US" dirty="0"/>
              <a:t>• Implementing a search</a:t>
            </a:r>
          </a:p>
          <a:p>
            <a:r>
              <a:rPr lang="en-US" dirty="0"/>
              <a:t>• Adding a news app</a:t>
            </a:r>
          </a:p>
          <a:p>
            <a:r>
              <a:rPr lang="en-US" dirty="0"/>
              <a:t>• Listing news</a:t>
            </a:r>
          </a:p>
        </p:txBody>
      </p:sp>
    </p:spTree>
    <p:extLst>
      <p:ext uri="{BB962C8B-B14F-4D97-AF65-F5344CB8AC3E}">
        <p14:creationId xmlns:p14="http://schemas.microsoft.com/office/powerpoint/2010/main" val="2075356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0BD6-83BE-4C77-8A8E-3032DE49FFB2}"/>
              </a:ext>
            </a:extLst>
          </p:cNvPr>
          <p:cNvSpPr>
            <a:spLocks noGrp="1"/>
          </p:cNvSpPr>
          <p:nvPr>
            <p:ph type="title"/>
          </p:nvPr>
        </p:nvSpPr>
        <p:spPr/>
        <p:txBody>
          <a:bodyPr/>
          <a:lstStyle/>
          <a:p>
            <a:r>
              <a:rPr lang="en-US" b="1" dirty="0"/>
              <a:t>Listing movies</a:t>
            </a:r>
            <a:endParaRPr lang="en-US" dirty="0"/>
          </a:p>
        </p:txBody>
      </p:sp>
      <p:sp>
        <p:nvSpPr>
          <p:cNvPr id="3" name="Content Placeholder 2">
            <a:extLst>
              <a:ext uri="{FF2B5EF4-FFF2-40B4-BE49-F238E27FC236}">
                <a16:creationId xmlns:a16="http://schemas.microsoft.com/office/drawing/2014/main" id="{6950BED9-ADEF-464B-A94C-7F81984BEDCD}"/>
              </a:ext>
            </a:extLst>
          </p:cNvPr>
          <p:cNvSpPr>
            <a:spLocks noGrp="1"/>
          </p:cNvSpPr>
          <p:nvPr>
            <p:ph idx="1"/>
          </p:nvPr>
        </p:nvSpPr>
        <p:spPr/>
        <p:txBody>
          <a:bodyPr/>
          <a:lstStyle/>
          <a:p>
            <a:r>
              <a:rPr lang="en-US" dirty="0"/>
              <a:t>In </a:t>
            </a:r>
            <a:r>
              <a:rPr lang="en-US" b="1" dirty="0">
                <a:solidFill>
                  <a:srgbClr val="FF0000"/>
                </a:solidFill>
              </a:rPr>
              <a:t>movie/views.py</a:t>
            </a:r>
            <a:r>
              <a:rPr lang="en-US" dirty="0"/>
              <a:t>, add the following in bold:</a:t>
            </a:r>
          </a:p>
          <a:p>
            <a:endParaRPr lang="en-US" dirty="0"/>
          </a:p>
        </p:txBody>
      </p:sp>
      <p:pic>
        <p:nvPicPr>
          <p:cNvPr id="4" name="Picture 3">
            <a:extLst>
              <a:ext uri="{FF2B5EF4-FFF2-40B4-BE49-F238E27FC236}">
                <a16:creationId xmlns:a16="http://schemas.microsoft.com/office/drawing/2014/main" id="{C62D7C53-27BE-4DD0-989A-EF0E3192050C}"/>
              </a:ext>
            </a:extLst>
          </p:cNvPr>
          <p:cNvPicPr>
            <a:picLocks noChangeAspect="1"/>
          </p:cNvPicPr>
          <p:nvPr/>
        </p:nvPicPr>
        <p:blipFill>
          <a:blip r:embed="rId2"/>
          <a:stretch>
            <a:fillRect/>
          </a:stretch>
        </p:blipFill>
        <p:spPr>
          <a:xfrm>
            <a:off x="1217058" y="2390818"/>
            <a:ext cx="6752483" cy="2293057"/>
          </a:xfrm>
          <a:prstGeom prst="rect">
            <a:avLst/>
          </a:prstGeom>
        </p:spPr>
      </p:pic>
    </p:spTree>
    <p:extLst>
      <p:ext uri="{BB962C8B-B14F-4D97-AF65-F5344CB8AC3E}">
        <p14:creationId xmlns:p14="http://schemas.microsoft.com/office/powerpoint/2010/main" val="1027836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2B7FDB-97C1-421D-9D5A-C7DE6A3A0DC3}"/>
              </a:ext>
            </a:extLst>
          </p:cNvPr>
          <p:cNvSpPr>
            <a:spLocks noGrp="1"/>
          </p:cNvSpPr>
          <p:nvPr>
            <p:ph idx="1"/>
          </p:nvPr>
        </p:nvSpPr>
        <p:spPr>
          <a:xfrm>
            <a:off x="1097280" y="1845734"/>
            <a:ext cx="4003007" cy="4023360"/>
          </a:xfrm>
        </p:spPr>
        <p:txBody>
          <a:bodyPr>
            <a:normAutofit lnSpcReduction="10000"/>
          </a:bodyPr>
          <a:lstStyle/>
          <a:p>
            <a:r>
              <a:rPr lang="en-US" dirty="0">
                <a:solidFill>
                  <a:schemeClr val="tx1"/>
                </a:solidFill>
              </a:rPr>
              <a:t>Make changes in to </a:t>
            </a:r>
          </a:p>
          <a:p>
            <a:r>
              <a:rPr lang="en-US" b="1" dirty="0">
                <a:solidFill>
                  <a:srgbClr val="FF0000"/>
                </a:solidFill>
              </a:rPr>
              <a:t>/movie /templates/home.html</a:t>
            </a:r>
          </a:p>
          <a:p>
            <a:endParaRPr lang="en-US" b="1" dirty="0">
              <a:solidFill>
                <a:srgbClr val="FF0000"/>
              </a:solidFill>
            </a:endParaRPr>
          </a:p>
          <a:p>
            <a:r>
              <a:rPr lang="en-US" dirty="0"/>
              <a:t>Using a </a:t>
            </a:r>
            <a:r>
              <a:rPr lang="en-US" dirty="0">
                <a:solidFill>
                  <a:srgbClr val="0000FF"/>
                </a:solidFill>
              </a:rPr>
              <a:t>for loop in the Django templating language</a:t>
            </a:r>
            <a:r>
              <a:rPr lang="en-US" dirty="0"/>
              <a:t>, we loop through movies, with movie acting as a temporary variable to hold the element for the current iteration. </a:t>
            </a:r>
          </a:p>
          <a:p>
            <a:r>
              <a:rPr lang="en-US" dirty="0"/>
              <a:t>Note that we enclose code in {% … %} template tags. We use {{ … }} to render variables such as a movie's title, description, and image URL.</a:t>
            </a:r>
            <a:endParaRPr lang="en-US" dirty="0">
              <a:solidFill>
                <a:srgbClr val="FF0000"/>
              </a:solidFill>
            </a:endParaRPr>
          </a:p>
        </p:txBody>
      </p:sp>
      <p:pic>
        <p:nvPicPr>
          <p:cNvPr id="4" name="Picture 3">
            <a:extLst>
              <a:ext uri="{FF2B5EF4-FFF2-40B4-BE49-F238E27FC236}">
                <a16:creationId xmlns:a16="http://schemas.microsoft.com/office/drawing/2014/main" id="{8D17E395-6961-486E-BF6C-D3C942B324CC}"/>
              </a:ext>
            </a:extLst>
          </p:cNvPr>
          <p:cNvPicPr>
            <a:picLocks noChangeAspect="1"/>
          </p:cNvPicPr>
          <p:nvPr/>
        </p:nvPicPr>
        <p:blipFill>
          <a:blip r:embed="rId2"/>
          <a:stretch>
            <a:fillRect/>
          </a:stretch>
        </p:blipFill>
        <p:spPr>
          <a:xfrm>
            <a:off x="5490655" y="1754502"/>
            <a:ext cx="5604065" cy="4205823"/>
          </a:xfrm>
          <a:prstGeom prst="rect">
            <a:avLst/>
          </a:prstGeom>
        </p:spPr>
      </p:pic>
    </p:spTree>
    <p:extLst>
      <p:ext uri="{BB962C8B-B14F-4D97-AF65-F5344CB8AC3E}">
        <p14:creationId xmlns:p14="http://schemas.microsoft.com/office/powerpoint/2010/main" val="2530291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852D4-C42B-43FD-B0ED-2DDD006067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71C753-BE0E-483D-9EB5-1167309B85D4}"/>
              </a:ext>
            </a:extLst>
          </p:cNvPr>
          <p:cNvSpPr>
            <a:spLocks noGrp="1"/>
          </p:cNvSpPr>
          <p:nvPr>
            <p:ph idx="1"/>
          </p:nvPr>
        </p:nvSpPr>
        <p:spPr/>
        <p:txBody>
          <a:bodyPr/>
          <a:lstStyle/>
          <a:p>
            <a:r>
              <a:rPr lang="en-US" dirty="0"/>
              <a:t>Because a movie URL is optional, which means it can be null, we check whether it has </a:t>
            </a:r>
          </a:p>
          <a:p>
            <a:r>
              <a:rPr lang="en-US" dirty="0"/>
              <a:t>a value with {% if movie.url %} and, if so, render a &lt;a&gt; </a:t>
            </a:r>
            <a:r>
              <a:rPr lang="en-US" dirty="0" err="1"/>
              <a:t>href</a:t>
            </a:r>
            <a:r>
              <a:rPr lang="en-US" dirty="0"/>
              <a:t> to the movie URL:</a:t>
            </a:r>
          </a:p>
          <a:p>
            <a:endParaRPr lang="en-US" dirty="0"/>
          </a:p>
          <a:p>
            <a:endParaRPr lang="en-US" dirty="0"/>
          </a:p>
          <a:p>
            <a:endParaRPr lang="en-US" dirty="0"/>
          </a:p>
          <a:p>
            <a:r>
              <a:rPr lang="en-US" dirty="0"/>
              <a:t>We presented a practical use of both the for and if template tags. You can find a more complete list of template tags here: </a:t>
            </a:r>
            <a:r>
              <a:rPr lang="en-US" dirty="0">
                <a:hlinkClick r:id="rId2"/>
              </a:rPr>
              <a:t>https://docs.djangoproject.com/en/4.0/ref/templates/language/#tags</a:t>
            </a:r>
            <a:r>
              <a:rPr lang="en-US" dirty="0"/>
              <a:t>.</a:t>
            </a:r>
          </a:p>
          <a:p>
            <a:endParaRPr lang="en-US" dirty="0"/>
          </a:p>
        </p:txBody>
      </p:sp>
      <p:pic>
        <p:nvPicPr>
          <p:cNvPr id="4" name="Picture 3">
            <a:extLst>
              <a:ext uri="{FF2B5EF4-FFF2-40B4-BE49-F238E27FC236}">
                <a16:creationId xmlns:a16="http://schemas.microsoft.com/office/drawing/2014/main" id="{F8C67DB3-860E-42D8-8626-7344B133C4C7}"/>
              </a:ext>
            </a:extLst>
          </p:cNvPr>
          <p:cNvPicPr>
            <a:picLocks noChangeAspect="1"/>
          </p:cNvPicPr>
          <p:nvPr/>
        </p:nvPicPr>
        <p:blipFill>
          <a:blip r:embed="rId3"/>
          <a:stretch>
            <a:fillRect/>
          </a:stretch>
        </p:blipFill>
        <p:spPr>
          <a:xfrm>
            <a:off x="1097280" y="2809875"/>
            <a:ext cx="7115542" cy="915862"/>
          </a:xfrm>
          <a:prstGeom prst="rect">
            <a:avLst/>
          </a:prstGeom>
        </p:spPr>
      </p:pic>
    </p:spTree>
    <p:extLst>
      <p:ext uri="{BB962C8B-B14F-4D97-AF65-F5344CB8AC3E}">
        <p14:creationId xmlns:p14="http://schemas.microsoft.com/office/powerpoint/2010/main" val="622822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4AFA5-6204-45E2-96CD-AE404472D5DA}"/>
              </a:ext>
            </a:extLst>
          </p:cNvPr>
          <p:cNvSpPr>
            <a:spLocks noGrp="1"/>
          </p:cNvSpPr>
          <p:nvPr>
            <p:ph type="title"/>
          </p:nvPr>
        </p:nvSpPr>
        <p:spPr/>
        <p:txBody>
          <a:bodyPr>
            <a:noAutofit/>
          </a:bodyPr>
          <a:lstStyle/>
          <a:p>
            <a:r>
              <a:rPr lang="en-US" sz="2000" dirty="0"/>
              <a:t>Let's further improve the look of our site by </a:t>
            </a:r>
            <a:r>
              <a:rPr lang="en-US" sz="2000" b="1" dirty="0">
                <a:solidFill>
                  <a:srgbClr val="0000FF"/>
                </a:solidFill>
              </a:rPr>
              <a:t>using the card component from Bootstrap </a:t>
            </a:r>
            <a:br>
              <a:rPr lang="en-US" sz="2000" dirty="0"/>
            </a:br>
            <a:r>
              <a:rPr lang="en-US" sz="2000" dirty="0"/>
              <a:t>to display each movie(https://getbootstrap.com/docs/5.1/components/card/)</a:t>
            </a:r>
            <a:r>
              <a:rPr lang="en-US" sz="2000" b="1" dirty="0">
                <a:solidFill>
                  <a:srgbClr val="FF0000"/>
                </a:solidFill>
              </a:rPr>
              <a:t>home.html</a:t>
            </a:r>
          </a:p>
        </p:txBody>
      </p:sp>
      <p:sp>
        <p:nvSpPr>
          <p:cNvPr id="3" name="Content Placeholder 2">
            <a:extLst>
              <a:ext uri="{FF2B5EF4-FFF2-40B4-BE49-F238E27FC236}">
                <a16:creationId xmlns:a16="http://schemas.microsoft.com/office/drawing/2014/main" id="{349D0663-B132-4DEF-BFC6-4260A102DE39}"/>
              </a:ext>
            </a:extLst>
          </p:cNvPr>
          <p:cNvSpPr>
            <a:spLocks noGrp="1"/>
          </p:cNvSpPr>
          <p:nvPr>
            <p:ph idx="1"/>
          </p:nvPr>
        </p:nvSpPr>
        <p:spPr>
          <a:xfrm>
            <a:off x="1097279" y="1845734"/>
            <a:ext cx="5278352" cy="4023360"/>
          </a:xfrm>
        </p:spPr>
        <p:txBody>
          <a:bodyPr>
            <a:normAutofit fontScale="77500" lnSpcReduction="20000"/>
          </a:bodyPr>
          <a:lstStyle/>
          <a:p>
            <a:r>
              <a:rPr lang="en-US" dirty="0"/>
              <a:t> </a:t>
            </a:r>
            <a:br>
              <a:rPr lang="en-US" dirty="0"/>
            </a:br>
            <a:r>
              <a:rPr lang="en-US" dirty="0"/>
              <a:t>      &lt;p&gt;Searching for: {{ </a:t>
            </a:r>
            <a:r>
              <a:rPr lang="en-US" dirty="0" err="1"/>
              <a:t>searchTerm</a:t>
            </a:r>
            <a:r>
              <a:rPr lang="en-US" dirty="0"/>
              <a:t> }}&lt;/p&gt;</a:t>
            </a:r>
          </a:p>
          <a:p>
            <a:r>
              <a:rPr lang="en-US" dirty="0"/>
              <a:t>      &lt;div class="row row-cols-1 row-cols-md-3 g-4"&gt;</a:t>
            </a:r>
          </a:p>
          <a:p>
            <a:r>
              <a:rPr lang="en-US" dirty="0"/>
              <a:t>        {% for movie in movies %}</a:t>
            </a:r>
          </a:p>
          <a:p>
            <a:r>
              <a:rPr lang="en-US" dirty="0"/>
              <a:t>        &lt;div v-for="movie in movies" class="col"&gt;</a:t>
            </a:r>
          </a:p>
          <a:p>
            <a:r>
              <a:rPr lang="en-US" dirty="0"/>
              <a:t>          &lt;div class="card"&gt;</a:t>
            </a:r>
          </a:p>
          <a:p>
            <a:r>
              <a:rPr lang="en-US" dirty="0"/>
              <a:t>            &lt;</a:t>
            </a:r>
            <a:r>
              <a:rPr lang="en-US" dirty="0" err="1"/>
              <a:t>img</a:t>
            </a:r>
            <a:r>
              <a:rPr lang="en-US" dirty="0"/>
              <a:t> class="card-</a:t>
            </a:r>
            <a:r>
              <a:rPr lang="en-US" dirty="0" err="1"/>
              <a:t>img</a:t>
            </a:r>
            <a:r>
              <a:rPr lang="en-US" dirty="0"/>
              <a:t>-top" </a:t>
            </a:r>
            <a:r>
              <a:rPr lang="en-US" dirty="0" err="1"/>
              <a:t>src</a:t>
            </a:r>
            <a:r>
              <a:rPr lang="en-US" dirty="0"/>
              <a:t>="{{ movie.image.url }}" /&gt;</a:t>
            </a:r>
          </a:p>
          <a:p>
            <a:r>
              <a:rPr lang="en-US" dirty="0"/>
              <a:t>            &lt;div class="card-body"&gt;</a:t>
            </a:r>
          </a:p>
          <a:p>
            <a:r>
              <a:rPr lang="en-US" dirty="0"/>
              <a:t>              &lt;h5 class="card-title </a:t>
            </a:r>
            <a:r>
              <a:rPr lang="en-US" dirty="0" err="1"/>
              <a:t>fw</a:t>
            </a:r>
            <a:r>
              <a:rPr lang="en-US" dirty="0"/>
              <a:t>-bold"&gt;{{ </a:t>
            </a:r>
            <a:r>
              <a:rPr lang="en-US" dirty="0" err="1"/>
              <a:t>movie.title</a:t>
            </a:r>
            <a:r>
              <a:rPr lang="en-US" dirty="0"/>
              <a:t> }}&lt;/h5&gt;</a:t>
            </a:r>
          </a:p>
          <a:p>
            <a:r>
              <a:rPr lang="en-US" dirty="0"/>
              <a:t>              &lt;p class="card-text"&gt;{{ </a:t>
            </a:r>
            <a:r>
              <a:rPr lang="en-US" dirty="0" err="1"/>
              <a:t>movie.description</a:t>
            </a:r>
            <a:r>
              <a:rPr lang="en-US" dirty="0"/>
              <a:t> }}&lt;/p&gt;</a:t>
            </a:r>
          </a:p>
          <a:p>
            <a:r>
              <a:rPr lang="en-US" dirty="0"/>
              <a:t>             </a:t>
            </a:r>
          </a:p>
        </p:txBody>
      </p:sp>
      <p:sp>
        <p:nvSpPr>
          <p:cNvPr id="4" name="TextBox 3">
            <a:extLst>
              <a:ext uri="{FF2B5EF4-FFF2-40B4-BE49-F238E27FC236}">
                <a16:creationId xmlns:a16="http://schemas.microsoft.com/office/drawing/2014/main" id="{1448F436-DA41-4346-A3A5-AC50DF9F7B63}"/>
              </a:ext>
            </a:extLst>
          </p:cNvPr>
          <p:cNvSpPr txBox="1"/>
          <p:nvPr/>
        </p:nvSpPr>
        <p:spPr>
          <a:xfrm>
            <a:off x="6610600" y="1737360"/>
            <a:ext cx="5581400" cy="3970318"/>
          </a:xfrm>
          <a:prstGeom prst="rect">
            <a:avLst/>
          </a:prstGeom>
          <a:noFill/>
        </p:spPr>
        <p:txBody>
          <a:bodyPr wrap="none" rtlCol="0">
            <a:spAutoFit/>
          </a:bodyPr>
          <a:lstStyle/>
          <a:p>
            <a:r>
              <a:rPr lang="en-US" dirty="0"/>
              <a:t> {% if movie.url %}</a:t>
            </a:r>
          </a:p>
          <a:p>
            <a:r>
              <a:rPr lang="en-US" dirty="0"/>
              <a:t>              &lt;a </a:t>
            </a:r>
            <a:r>
              <a:rPr lang="en-US" dirty="0" err="1"/>
              <a:t>href</a:t>
            </a:r>
            <a:r>
              <a:rPr lang="en-US" dirty="0"/>
              <a:t>="{{ movie.url }}" class="</a:t>
            </a:r>
            <a:r>
              <a:rPr lang="en-US" dirty="0" err="1"/>
              <a:t>btn</a:t>
            </a:r>
            <a:r>
              <a:rPr lang="en-US" dirty="0"/>
              <a:t> </a:t>
            </a:r>
            <a:r>
              <a:rPr lang="en-US" dirty="0" err="1"/>
              <a:t>btn</a:t>
            </a:r>
            <a:r>
              <a:rPr lang="en-US" dirty="0"/>
              <a:t>-primary"&gt;</a:t>
            </a:r>
          </a:p>
          <a:p>
            <a:r>
              <a:rPr lang="en-US" dirty="0"/>
              <a:t>                Movie Link</a:t>
            </a:r>
          </a:p>
          <a:p>
            <a:r>
              <a:rPr lang="en-US" dirty="0"/>
              <a:t>              &lt;/a&gt;</a:t>
            </a:r>
          </a:p>
          <a:p>
            <a:r>
              <a:rPr lang="en-US" dirty="0"/>
              <a:t>              {% endif %}</a:t>
            </a:r>
          </a:p>
          <a:p>
            <a:r>
              <a:rPr lang="en-US" dirty="0"/>
              <a:t>            &lt;/div&gt;</a:t>
            </a:r>
          </a:p>
          <a:p>
            <a:r>
              <a:rPr lang="en-US" dirty="0"/>
              <a:t>          &lt;/div&gt;</a:t>
            </a:r>
          </a:p>
          <a:p>
            <a:r>
              <a:rPr lang="en-US" dirty="0"/>
              <a:t>        &lt;/div&gt;</a:t>
            </a:r>
          </a:p>
          <a:p>
            <a:r>
              <a:rPr lang="en-US" dirty="0"/>
              <a:t>        {% </a:t>
            </a:r>
            <a:r>
              <a:rPr lang="en-US" dirty="0" err="1"/>
              <a:t>endfor</a:t>
            </a:r>
            <a:r>
              <a:rPr lang="en-US" dirty="0"/>
              <a:t> %}</a:t>
            </a:r>
          </a:p>
          <a:p>
            <a:r>
              <a:rPr lang="en-US" dirty="0"/>
              <a:t>      &lt;/div&gt;</a:t>
            </a:r>
          </a:p>
          <a:p>
            <a:r>
              <a:rPr lang="en-US" dirty="0"/>
              <a:t>      &lt;</a:t>
            </a:r>
            <a:r>
              <a:rPr lang="en-US" dirty="0" err="1"/>
              <a:t>br</a:t>
            </a:r>
            <a:r>
              <a:rPr lang="en-US" dirty="0"/>
              <a:t> /&gt;</a:t>
            </a:r>
          </a:p>
          <a:p>
            <a:r>
              <a:rPr lang="en-US" dirty="0"/>
              <a:t>      &lt;</a:t>
            </a:r>
            <a:r>
              <a:rPr lang="en-US" dirty="0" err="1"/>
              <a:t>br</a:t>
            </a:r>
            <a:r>
              <a:rPr lang="en-US" dirty="0"/>
              <a:t> /&gt;</a:t>
            </a:r>
          </a:p>
          <a:p>
            <a:r>
              <a:rPr lang="en-US" dirty="0"/>
              <a:t>      &lt;h2&gt;Join our mailing list:&lt;/h2&gt;</a:t>
            </a:r>
          </a:p>
          <a:p>
            <a:endParaRPr lang="en-US" dirty="0"/>
          </a:p>
        </p:txBody>
      </p:sp>
      <p:cxnSp>
        <p:nvCxnSpPr>
          <p:cNvPr id="6" name="Straight Connector 5">
            <a:extLst>
              <a:ext uri="{FF2B5EF4-FFF2-40B4-BE49-F238E27FC236}">
                <a16:creationId xmlns:a16="http://schemas.microsoft.com/office/drawing/2014/main" id="{EEF7144B-265A-437C-B80B-9E5F83D97F08}"/>
              </a:ext>
            </a:extLst>
          </p:cNvPr>
          <p:cNvCxnSpPr>
            <a:cxnSpLocks/>
          </p:cNvCxnSpPr>
          <p:nvPr/>
        </p:nvCxnSpPr>
        <p:spPr>
          <a:xfrm>
            <a:off x="6434356" y="1737360"/>
            <a:ext cx="0" cy="445371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2364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E423A2-75D0-4504-A9B5-AF495626648F}"/>
              </a:ext>
            </a:extLst>
          </p:cNvPr>
          <p:cNvPicPr>
            <a:picLocks noChangeAspect="1"/>
          </p:cNvPicPr>
          <p:nvPr/>
        </p:nvPicPr>
        <p:blipFill>
          <a:blip r:embed="rId2"/>
          <a:stretch>
            <a:fillRect/>
          </a:stretch>
        </p:blipFill>
        <p:spPr>
          <a:xfrm>
            <a:off x="1197812" y="243281"/>
            <a:ext cx="10177659" cy="6165908"/>
          </a:xfrm>
          <a:prstGeom prst="rect">
            <a:avLst/>
          </a:prstGeom>
        </p:spPr>
      </p:pic>
    </p:spTree>
    <p:extLst>
      <p:ext uri="{BB962C8B-B14F-4D97-AF65-F5344CB8AC3E}">
        <p14:creationId xmlns:p14="http://schemas.microsoft.com/office/powerpoint/2010/main" val="1652620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DB378-7132-4859-9254-682F79EBA3D1}"/>
              </a:ext>
            </a:extLst>
          </p:cNvPr>
          <p:cNvSpPr>
            <a:spLocks noGrp="1"/>
          </p:cNvSpPr>
          <p:nvPr>
            <p:ph type="title"/>
          </p:nvPr>
        </p:nvSpPr>
        <p:spPr/>
        <p:txBody>
          <a:bodyPr/>
          <a:lstStyle/>
          <a:p>
            <a:r>
              <a:rPr lang="en-US" sz="3200" b="1" dirty="0"/>
              <a:t>Implementing a search</a:t>
            </a:r>
            <a:endParaRPr lang="en-US" dirty="0"/>
          </a:p>
        </p:txBody>
      </p:sp>
      <p:sp>
        <p:nvSpPr>
          <p:cNvPr id="3" name="Content Placeholder 2">
            <a:extLst>
              <a:ext uri="{FF2B5EF4-FFF2-40B4-BE49-F238E27FC236}">
                <a16:creationId xmlns:a16="http://schemas.microsoft.com/office/drawing/2014/main" id="{22342F17-4CF3-4206-80FB-BCF85AF38804}"/>
              </a:ext>
            </a:extLst>
          </p:cNvPr>
          <p:cNvSpPr>
            <a:spLocks noGrp="1"/>
          </p:cNvSpPr>
          <p:nvPr>
            <p:ph idx="1"/>
          </p:nvPr>
        </p:nvSpPr>
        <p:spPr/>
        <p:txBody>
          <a:bodyPr/>
          <a:lstStyle/>
          <a:p>
            <a:r>
              <a:rPr lang="en-US" dirty="0"/>
              <a:t>Implement def home in </a:t>
            </a:r>
            <a:r>
              <a:rPr lang="en-US" b="1" dirty="0">
                <a:solidFill>
                  <a:srgbClr val="FF0000"/>
                </a:solidFill>
              </a:rPr>
              <a:t>/movie/views.py </a:t>
            </a:r>
            <a:r>
              <a:rPr lang="en-US" dirty="0"/>
              <a:t>with the following</a:t>
            </a:r>
          </a:p>
          <a:p>
            <a:endParaRPr lang="en-US" dirty="0"/>
          </a:p>
        </p:txBody>
      </p:sp>
      <p:pic>
        <p:nvPicPr>
          <p:cNvPr id="4" name="Picture 3">
            <a:extLst>
              <a:ext uri="{FF2B5EF4-FFF2-40B4-BE49-F238E27FC236}">
                <a16:creationId xmlns:a16="http://schemas.microsoft.com/office/drawing/2014/main" id="{AADFC170-98D0-4E80-988F-342C0929BF54}"/>
              </a:ext>
            </a:extLst>
          </p:cNvPr>
          <p:cNvPicPr>
            <a:picLocks noChangeAspect="1"/>
          </p:cNvPicPr>
          <p:nvPr/>
        </p:nvPicPr>
        <p:blipFill>
          <a:blip r:embed="rId2"/>
          <a:stretch>
            <a:fillRect/>
          </a:stretch>
        </p:blipFill>
        <p:spPr>
          <a:xfrm>
            <a:off x="1271936" y="2397154"/>
            <a:ext cx="8814176" cy="3223470"/>
          </a:xfrm>
          <a:prstGeom prst="rect">
            <a:avLst/>
          </a:prstGeom>
        </p:spPr>
      </p:pic>
      <p:pic>
        <p:nvPicPr>
          <p:cNvPr id="5" name="Content Placeholder 3">
            <a:extLst>
              <a:ext uri="{FF2B5EF4-FFF2-40B4-BE49-F238E27FC236}">
                <a16:creationId xmlns:a16="http://schemas.microsoft.com/office/drawing/2014/main" id="{F95C94B1-CAAB-4872-9038-213ACE68FCF4}"/>
              </a:ext>
            </a:extLst>
          </p:cNvPr>
          <p:cNvPicPr>
            <a:picLocks noChangeAspect="1"/>
          </p:cNvPicPr>
          <p:nvPr/>
        </p:nvPicPr>
        <p:blipFill>
          <a:blip r:embed="rId3"/>
          <a:stretch>
            <a:fillRect/>
          </a:stretch>
        </p:blipFill>
        <p:spPr>
          <a:xfrm>
            <a:off x="9541234" y="1846369"/>
            <a:ext cx="1860852" cy="4022725"/>
          </a:xfrm>
          <a:prstGeom prst="rect">
            <a:avLst/>
          </a:prstGeom>
        </p:spPr>
      </p:pic>
    </p:spTree>
    <p:extLst>
      <p:ext uri="{BB962C8B-B14F-4D97-AF65-F5344CB8AC3E}">
        <p14:creationId xmlns:p14="http://schemas.microsoft.com/office/powerpoint/2010/main" val="138542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BA815-E543-46E8-9C9C-6DC3EC068A9E}"/>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5ABF718-629F-45E8-9B2F-3F5C22BF7213}"/>
              </a:ext>
            </a:extLst>
          </p:cNvPr>
          <p:cNvSpPr>
            <a:spLocks noGrp="1"/>
          </p:cNvSpPr>
          <p:nvPr>
            <p:ph idx="1"/>
          </p:nvPr>
        </p:nvSpPr>
        <p:spPr/>
        <p:txBody>
          <a:bodyPr/>
          <a:lstStyle/>
          <a:p>
            <a:r>
              <a:rPr lang="en-US" b="1" dirty="0"/>
              <a:t>Adding a news app</a:t>
            </a:r>
          </a:p>
          <a:p>
            <a:r>
              <a:rPr lang="en-US" b="1" dirty="0">
                <a:solidFill>
                  <a:srgbClr val="FF0000"/>
                </a:solidFill>
              </a:rPr>
              <a:t>python manage.py </a:t>
            </a:r>
            <a:r>
              <a:rPr lang="en-US" b="1" dirty="0" err="1">
                <a:solidFill>
                  <a:srgbClr val="FF0000"/>
                </a:solidFill>
              </a:rPr>
              <a:t>startapp</a:t>
            </a:r>
            <a:r>
              <a:rPr lang="en-US" b="1" dirty="0">
                <a:solidFill>
                  <a:srgbClr val="FF0000"/>
                </a:solidFill>
              </a:rPr>
              <a:t> news</a:t>
            </a:r>
          </a:p>
          <a:p>
            <a:r>
              <a:rPr lang="en-US" b="1" dirty="0"/>
              <a:t>/moviereviews/settings.py</a:t>
            </a:r>
          </a:p>
          <a:p>
            <a:r>
              <a:rPr lang="en-US" dirty="0"/>
              <a:t>Each time we add an app, we have to tell Django about it by adding it to </a:t>
            </a:r>
            <a:r>
              <a:rPr lang="en-US" b="1" dirty="0" err="1">
                <a:solidFill>
                  <a:srgbClr val="FF0000"/>
                </a:solidFill>
              </a:rPr>
              <a:t>moviereviews</a:t>
            </a:r>
            <a:r>
              <a:rPr lang="en-US" b="1" dirty="0">
                <a:solidFill>
                  <a:srgbClr val="FF0000"/>
                </a:solidFill>
              </a:rPr>
              <a:t>/settings.py</a:t>
            </a:r>
            <a:r>
              <a:rPr lang="en-US" dirty="0"/>
              <a:t>:</a:t>
            </a:r>
            <a:endParaRPr lang="en-US" b="1" dirty="0">
              <a:solidFill>
                <a:srgbClr val="FF0000"/>
              </a:solidFill>
            </a:endParaRPr>
          </a:p>
          <a:p>
            <a:endParaRPr lang="en-US" dirty="0"/>
          </a:p>
        </p:txBody>
      </p:sp>
      <p:pic>
        <p:nvPicPr>
          <p:cNvPr id="7" name="Picture 6">
            <a:extLst>
              <a:ext uri="{FF2B5EF4-FFF2-40B4-BE49-F238E27FC236}">
                <a16:creationId xmlns:a16="http://schemas.microsoft.com/office/drawing/2014/main" id="{0394D129-E43B-4F9D-BB7D-FD4BED452699}"/>
              </a:ext>
            </a:extLst>
          </p:cNvPr>
          <p:cNvPicPr>
            <a:picLocks noChangeAspect="1"/>
          </p:cNvPicPr>
          <p:nvPr/>
        </p:nvPicPr>
        <p:blipFill>
          <a:blip r:embed="rId2"/>
          <a:stretch>
            <a:fillRect/>
          </a:stretch>
        </p:blipFill>
        <p:spPr>
          <a:xfrm>
            <a:off x="4676382" y="3595653"/>
            <a:ext cx="5465909" cy="2721258"/>
          </a:xfrm>
          <a:prstGeom prst="rect">
            <a:avLst/>
          </a:prstGeom>
        </p:spPr>
      </p:pic>
    </p:spTree>
    <p:extLst>
      <p:ext uri="{BB962C8B-B14F-4D97-AF65-F5344CB8AC3E}">
        <p14:creationId xmlns:p14="http://schemas.microsoft.com/office/powerpoint/2010/main" val="263351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1A22C-4651-46D3-9161-D35770093E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91AD1F-5149-4AD2-8D1F-D5110E393E28}"/>
              </a:ext>
            </a:extLst>
          </p:cNvPr>
          <p:cNvSpPr>
            <a:spLocks noGrp="1"/>
          </p:cNvSpPr>
          <p:nvPr>
            <p:ph idx="1"/>
          </p:nvPr>
        </p:nvSpPr>
        <p:spPr/>
        <p:txBody>
          <a:bodyPr/>
          <a:lstStyle/>
          <a:p>
            <a:r>
              <a:rPr lang="en-US" dirty="0"/>
              <a:t>we have to add the path to news in /</a:t>
            </a:r>
            <a:r>
              <a:rPr lang="en-US" b="1" dirty="0" err="1">
                <a:solidFill>
                  <a:srgbClr val="FF0000"/>
                </a:solidFill>
              </a:rPr>
              <a:t>moviereviews</a:t>
            </a:r>
            <a:r>
              <a:rPr lang="en-US" b="1" dirty="0">
                <a:solidFill>
                  <a:srgbClr val="FF0000"/>
                </a:solidFill>
              </a:rPr>
              <a:t>/urls.py</a:t>
            </a:r>
            <a:r>
              <a:rPr lang="en-US" dirty="0"/>
              <a:t>.</a:t>
            </a:r>
          </a:p>
          <a:p>
            <a:endParaRPr lang="en-US" dirty="0"/>
          </a:p>
        </p:txBody>
      </p:sp>
      <p:pic>
        <p:nvPicPr>
          <p:cNvPr id="5" name="Picture 4">
            <a:extLst>
              <a:ext uri="{FF2B5EF4-FFF2-40B4-BE49-F238E27FC236}">
                <a16:creationId xmlns:a16="http://schemas.microsoft.com/office/drawing/2014/main" id="{6ADF0C73-96AA-44A7-9147-A45495914453}"/>
              </a:ext>
            </a:extLst>
          </p:cNvPr>
          <p:cNvPicPr>
            <a:picLocks noChangeAspect="1"/>
          </p:cNvPicPr>
          <p:nvPr/>
        </p:nvPicPr>
        <p:blipFill>
          <a:blip r:embed="rId2"/>
          <a:stretch>
            <a:fillRect/>
          </a:stretch>
        </p:blipFill>
        <p:spPr>
          <a:xfrm>
            <a:off x="1284607" y="2395581"/>
            <a:ext cx="5585976" cy="2832326"/>
          </a:xfrm>
          <a:prstGeom prst="rect">
            <a:avLst/>
          </a:prstGeom>
        </p:spPr>
      </p:pic>
    </p:spTree>
    <p:extLst>
      <p:ext uri="{BB962C8B-B14F-4D97-AF65-F5344CB8AC3E}">
        <p14:creationId xmlns:p14="http://schemas.microsoft.com/office/powerpoint/2010/main" val="2377152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D437D-E43F-427A-94A6-250873223A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E268BC-8914-4C6A-A76F-C7F6AB001232}"/>
              </a:ext>
            </a:extLst>
          </p:cNvPr>
          <p:cNvSpPr>
            <a:spLocks noGrp="1"/>
          </p:cNvSpPr>
          <p:nvPr>
            <p:ph idx="1"/>
          </p:nvPr>
        </p:nvSpPr>
        <p:spPr/>
        <p:txBody>
          <a:bodyPr/>
          <a:lstStyle/>
          <a:p>
            <a:r>
              <a:rPr lang="en-US" dirty="0"/>
              <a:t>In </a:t>
            </a:r>
            <a:r>
              <a:rPr lang="en-US" dirty="0">
                <a:solidFill>
                  <a:srgbClr val="FF0000"/>
                </a:solidFill>
              </a:rPr>
              <a:t>/news,</a:t>
            </a:r>
            <a:r>
              <a:rPr lang="en-US" dirty="0"/>
              <a:t> create a new file, </a:t>
            </a:r>
            <a:r>
              <a:rPr lang="en-US" dirty="0">
                <a:solidFill>
                  <a:srgbClr val="FF0000"/>
                </a:solidFill>
              </a:rPr>
              <a:t>urls.py</a:t>
            </a:r>
            <a:r>
              <a:rPr lang="en-US" dirty="0"/>
              <a:t>, with the following:</a:t>
            </a:r>
          </a:p>
          <a:p>
            <a:endParaRPr lang="en-US" dirty="0"/>
          </a:p>
          <a:p>
            <a:endParaRPr lang="en-US" dirty="0"/>
          </a:p>
          <a:p>
            <a:endParaRPr lang="en-US" dirty="0"/>
          </a:p>
          <a:p>
            <a:endParaRPr lang="en-US" dirty="0"/>
          </a:p>
          <a:p>
            <a:r>
              <a:rPr lang="en-US" dirty="0"/>
              <a:t>in </a:t>
            </a:r>
            <a:r>
              <a:rPr lang="en-US" dirty="0">
                <a:solidFill>
                  <a:srgbClr val="FF0000"/>
                </a:solidFill>
              </a:rPr>
              <a:t>/news/views.py</a:t>
            </a:r>
            <a:r>
              <a:rPr lang="en-US" dirty="0"/>
              <a:t>, add the def news function:</a:t>
            </a:r>
          </a:p>
          <a:p>
            <a:endParaRPr lang="en-US" dirty="0"/>
          </a:p>
        </p:txBody>
      </p:sp>
      <p:pic>
        <p:nvPicPr>
          <p:cNvPr id="5" name="Picture 4">
            <a:extLst>
              <a:ext uri="{FF2B5EF4-FFF2-40B4-BE49-F238E27FC236}">
                <a16:creationId xmlns:a16="http://schemas.microsoft.com/office/drawing/2014/main" id="{30098928-6695-4A85-86E9-0E8BC551B1B6}"/>
              </a:ext>
            </a:extLst>
          </p:cNvPr>
          <p:cNvPicPr>
            <a:picLocks noChangeAspect="1"/>
          </p:cNvPicPr>
          <p:nvPr/>
        </p:nvPicPr>
        <p:blipFill>
          <a:blip r:embed="rId2"/>
          <a:stretch>
            <a:fillRect/>
          </a:stretch>
        </p:blipFill>
        <p:spPr>
          <a:xfrm>
            <a:off x="1097280" y="4537048"/>
            <a:ext cx="6733126" cy="1440420"/>
          </a:xfrm>
          <a:prstGeom prst="rect">
            <a:avLst/>
          </a:prstGeom>
        </p:spPr>
      </p:pic>
      <p:pic>
        <p:nvPicPr>
          <p:cNvPr id="7" name="Picture 6">
            <a:extLst>
              <a:ext uri="{FF2B5EF4-FFF2-40B4-BE49-F238E27FC236}">
                <a16:creationId xmlns:a16="http://schemas.microsoft.com/office/drawing/2014/main" id="{6391ECA6-768C-4CF3-937E-E198693DD94F}"/>
              </a:ext>
            </a:extLst>
          </p:cNvPr>
          <p:cNvPicPr>
            <a:picLocks noChangeAspect="1"/>
          </p:cNvPicPr>
          <p:nvPr/>
        </p:nvPicPr>
        <p:blipFill>
          <a:blip r:embed="rId3"/>
          <a:stretch>
            <a:fillRect/>
          </a:stretch>
        </p:blipFill>
        <p:spPr>
          <a:xfrm>
            <a:off x="1097280" y="2197917"/>
            <a:ext cx="5202852" cy="1922282"/>
          </a:xfrm>
          <a:prstGeom prst="rect">
            <a:avLst/>
          </a:prstGeom>
        </p:spPr>
      </p:pic>
    </p:spTree>
    <p:extLst>
      <p:ext uri="{BB962C8B-B14F-4D97-AF65-F5344CB8AC3E}">
        <p14:creationId xmlns:p14="http://schemas.microsoft.com/office/powerpoint/2010/main" val="947799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27715-A754-42B3-A5F7-2ED266C1CCD3}"/>
              </a:ext>
            </a:extLst>
          </p:cNvPr>
          <p:cNvSpPr>
            <a:spLocks noGrp="1"/>
          </p:cNvSpPr>
          <p:nvPr>
            <p:ph type="title"/>
          </p:nvPr>
        </p:nvSpPr>
        <p:spPr/>
        <p:txBody>
          <a:bodyPr/>
          <a:lstStyle/>
          <a:p>
            <a:r>
              <a:rPr lang="en-US" b="1" dirty="0"/>
              <a:t>News model</a:t>
            </a:r>
            <a:endParaRPr lang="en-US" dirty="0"/>
          </a:p>
        </p:txBody>
      </p:sp>
      <p:sp>
        <p:nvSpPr>
          <p:cNvPr id="3" name="Content Placeholder 2">
            <a:extLst>
              <a:ext uri="{FF2B5EF4-FFF2-40B4-BE49-F238E27FC236}">
                <a16:creationId xmlns:a16="http://schemas.microsoft.com/office/drawing/2014/main" id="{3B8A8469-CE6D-4298-9DF2-E64648E36BC0}"/>
              </a:ext>
            </a:extLst>
          </p:cNvPr>
          <p:cNvSpPr>
            <a:spLocks noGrp="1"/>
          </p:cNvSpPr>
          <p:nvPr>
            <p:ph idx="1"/>
          </p:nvPr>
        </p:nvSpPr>
        <p:spPr/>
        <p:txBody>
          <a:bodyPr/>
          <a:lstStyle/>
          <a:p>
            <a:r>
              <a:rPr lang="en-US" dirty="0"/>
              <a:t>In </a:t>
            </a:r>
            <a:r>
              <a:rPr lang="en-US" b="1" dirty="0">
                <a:solidFill>
                  <a:srgbClr val="FF0000"/>
                </a:solidFill>
              </a:rPr>
              <a:t>/news/models.py</a:t>
            </a:r>
            <a:r>
              <a:rPr lang="en-US" dirty="0"/>
              <a:t>, create the model with the following:</a:t>
            </a:r>
          </a:p>
          <a:p>
            <a:endParaRPr lang="en-US" dirty="0"/>
          </a:p>
          <a:p>
            <a:endParaRPr lang="en-US" dirty="0"/>
          </a:p>
          <a:p>
            <a:endParaRPr lang="en-US" dirty="0"/>
          </a:p>
          <a:p>
            <a:r>
              <a:rPr lang="en-US" dirty="0"/>
              <a:t>make migrations with the following:</a:t>
            </a:r>
          </a:p>
          <a:p>
            <a:r>
              <a:rPr lang="en-US" b="1" dirty="0">
                <a:solidFill>
                  <a:srgbClr val="FF0000"/>
                </a:solidFill>
              </a:rPr>
              <a:t>python manage.py </a:t>
            </a:r>
            <a:r>
              <a:rPr lang="en-US" b="1" dirty="0" err="1">
                <a:solidFill>
                  <a:srgbClr val="FF0000"/>
                </a:solidFill>
              </a:rPr>
              <a:t>makemigrations</a:t>
            </a:r>
            <a:endParaRPr lang="en-US" b="1" dirty="0">
              <a:solidFill>
                <a:srgbClr val="FF0000"/>
              </a:solidFill>
            </a:endParaRPr>
          </a:p>
          <a:p>
            <a:r>
              <a:rPr lang="en-US" b="1" dirty="0">
                <a:solidFill>
                  <a:srgbClr val="FF0000"/>
                </a:solidFill>
              </a:rPr>
              <a:t>python manage.py migrate</a:t>
            </a:r>
            <a:endParaRPr lang="en-US" dirty="0">
              <a:solidFill>
                <a:srgbClr val="FF0000"/>
              </a:solidFill>
            </a:endParaRPr>
          </a:p>
          <a:p>
            <a:endParaRPr lang="en-US" dirty="0"/>
          </a:p>
        </p:txBody>
      </p:sp>
      <p:pic>
        <p:nvPicPr>
          <p:cNvPr id="4" name="Picture 3">
            <a:extLst>
              <a:ext uri="{FF2B5EF4-FFF2-40B4-BE49-F238E27FC236}">
                <a16:creationId xmlns:a16="http://schemas.microsoft.com/office/drawing/2014/main" id="{3BC72FEE-5720-47F1-B572-CD70E4AE8974}"/>
              </a:ext>
            </a:extLst>
          </p:cNvPr>
          <p:cNvPicPr>
            <a:picLocks noChangeAspect="1"/>
          </p:cNvPicPr>
          <p:nvPr/>
        </p:nvPicPr>
        <p:blipFill>
          <a:blip r:embed="rId2"/>
          <a:stretch>
            <a:fillRect/>
          </a:stretch>
        </p:blipFill>
        <p:spPr>
          <a:xfrm>
            <a:off x="1178610" y="2308808"/>
            <a:ext cx="4314825" cy="1200150"/>
          </a:xfrm>
          <a:prstGeom prst="rect">
            <a:avLst/>
          </a:prstGeom>
        </p:spPr>
      </p:pic>
      <p:pic>
        <p:nvPicPr>
          <p:cNvPr id="5" name="Picture 4">
            <a:extLst>
              <a:ext uri="{FF2B5EF4-FFF2-40B4-BE49-F238E27FC236}">
                <a16:creationId xmlns:a16="http://schemas.microsoft.com/office/drawing/2014/main" id="{3E3966FC-3EA8-4E30-83CD-8155D69B5B25}"/>
              </a:ext>
            </a:extLst>
          </p:cNvPr>
          <p:cNvPicPr>
            <a:picLocks noChangeAspect="1"/>
          </p:cNvPicPr>
          <p:nvPr/>
        </p:nvPicPr>
        <p:blipFill>
          <a:blip r:embed="rId3"/>
          <a:stretch>
            <a:fillRect/>
          </a:stretch>
        </p:blipFill>
        <p:spPr>
          <a:xfrm>
            <a:off x="5337364" y="4072468"/>
            <a:ext cx="5476875" cy="1905000"/>
          </a:xfrm>
          <a:prstGeom prst="rect">
            <a:avLst/>
          </a:prstGeom>
        </p:spPr>
      </p:pic>
    </p:spTree>
    <p:extLst>
      <p:ext uri="{BB962C8B-B14F-4D97-AF65-F5344CB8AC3E}">
        <p14:creationId xmlns:p14="http://schemas.microsoft.com/office/powerpoint/2010/main" val="2022246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DBC25-6D9A-4D72-ADEB-5A08204584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25E1AB-3784-4F6E-9808-9C300EA783EF}"/>
              </a:ext>
            </a:extLst>
          </p:cNvPr>
          <p:cNvSpPr>
            <a:spLocks noGrp="1"/>
          </p:cNvSpPr>
          <p:nvPr>
            <p:ph idx="1"/>
          </p:nvPr>
        </p:nvSpPr>
        <p:spPr/>
        <p:txBody>
          <a:bodyPr/>
          <a:lstStyle/>
          <a:p>
            <a:r>
              <a:rPr lang="en-US" dirty="0"/>
              <a:t>register the news model by going to </a:t>
            </a:r>
            <a:r>
              <a:rPr lang="en-US" dirty="0">
                <a:solidFill>
                  <a:srgbClr val="FF0000"/>
                </a:solidFill>
              </a:rPr>
              <a:t>/news/admin.py </a:t>
            </a:r>
            <a:r>
              <a:rPr lang="en-US" dirty="0"/>
              <a:t>and adding the following in bold:</a:t>
            </a:r>
          </a:p>
          <a:p>
            <a:endParaRPr lang="en-US" dirty="0"/>
          </a:p>
        </p:txBody>
      </p:sp>
      <p:pic>
        <p:nvPicPr>
          <p:cNvPr id="4" name="Picture 3">
            <a:extLst>
              <a:ext uri="{FF2B5EF4-FFF2-40B4-BE49-F238E27FC236}">
                <a16:creationId xmlns:a16="http://schemas.microsoft.com/office/drawing/2014/main" id="{E8484C05-0091-49CA-8802-F170BAED6630}"/>
              </a:ext>
            </a:extLst>
          </p:cNvPr>
          <p:cNvPicPr>
            <a:picLocks noChangeAspect="1"/>
          </p:cNvPicPr>
          <p:nvPr/>
        </p:nvPicPr>
        <p:blipFill>
          <a:blip r:embed="rId2"/>
          <a:stretch>
            <a:fillRect/>
          </a:stretch>
        </p:blipFill>
        <p:spPr>
          <a:xfrm>
            <a:off x="1097280" y="2381862"/>
            <a:ext cx="6117252" cy="1212174"/>
          </a:xfrm>
          <a:prstGeom prst="rect">
            <a:avLst/>
          </a:prstGeom>
        </p:spPr>
      </p:pic>
    </p:spTree>
    <p:extLst>
      <p:ext uri="{BB962C8B-B14F-4D97-AF65-F5344CB8AC3E}">
        <p14:creationId xmlns:p14="http://schemas.microsoft.com/office/powerpoint/2010/main" val="1767188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1931BC-E007-4024-89C4-42B9784E06CF}"/>
              </a:ext>
            </a:extLst>
          </p:cNvPr>
          <p:cNvPicPr>
            <a:picLocks noChangeAspect="1"/>
          </p:cNvPicPr>
          <p:nvPr/>
        </p:nvPicPr>
        <p:blipFill>
          <a:blip r:embed="rId2"/>
          <a:stretch>
            <a:fillRect/>
          </a:stretch>
        </p:blipFill>
        <p:spPr>
          <a:xfrm>
            <a:off x="1064658" y="504475"/>
            <a:ext cx="8532348" cy="5928686"/>
          </a:xfrm>
          <a:prstGeom prst="rect">
            <a:avLst/>
          </a:prstGeom>
        </p:spPr>
      </p:pic>
    </p:spTree>
    <p:extLst>
      <p:ext uri="{BB962C8B-B14F-4D97-AF65-F5344CB8AC3E}">
        <p14:creationId xmlns:p14="http://schemas.microsoft.com/office/powerpoint/2010/main" val="1864118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BD3E0-C609-40FE-A0B6-C93330C85AEE}"/>
              </a:ext>
            </a:extLst>
          </p:cNvPr>
          <p:cNvSpPr>
            <a:spLocks noGrp="1"/>
          </p:cNvSpPr>
          <p:nvPr>
            <p:ph type="title"/>
          </p:nvPr>
        </p:nvSpPr>
        <p:spPr/>
        <p:txBody>
          <a:bodyPr/>
          <a:lstStyle/>
          <a:p>
            <a:r>
              <a:rPr lang="en-US" b="1" dirty="0"/>
              <a:t>Listing news</a:t>
            </a:r>
            <a:endParaRPr lang="en-US" dirty="0"/>
          </a:p>
        </p:txBody>
      </p:sp>
      <p:sp>
        <p:nvSpPr>
          <p:cNvPr id="3" name="Content Placeholder 2">
            <a:extLst>
              <a:ext uri="{FF2B5EF4-FFF2-40B4-BE49-F238E27FC236}">
                <a16:creationId xmlns:a16="http://schemas.microsoft.com/office/drawing/2014/main" id="{CFF4E824-EA8D-4FB2-872B-1465D888FC27}"/>
              </a:ext>
            </a:extLst>
          </p:cNvPr>
          <p:cNvSpPr>
            <a:spLocks noGrp="1"/>
          </p:cNvSpPr>
          <p:nvPr>
            <p:ph idx="1"/>
          </p:nvPr>
        </p:nvSpPr>
        <p:spPr/>
        <p:txBody>
          <a:bodyPr/>
          <a:lstStyle/>
          <a:p>
            <a:r>
              <a:rPr lang="en-US" dirty="0"/>
              <a:t>In /news/views.py, add the following in bold:</a:t>
            </a:r>
          </a:p>
          <a:p>
            <a:endParaRPr lang="en-US" dirty="0"/>
          </a:p>
        </p:txBody>
      </p:sp>
      <p:pic>
        <p:nvPicPr>
          <p:cNvPr id="4" name="Picture 3">
            <a:extLst>
              <a:ext uri="{FF2B5EF4-FFF2-40B4-BE49-F238E27FC236}">
                <a16:creationId xmlns:a16="http://schemas.microsoft.com/office/drawing/2014/main" id="{DDDD3482-9E52-4B50-AAAD-37010AFC1223}"/>
              </a:ext>
            </a:extLst>
          </p:cNvPr>
          <p:cNvPicPr>
            <a:picLocks noChangeAspect="1"/>
          </p:cNvPicPr>
          <p:nvPr/>
        </p:nvPicPr>
        <p:blipFill>
          <a:blip r:embed="rId2"/>
          <a:stretch>
            <a:fillRect/>
          </a:stretch>
        </p:blipFill>
        <p:spPr>
          <a:xfrm>
            <a:off x="1731234" y="2783790"/>
            <a:ext cx="4661178" cy="1700535"/>
          </a:xfrm>
          <a:prstGeom prst="rect">
            <a:avLst/>
          </a:prstGeom>
        </p:spPr>
      </p:pic>
    </p:spTree>
    <p:extLst>
      <p:ext uri="{BB962C8B-B14F-4D97-AF65-F5344CB8AC3E}">
        <p14:creationId xmlns:p14="http://schemas.microsoft.com/office/powerpoint/2010/main" val="2566848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1F5C1-9866-43B4-8235-BAD414366F9F}"/>
              </a:ext>
            </a:extLst>
          </p:cNvPr>
          <p:cNvSpPr>
            <a:spLocks noGrp="1"/>
          </p:cNvSpPr>
          <p:nvPr>
            <p:ph type="title"/>
          </p:nvPr>
        </p:nvSpPr>
        <p:spPr/>
        <p:txBody>
          <a:bodyPr>
            <a:noAutofit/>
          </a:bodyPr>
          <a:lstStyle/>
          <a:p>
            <a:r>
              <a:rPr lang="en-US" sz="2000" b="1" dirty="0">
                <a:solidFill>
                  <a:srgbClr val="FF0000"/>
                </a:solidFill>
              </a:rPr>
              <a:t>/news/templates/news.html</a:t>
            </a:r>
            <a:r>
              <a:rPr lang="en-US" sz="2000" dirty="0"/>
              <a:t>, display the news objects with the  following code:</a:t>
            </a:r>
          </a:p>
        </p:txBody>
      </p:sp>
      <p:pic>
        <p:nvPicPr>
          <p:cNvPr id="4" name="Content Placeholder 3">
            <a:extLst>
              <a:ext uri="{FF2B5EF4-FFF2-40B4-BE49-F238E27FC236}">
                <a16:creationId xmlns:a16="http://schemas.microsoft.com/office/drawing/2014/main" id="{A76AE157-AFCD-4100-B3D9-FF2CADA0D4C6}"/>
              </a:ext>
            </a:extLst>
          </p:cNvPr>
          <p:cNvPicPr>
            <a:picLocks noGrp="1" noChangeAspect="1"/>
          </p:cNvPicPr>
          <p:nvPr>
            <p:ph idx="1"/>
          </p:nvPr>
        </p:nvPicPr>
        <p:blipFill>
          <a:blip r:embed="rId2"/>
          <a:stretch>
            <a:fillRect/>
          </a:stretch>
        </p:blipFill>
        <p:spPr>
          <a:xfrm>
            <a:off x="1492206" y="1899843"/>
            <a:ext cx="5244153" cy="4349989"/>
          </a:xfrm>
          <a:prstGeom prst="rect">
            <a:avLst/>
          </a:prstGeom>
        </p:spPr>
      </p:pic>
    </p:spTree>
    <p:extLst>
      <p:ext uri="{BB962C8B-B14F-4D97-AF65-F5344CB8AC3E}">
        <p14:creationId xmlns:p14="http://schemas.microsoft.com/office/powerpoint/2010/main" val="3385896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6E20B-9DD0-4FA5-83B7-D26D06AF850E}"/>
              </a:ext>
            </a:extLst>
          </p:cNvPr>
          <p:cNvSpPr>
            <a:spLocks noGrp="1"/>
          </p:cNvSpPr>
          <p:nvPr>
            <p:ph type="title"/>
          </p:nvPr>
        </p:nvSpPr>
        <p:spPr/>
        <p:txBody>
          <a:bodyPr>
            <a:normAutofit/>
          </a:bodyPr>
          <a:lstStyle/>
          <a:p>
            <a:r>
              <a:rPr lang="en-US" sz="2700" dirty="0"/>
              <a:t>Now, try adding some news objects in admin. When you visit </a:t>
            </a:r>
            <a:r>
              <a:rPr lang="en-US" sz="2700" dirty="0">
                <a:solidFill>
                  <a:srgbClr val="FF0000"/>
                </a:solidFill>
              </a:rPr>
              <a:t>http://localhost:8000/news/</a:t>
            </a:r>
            <a:endParaRPr lang="en-US" dirty="0"/>
          </a:p>
        </p:txBody>
      </p:sp>
      <p:pic>
        <p:nvPicPr>
          <p:cNvPr id="4" name="Picture 3">
            <a:extLst>
              <a:ext uri="{FF2B5EF4-FFF2-40B4-BE49-F238E27FC236}">
                <a16:creationId xmlns:a16="http://schemas.microsoft.com/office/drawing/2014/main" id="{5486FDE2-B8AF-463F-B537-ECD89F9DD43C}"/>
              </a:ext>
            </a:extLst>
          </p:cNvPr>
          <p:cNvPicPr>
            <a:picLocks noChangeAspect="1"/>
          </p:cNvPicPr>
          <p:nvPr/>
        </p:nvPicPr>
        <p:blipFill>
          <a:blip r:embed="rId2"/>
          <a:stretch>
            <a:fillRect/>
          </a:stretch>
        </p:blipFill>
        <p:spPr>
          <a:xfrm>
            <a:off x="1207840" y="1859210"/>
            <a:ext cx="5453019" cy="4454579"/>
          </a:xfrm>
          <a:prstGeom prst="rect">
            <a:avLst/>
          </a:prstGeom>
        </p:spPr>
      </p:pic>
    </p:spTree>
    <p:extLst>
      <p:ext uri="{BB962C8B-B14F-4D97-AF65-F5344CB8AC3E}">
        <p14:creationId xmlns:p14="http://schemas.microsoft.com/office/powerpoint/2010/main" val="4057772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4B6F3-87A6-4234-8396-0A0D48508199}"/>
              </a:ext>
            </a:extLst>
          </p:cNvPr>
          <p:cNvSpPr>
            <a:spLocks noGrp="1"/>
          </p:cNvSpPr>
          <p:nvPr>
            <p:ph type="title"/>
          </p:nvPr>
        </p:nvSpPr>
        <p:spPr/>
        <p:txBody>
          <a:bodyPr>
            <a:noAutofit/>
          </a:bodyPr>
          <a:lstStyle/>
          <a:p>
            <a:r>
              <a:rPr lang="en-US" sz="2000" dirty="0"/>
              <a:t>We should also improve the look of the news site with the Bootstrap Horizontal</a:t>
            </a:r>
            <a:br>
              <a:rPr lang="en-US" sz="2000" dirty="0"/>
            </a:br>
            <a:r>
              <a:rPr lang="en-US" sz="2000" dirty="0"/>
              <a:t>Card component (</a:t>
            </a:r>
            <a:r>
              <a:rPr lang="en-US" sz="2000" dirty="0">
                <a:solidFill>
                  <a:srgbClr val="0000FF"/>
                </a:solidFill>
              </a:rPr>
              <a:t>https://getbootstrap.com/docs/5.1/components/card/#horizontal</a:t>
            </a:r>
            <a:r>
              <a:rPr lang="en-US" sz="2000" dirty="0"/>
              <a:t>). </a:t>
            </a:r>
            <a:br>
              <a:rPr lang="en-US" sz="2000" dirty="0"/>
            </a:br>
            <a:r>
              <a:rPr lang="en-US" sz="2000" dirty="0"/>
              <a:t>In /</a:t>
            </a:r>
            <a:r>
              <a:rPr lang="en-US" sz="2000" b="1" dirty="0">
                <a:solidFill>
                  <a:srgbClr val="FF0000"/>
                </a:solidFill>
              </a:rPr>
              <a:t>news/templates/news.html</a:t>
            </a:r>
            <a:r>
              <a:rPr lang="en-US" sz="2000" dirty="0"/>
              <a:t>, replace the for loop markup and make the following changes in bold:</a:t>
            </a:r>
          </a:p>
        </p:txBody>
      </p:sp>
      <p:pic>
        <p:nvPicPr>
          <p:cNvPr id="4" name="Content Placeholder 3">
            <a:extLst>
              <a:ext uri="{FF2B5EF4-FFF2-40B4-BE49-F238E27FC236}">
                <a16:creationId xmlns:a16="http://schemas.microsoft.com/office/drawing/2014/main" id="{FD894325-2A32-461F-B5A3-5AA3C440B95C}"/>
              </a:ext>
            </a:extLst>
          </p:cNvPr>
          <p:cNvPicPr>
            <a:picLocks noGrp="1" noChangeAspect="1"/>
          </p:cNvPicPr>
          <p:nvPr>
            <p:ph idx="1"/>
          </p:nvPr>
        </p:nvPicPr>
        <p:blipFill>
          <a:blip r:embed="rId2"/>
          <a:stretch>
            <a:fillRect/>
          </a:stretch>
        </p:blipFill>
        <p:spPr>
          <a:xfrm>
            <a:off x="728165" y="1669409"/>
            <a:ext cx="7630009" cy="4647501"/>
          </a:xfrm>
          <a:prstGeom prst="rect">
            <a:avLst/>
          </a:prstGeom>
        </p:spPr>
      </p:pic>
      <p:pic>
        <p:nvPicPr>
          <p:cNvPr id="5" name="Picture 4">
            <a:extLst>
              <a:ext uri="{FF2B5EF4-FFF2-40B4-BE49-F238E27FC236}">
                <a16:creationId xmlns:a16="http://schemas.microsoft.com/office/drawing/2014/main" id="{FCA58B14-0B86-4742-926D-1ABDF89DF5CA}"/>
              </a:ext>
            </a:extLst>
          </p:cNvPr>
          <p:cNvPicPr>
            <a:picLocks noChangeAspect="1"/>
          </p:cNvPicPr>
          <p:nvPr/>
        </p:nvPicPr>
        <p:blipFill>
          <a:blip r:embed="rId3"/>
          <a:stretch>
            <a:fillRect/>
          </a:stretch>
        </p:blipFill>
        <p:spPr>
          <a:xfrm>
            <a:off x="8236285" y="1835136"/>
            <a:ext cx="3457968" cy="2361168"/>
          </a:xfrm>
          <a:prstGeom prst="rect">
            <a:avLst/>
          </a:prstGeom>
        </p:spPr>
      </p:pic>
    </p:spTree>
    <p:extLst>
      <p:ext uri="{BB962C8B-B14F-4D97-AF65-F5344CB8AC3E}">
        <p14:creationId xmlns:p14="http://schemas.microsoft.com/office/powerpoint/2010/main" val="3038666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F57E94-BD10-4517-86C4-2AE0AF0DC0D8}"/>
              </a:ext>
            </a:extLst>
          </p:cNvPr>
          <p:cNvPicPr>
            <a:picLocks noChangeAspect="1"/>
          </p:cNvPicPr>
          <p:nvPr/>
        </p:nvPicPr>
        <p:blipFill>
          <a:blip r:embed="rId2"/>
          <a:stretch>
            <a:fillRect/>
          </a:stretch>
        </p:blipFill>
        <p:spPr>
          <a:xfrm>
            <a:off x="1265929" y="219118"/>
            <a:ext cx="9883040" cy="6067425"/>
          </a:xfrm>
          <a:prstGeom prst="rect">
            <a:avLst/>
          </a:prstGeom>
        </p:spPr>
      </p:pic>
    </p:spTree>
    <p:extLst>
      <p:ext uri="{BB962C8B-B14F-4D97-AF65-F5344CB8AC3E}">
        <p14:creationId xmlns:p14="http://schemas.microsoft.com/office/powerpoint/2010/main" val="2527536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DEE0C4-E52D-4CB7-8166-6A3581515A6D}"/>
              </a:ext>
            </a:extLst>
          </p:cNvPr>
          <p:cNvSpPr/>
          <p:nvPr/>
        </p:nvSpPr>
        <p:spPr>
          <a:xfrm>
            <a:off x="4551408" y="2967335"/>
            <a:ext cx="3089179" cy="923330"/>
          </a:xfrm>
          <a:prstGeom prst="rect">
            <a:avLst/>
          </a:prstGeom>
          <a:noFill/>
        </p:spPr>
        <p:txBody>
          <a:bodyPr wrap="none" lIns="91440" tIns="45720" rIns="91440" bIns="45720">
            <a:spAutoFit/>
          </a:bodyPr>
          <a:lstStyle/>
          <a:p>
            <a:pPr algn="ctr"/>
            <a:r>
              <a:rPr lang="en-US" sz="5400" i="1" dirty="0">
                <a:ln w="0"/>
                <a:solidFill>
                  <a:schemeClr val="accent1"/>
                </a:solidFill>
                <a:effectLst>
                  <a:outerShdw blurRad="38100" dist="25400" dir="5400000" algn="ctr" rotWithShape="0">
                    <a:srgbClr val="6E747A">
                      <a:alpha val="43000"/>
                    </a:srgbClr>
                  </a:outerShdw>
                </a:effectLst>
              </a:rPr>
              <a:t>Thank you</a:t>
            </a:r>
            <a:endParaRPr lang="en-US" sz="5400" b="0" i="1"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17712591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607</TotalTime>
  <Words>1296</Words>
  <Application>Microsoft Office PowerPoint</Application>
  <PresentationFormat>Widescreen</PresentationFormat>
  <Paragraphs>143</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Calibri</vt:lpstr>
      <vt:lpstr>Calibri Light</vt:lpstr>
      <vt:lpstr>Wingdings</vt:lpstr>
      <vt:lpstr>Retrospect</vt:lpstr>
      <vt:lpstr>Django - Working with Models</vt:lpstr>
      <vt:lpstr>PowerPoint Presentation</vt:lpstr>
      <vt:lpstr>Contents</vt:lpstr>
      <vt:lpstr>Creating our first model</vt:lpstr>
      <vt:lpstr>/movie/models.py</vt:lpstr>
      <vt:lpstr>Installing pillow</vt:lpstr>
      <vt:lpstr>PowerPoint Presentation</vt:lpstr>
      <vt:lpstr>PowerPoint Presentation</vt:lpstr>
      <vt:lpstr>Accessing the Django admin interface</vt:lpstr>
      <vt:lpstr>PowerPoint Presentation</vt:lpstr>
      <vt:lpstr>PowerPoint Presentation</vt:lpstr>
      <vt:lpstr>PowerPoint Presentation</vt:lpstr>
      <vt:lpstr>PowerPoint Presentation</vt:lpstr>
      <vt:lpstr>PowerPoint Presentation</vt:lpstr>
      <vt:lpstr>Displaying Objects from Admin</vt:lpstr>
      <vt:lpstr>Listing movies</vt:lpstr>
      <vt:lpstr>PowerPoint Presentation</vt:lpstr>
      <vt:lpstr>PowerPoint Presentation</vt:lpstr>
      <vt:lpstr>Let's further improve the look of our site by using the card component from Bootstrap  to display each movie(https://getbootstrap.com/docs/5.1/components/card/)home.html</vt:lpstr>
      <vt:lpstr>PowerPoint Presentation</vt:lpstr>
      <vt:lpstr>Implementing a search</vt:lpstr>
      <vt:lpstr>PowerPoint Presentation</vt:lpstr>
      <vt:lpstr>PowerPoint Presentation</vt:lpstr>
      <vt:lpstr>PowerPoint Presentation</vt:lpstr>
      <vt:lpstr>News model</vt:lpstr>
      <vt:lpstr>PowerPoint Presentation</vt:lpstr>
      <vt:lpstr>PowerPoint Presentation</vt:lpstr>
      <vt:lpstr>Listing news</vt:lpstr>
      <vt:lpstr>/news/templates/news.html, display the news objects with the  following code:</vt:lpstr>
      <vt:lpstr>Now, try adding some news objects in admin. When you visit http://localhost:8000/news/</vt:lpstr>
      <vt:lpstr>We should also improve the look of the news site with the Bootstrap Horizontal Card component (https://getbootstrap.com/docs/5.1/components/card/#horizontal).  In /news/templates/news.html, replace the for loop markup and make the following changes in bold: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 - Working with Models</dc:title>
  <dc:creator>Ami Patel</dc:creator>
  <cp:lastModifiedBy>Ami Patel</cp:lastModifiedBy>
  <cp:revision>41</cp:revision>
  <dcterms:created xsi:type="dcterms:W3CDTF">2024-08-12T08:01:10Z</dcterms:created>
  <dcterms:modified xsi:type="dcterms:W3CDTF">2025-07-03T09:55:34Z</dcterms:modified>
</cp:coreProperties>
</file>