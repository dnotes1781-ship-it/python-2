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288" r:id="rId23"/>
  </p:sldIdLst>
  <p:sldSz cx="12192000" cy="6858000"/>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309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402339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CDCB00-0716-4DB9-BD81-0CC3D1FB335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444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CDCB00-0716-4DB9-BD81-0CC3D1FB335B}"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69205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CDCB00-0716-4DB9-BD81-0CC3D1FB335B}"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75272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DCB00-0716-4DB9-BD81-0CC3D1FB335B}"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1687272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9CDCB00-0716-4DB9-BD81-0CC3D1FB335B}" type="datetimeFigureOut">
              <a:rPr lang="en-US" smtClean="0"/>
              <a:t>7/7/2025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751783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9CDCB00-0716-4DB9-BD81-0CC3D1FB335B}" type="datetimeFigureOut">
              <a:rPr lang="en-US" smtClean="0"/>
              <a:t>7/7/2025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6438F1A-BE99-4A4E-BFCB-23118592936A}" type="slidenum">
              <a:rPr lang="en-US" smtClean="0"/>
              <a:t>‹#›</a:t>
            </a:fld>
            <a:endParaRPr lang="en-US"/>
          </a:p>
        </p:txBody>
      </p:sp>
    </p:spTree>
    <p:extLst>
      <p:ext uri="{BB962C8B-B14F-4D97-AF65-F5344CB8AC3E}">
        <p14:creationId xmlns:p14="http://schemas.microsoft.com/office/powerpoint/2010/main" val="1118272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CDCB00-0716-4DB9-BD81-0CC3D1FB335B}"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78047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29142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DCB00-0716-4DB9-BD81-0CC3D1FB335B}"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38F1A-BE99-4A4E-BFCB-23118592936A}" type="slidenum">
              <a:rPr lang="en-US" smtClean="0"/>
              <a:t>‹#›</a:t>
            </a:fld>
            <a:endParaRPr lang="en-US"/>
          </a:p>
        </p:txBody>
      </p:sp>
    </p:spTree>
    <p:extLst>
      <p:ext uri="{BB962C8B-B14F-4D97-AF65-F5344CB8AC3E}">
        <p14:creationId xmlns:p14="http://schemas.microsoft.com/office/powerpoint/2010/main" val="146619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CDCB00-0716-4DB9-BD81-0CC3D1FB335B}" type="datetimeFigureOut">
              <a:rPr lang="en-US" smtClean="0"/>
              <a:t>7/7/2025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6438F1A-BE99-4A4E-BFCB-23118592936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656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etbootstrap.com/docs/5.1/components/navba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2029-F1CB-4AF9-B7A2-6E20A4A442BE}"/>
              </a:ext>
            </a:extLst>
          </p:cNvPr>
          <p:cNvSpPr>
            <a:spLocks noGrp="1"/>
          </p:cNvSpPr>
          <p:nvPr>
            <p:ph type="ctrTitle"/>
          </p:nvPr>
        </p:nvSpPr>
        <p:spPr/>
        <p:txBody>
          <a:bodyPr>
            <a:normAutofit/>
          </a:bodyPr>
          <a:lstStyle/>
          <a:p>
            <a:r>
              <a:rPr lang="en-IN" sz="6000" b="1" dirty="0"/>
              <a:t>Django -</a:t>
            </a:r>
            <a:r>
              <a:rPr lang="en-US" sz="6000" b="1" dirty="0"/>
              <a:t> </a:t>
            </a:r>
            <a:r>
              <a:rPr lang="en-US" sz="5400" b="1" dirty="0"/>
              <a:t>Extending Base</a:t>
            </a:r>
            <a:br>
              <a:rPr lang="en-US" sz="5400" b="1" dirty="0"/>
            </a:br>
            <a:r>
              <a:rPr lang="en-US" sz="5400" b="1" dirty="0"/>
              <a:t>Templates</a:t>
            </a:r>
            <a:endParaRPr lang="en-US" sz="6000" b="1" dirty="0"/>
          </a:p>
        </p:txBody>
      </p:sp>
      <p:sp>
        <p:nvSpPr>
          <p:cNvPr id="3" name="Subtitle 2">
            <a:extLst>
              <a:ext uri="{FF2B5EF4-FFF2-40B4-BE49-F238E27FC236}">
                <a16:creationId xmlns:a16="http://schemas.microsoft.com/office/drawing/2014/main" id="{255D8FB8-3CB9-4717-B0CD-883B3EB3951A}"/>
              </a:ext>
            </a:extLst>
          </p:cNvPr>
          <p:cNvSpPr>
            <a:spLocks noGrp="1"/>
          </p:cNvSpPr>
          <p:nvPr>
            <p:ph type="subTitle" idx="1"/>
          </p:nvPr>
        </p:nvSpPr>
        <p:spPr/>
        <p:txBody>
          <a:bodyPr/>
          <a:lstStyle/>
          <a:p>
            <a:r>
              <a:rPr lang="en-US" dirty="0"/>
              <a:t>AMI PATEL</a:t>
            </a:r>
          </a:p>
        </p:txBody>
      </p:sp>
    </p:spTree>
    <p:extLst>
      <p:ext uri="{BB962C8B-B14F-4D97-AF65-F5344CB8AC3E}">
        <p14:creationId xmlns:p14="http://schemas.microsoft.com/office/powerpoint/2010/main" val="549170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5046-D251-40F6-9A0A-06132456F732}"/>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24D8B0F7-6039-420E-A9A1-303192CFFCD1}"/>
              </a:ext>
            </a:extLst>
          </p:cNvPr>
          <p:cNvSpPr>
            <a:spLocks noGrp="1"/>
          </p:cNvSpPr>
          <p:nvPr>
            <p:ph idx="1"/>
          </p:nvPr>
        </p:nvSpPr>
        <p:spPr/>
        <p:txBody>
          <a:bodyPr/>
          <a:lstStyle/>
          <a:p>
            <a:pPr>
              <a:buFont typeface="Wingdings" panose="05000000000000000000" pitchFamily="2" charset="2"/>
              <a:buChar char="§"/>
            </a:pPr>
            <a:r>
              <a:rPr lang="en-US" dirty="0"/>
              <a:t> Creating a base template</a:t>
            </a:r>
          </a:p>
          <a:p>
            <a:pPr>
              <a:buFont typeface="Wingdings" panose="05000000000000000000" pitchFamily="2" charset="2"/>
              <a:buChar char="§"/>
            </a:pPr>
            <a:r>
              <a:rPr lang="en-US" dirty="0"/>
              <a:t> Making the links work</a:t>
            </a:r>
          </a:p>
          <a:p>
            <a:pPr>
              <a:buFont typeface="Wingdings" panose="05000000000000000000" pitchFamily="2" charset="2"/>
              <a:buChar char="§"/>
            </a:pPr>
            <a:r>
              <a:rPr lang="en-US" dirty="0"/>
              <a:t> Adding a footer section</a:t>
            </a:r>
          </a:p>
          <a:p>
            <a:pPr>
              <a:buFont typeface="Wingdings" panose="05000000000000000000" pitchFamily="2" charset="2"/>
              <a:buChar char="§"/>
            </a:pPr>
            <a:r>
              <a:rPr lang="en-US" dirty="0"/>
              <a:t> Serving static files</a:t>
            </a:r>
          </a:p>
        </p:txBody>
      </p:sp>
    </p:spTree>
    <p:extLst>
      <p:ext uri="{BB962C8B-B14F-4D97-AF65-F5344CB8AC3E}">
        <p14:creationId xmlns:p14="http://schemas.microsoft.com/office/powerpoint/2010/main" val="88385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A12B4-1949-4EE3-847B-602E335DDFFA}"/>
              </a:ext>
            </a:extLst>
          </p:cNvPr>
          <p:cNvSpPr>
            <a:spLocks noGrp="1"/>
          </p:cNvSpPr>
          <p:nvPr>
            <p:ph type="title"/>
          </p:nvPr>
        </p:nvSpPr>
        <p:spPr>
          <a:xfrm>
            <a:off x="1097280" y="286603"/>
            <a:ext cx="10058400" cy="1450757"/>
          </a:xfrm>
        </p:spPr>
        <p:txBody>
          <a:bodyPr/>
          <a:lstStyle/>
          <a:p>
            <a:r>
              <a:rPr lang="en-US" b="1" dirty="0"/>
              <a:t>Creating a base template</a:t>
            </a:r>
            <a:endParaRPr lang="en-US" dirty="0"/>
          </a:p>
        </p:txBody>
      </p:sp>
      <p:sp>
        <p:nvSpPr>
          <p:cNvPr id="3" name="Content Placeholder 2">
            <a:extLst>
              <a:ext uri="{FF2B5EF4-FFF2-40B4-BE49-F238E27FC236}">
                <a16:creationId xmlns:a16="http://schemas.microsoft.com/office/drawing/2014/main" id="{C1E548AC-ABDF-48A4-98A5-4ADE53F0F0F4}"/>
              </a:ext>
            </a:extLst>
          </p:cNvPr>
          <p:cNvSpPr>
            <a:spLocks noGrp="1"/>
          </p:cNvSpPr>
          <p:nvPr>
            <p:ph idx="1"/>
          </p:nvPr>
        </p:nvSpPr>
        <p:spPr/>
        <p:txBody>
          <a:bodyPr/>
          <a:lstStyle/>
          <a:p>
            <a:r>
              <a:rPr lang="en-US" dirty="0"/>
              <a:t>We currently have our movies page, mailing list signup page, and news page. However, users have to manually enter in the URL to navigate to each of the pages, which is not ideal. Let's add a header bar that allows them to navigate between pages. We will begin with </a:t>
            </a:r>
            <a:r>
              <a:rPr lang="en-US" b="1" dirty="0">
                <a:solidFill>
                  <a:srgbClr val="FF0000"/>
                </a:solidFill>
              </a:rPr>
              <a:t>movie/templates/home.html:</a:t>
            </a:r>
          </a:p>
          <a:p>
            <a:pPr>
              <a:buFont typeface="Wingdings" panose="05000000000000000000" pitchFamily="2" charset="2"/>
              <a:buChar char="§"/>
            </a:pPr>
            <a:r>
              <a:rPr lang="en-US" dirty="0"/>
              <a:t> We will use as a base the markup of the Navbar component from </a:t>
            </a:r>
            <a:r>
              <a:rPr lang="en-US" b="1" dirty="0" err="1"/>
              <a:t>getbootstrap</a:t>
            </a:r>
            <a:r>
              <a:rPr lang="en-US" b="1" dirty="0"/>
              <a:t> (</a:t>
            </a:r>
            <a:r>
              <a:rPr lang="en-US" b="1" dirty="0">
                <a:hlinkClick r:id="rId2"/>
              </a:rPr>
              <a:t>https://getbootstrap.com/docs/5.1/components/navbar/</a:t>
            </a:r>
            <a:r>
              <a:rPr lang="en-US" b="1" dirty="0"/>
              <a:t> ). </a:t>
            </a:r>
          </a:p>
          <a:p>
            <a:pPr>
              <a:buFont typeface="Wingdings" panose="05000000000000000000" pitchFamily="2" charset="2"/>
              <a:buChar char="§"/>
            </a:pPr>
            <a:r>
              <a:rPr lang="en-US" dirty="0"/>
              <a:t>We also include the bootstrap.bundle.min.js script inside the &lt;head&gt; tag.</a:t>
            </a:r>
          </a:p>
          <a:p>
            <a:pPr>
              <a:buFont typeface="Wingdings" panose="05000000000000000000" pitchFamily="2" charset="2"/>
              <a:buChar char="§"/>
            </a:pPr>
            <a:endParaRPr lang="en-US" b="1" dirty="0"/>
          </a:p>
          <a:p>
            <a:pPr>
              <a:buFont typeface="Wingdings" panose="05000000000000000000" pitchFamily="2" charset="2"/>
              <a:buChar char="§"/>
            </a:pPr>
            <a:endParaRPr lang="en-US" b="1" dirty="0">
              <a:solidFill>
                <a:srgbClr val="FF0000"/>
              </a:solidFill>
            </a:endParaRPr>
          </a:p>
        </p:txBody>
      </p:sp>
    </p:spTree>
    <p:extLst>
      <p:ext uri="{BB962C8B-B14F-4D97-AF65-F5344CB8AC3E}">
        <p14:creationId xmlns:p14="http://schemas.microsoft.com/office/powerpoint/2010/main" val="56871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F2900-857D-4DF5-AA59-550D10A6A336}"/>
              </a:ext>
            </a:extLst>
          </p:cNvPr>
          <p:cNvSpPr>
            <a:spLocks noGrp="1"/>
          </p:cNvSpPr>
          <p:nvPr>
            <p:ph type="title"/>
          </p:nvPr>
        </p:nvSpPr>
        <p:spPr/>
        <p:txBody>
          <a:bodyPr>
            <a:normAutofit/>
          </a:bodyPr>
          <a:lstStyle/>
          <a:p>
            <a:r>
              <a:rPr lang="en-US" sz="2800" b="1" dirty="0">
                <a:solidFill>
                  <a:srgbClr val="FF0000"/>
                </a:solidFill>
              </a:rPr>
              <a:t> movie/templates/home.html</a:t>
            </a:r>
          </a:p>
        </p:txBody>
      </p:sp>
      <p:sp>
        <p:nvSpPr>
          <p:cNvPr id="3" name="Content Placeholder 2">
            <a:extLst>
              <a:ext uri="{FF2B5EF4-FFF2-40B4-BE49-F238E27FC236}">
                <a16:creationId xmlns:a16="http://schemas.microsoft.com/office/drawing/2014/main" id="{92207E74-1A5E-4EF5-8B85-D146BE5AC2C9}"/>
              </a:ext>
            </a:extLst>
          </p:cNvPr>
          <p:cNvSpPr>
            <a:spLocks noGrp="1"/>
          </p:cNvSpPr>
          <p:nvPr>
            <p:ph idx="1"/>
          </p:nvPr>
        </p:nvSpPr>
        <p:spPr/>
        <p:txBody>
          <a:bodyPr>
            <a:normAutofit fontScale="85000" lnSpcReduction="20000"/>
          </a:bodyPr>
          <a:lstStyle/>
          <a:p>
            <a:r>
              <a:rPr lang="en-US" dirty="0"/>
              <a:t>&lt;!DOCTYPE html&gt;</a:t>
            </a:r>
          </a:p>
          <a:p>
            <a:r>
              <a:rPr lang="en-US" dirty="0"/>
              <a:t>&lt;html&gt;</a:t>
            </a:r>
          </a:p>
          <a:p>
            <a:r>
              <a:rPr lang="en-US" dirty="0"/>
              <a:t>  &lt;head&gt;</a:t>
            </a:r>
          </a:p>
          <a:p>
            <a:r>
              <a:rPr lang="en-US" dirty="0"/>
              <a:t>    …</a:t>
            </a:r>
          </a:p>
          <a:p>
            <a:r>
              <a:rPr lang="en-US" dirty="0"/>
              <a:t>    </a:t>
            </a:r>
            <a:r>
              <a:rPr lang="en-US" b="1" dirty="0"/>
              <a:t>&lt;script </a:t>
            </a:r>
            <a:r>
              <a:rPr lang="en-US" b="1" dirty="0" err="1"/>
              <a:t>src</a:t>
            </a:r>
            <a:r>
              <a:rPr lang="en-US" b="1" dirty="0"/>
              <a:t>="https://cdn.jsdelivr.net/</a:t>
            </a:r>
            <a:r>
              <a:rPr lang="en-US" b="1" dirty="0" err="1"/>
              <a:t>npm</a:t>
            </a:r>
            <a:r>
              <a:rPr lang="en-US" b="1" dirty="0"/>
              <a:t>/</a:t>
            </a:r>
          </a:p>
          <a:p>
            <a:r>
              <a:rPr lang="en-US" b="1" dirty="0"/>
              <a:t>      bootstrap@5.1.1/</a:t>
            </a:r>
            <a:r>
              <a:rPr lang="en-US" b="1" dirty="0" err="1"/>
              <a:t>dist</a:t>
            </a:r>
            <a:r>
              <a:rPr lang="en-US" b="1" dirty="0"/>
              <a:t>/</a:t>
            </a:r>
            <a:r>
              <a:rPr lang="en-US" b="1" dirty="0" err="1"/>
              <a:t>js</a:t>
            </a:r>
            <a:r>
              <a:rPr lang="en-US" b="1" dirty="0"/>
              <a:t>/bootstrap.bundle.min.js"</a:t>
            </a:r>
          </a:p>
          <a:p>
            <a:r>
              <a:rPr lang="en-US" b="1" dirty="0"/>
              <a:t>      </a:t>
            </a:r>
            <a:r>
              <a:rPr lang="en-US" b="1" dirty="0" err="1"/>
              <a:t>crossorigin</a:t>
            </a:r>
            <a:r>
              <a:rPr lang="en-US" b="1" dirty="0"/>
              <a:t>="anonymous"&gt;</a:t>
            </a:r>
          </a:p>
          <a:p>
            <a:r>
              <a:rPr lang="en-US" dirty="0"/>
              <a:t>    </a:t>
            </a:r>
            <a:r>
              <a:rPr lang="en-US" b="1" dirty="0"/>
              <a:t>&lt;/script&gt;</a:t>
            </a:r>
          </a:p>
          <a:p>
            <a:r>
              <a:rPr lang="en-US" dirty="0"/>
              <a:t>    </a:t>
            </a:r>
            <a:r>
              <a:rPr lang="en-US" b="1" dirty="0"/>
              <a:t>&lt;meta name="viewport" content="width=device-width,</a:t>
            </a:r>
          </a:p>
          <a:p>
            <a:r>
              <a:rPr lang="en-US" b="1" dirty="0"/>
              <a:t>       initial-scale=1" /&gt; </a:t>
            </a:r>
          </a:p>
          <a:p>
            <a:r>
              <a:rPr lang="en-US" dirty="0"/>
              <a:t>  &lt;/head&gt;</a:t>
            </a:r>
          </a:p>
        </p:txBody>
      </p:sp>
    </p:spTree>
    <p:extLst>
      <p:ext uri="{BB962C8B-B14F-4D97-AF65-F5344CB8AC3E}">
        <p14:creationId xmlns:p14="http://schemas.microsoft.com/office/powerpoint/2010/main" val="3025706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35351-A4B7-4195-B2DD-FE0DF5DBA43D}"/>
              </a:ext>
            </a:extLst>
          </p:cNvPr>
          <p:cNvSpPr>
            <a:spLocks noGrp="1"/>
          </p:cNvSpPr>
          <p:nvPr>
            <p:ph type="title"/>
          </p:nvPr>
        </p:nvSpPr>
        <p:spPr>
          <a:xfrm>
            <a:off x="1097280" y="286604"/>
            <a:ext cx="10058400" cy="652964"/>
          </a:xfrm>
        </p:spPr>
        <p:txBody>
          <a:bodyPr>
            <a:normAutofit/>
          </a:bodyPr>
          <a:lstStyle/>
          <a:p>
            <a:r>
              <a:rPr lang="en-US" sz="3200" b="1" dirty="0">
                <a:solidFill>
                  <a:srgbClr val="FF0000"/>
                </a:solidFill>
              </a:rPr>
              <a:t>movie/templates/home.html</a:t>
            </a:r>
            <a:endParaRPr lang="en-US" sz="3200" dirty="0"/>
          </a:p>
        </p:txBody>
      </p:sp>
      <p:sp>
        <p:nvSpPr>
          <p:cNvPr id="3" name="Content Placeholder 2">
            <a:extLst>
              <a:ext uri="{FF2B5EF4-FFF2-40B4-BE49-F238E27FC236}">
                <a16:creationId xmlns:a16="http://schemas.microsoft.com/office/drawing/2014/main" id="{560CF94D-82E7-4F2F-A131-3ABC6564309E}"/>
              </a:ext>
            </a:extLst>
          </p:cNvPr>
          <p:cNvSpPr>
            <a:spLocks noGrp="1"/>
          </p:cNvSpPr>
          <p:nvPr>
            <p:ph idx="1"/>
          </p:nvPr>
        </p:nvSpPr>
        <p:spPr>
          <a:xfrm>
            <a:off x="803664" y="1040391"/>
            <a:ext cx="4781758" cy="5301686"/>
          </a:xfrm>
        </p:spPr>
        <p:txBody>
          <a:bodyPr>
            <a:normAutofit fontScale="85000" lnSpcReduction="10000"/>
          </a:bodyPr>
          <a:lstStyle/>
          <a:p>
            <a:r>
              <a:rPr lang="en-US" dirty="0"/>
              <a:t>&lt;body&gt;</a:t>
            </a:r>
          </a:p>
          <a:p>
            <a:r>
              <a:rPr lang="en-US" dirty="0"/>
              <a:t>    </a:t>
            </a:r>
            <a:r>
              <a:rPr lang="en-US" b="1" dirty="0"/>
              <a:t>&lt;nav class="navbar navbar-expand-lg navbar-light</a:t>
            </a:r>
          </a:p>
          <a:p>
            <a:r>
              <a:rPr lang="en-US" b="1" dirty="0"/>
              <a:t>      </a:t>
            </a:r>
            <a:r>
              <a:rPr lang="en-US" b="1" dirty="0" err="1"/>
              <a:t>bg</a:t>
            </a:r>
            <a:r>
              <a:rPr lang="en-US" b="1" dirty="0"/>
              <a:t>-light mb-3"&gt;</a:t>
            </a:r>
          </a:p>
          <a:p>
            <a:r>
              <a:rPr lang="en-US" b="1" dirty="0"/>
              <a:t>    &lt;div class="container"&gt;</a:t>
            </a:r>
          </a:p>
          <a:p>
            <a:r>
              <a:rPr lang="en-US" dirty="0"/>
              <a:t>        </a:t>
            </a:r>
            <a:r>
              <a:rPr lang="en-US" b="1" dirty="0"/>
              <a:t>&lt;a class="navbar-brand" </a:t>
            </a:r>
            <a:r>
              <a:rPr lang="en-US" b="1" dirty="0" err="1"/>
              <a:t>href</a:t>
            </a:r>
            <a:r>
              <a:rPr lang="en-US" b="1" dirty="0"/>
              <a:t>="#"&gt;Movies&lt;/a&gt;</a:t>
            </a:r>
          </a:p>
          <a:p>
            <a:r>
              <a:rPr lang="en-US" dirty="0"/>
              <a:t>        </a:t>
            </a:r>
            <a:r>
              <a:rPr lang="en-US" b="1" dirty="0"/>
              <a:t>&lt;button class="navbar-toggler" type="button"</a:t>
            </a:r>
          </a:p>
          <a:p>
            <a:r>
              <a:rPr lang="en-US" b="1" dirty="0"/>
              <a:t>          data-bs-toggle="collapse"</a:t>
            </a:r>
          </a:p>
          <a:p>
            <a:r>
              <a:rPr lang="en-US" b="1" dirty="0"/>
              <a:t>          data-bs-target="#</a:t>
            </a:r>
            <a:r>
              <a:rPr lang="en-US" b="1" dirty="0" err="1"/>
              <a:t>navbarNavAltMarkup</a:t>
            </a:r>
            <a:r>
              <a:rPr lang="en-US" b="1" dirty="0"/>
              <a:t>"</a:t>
            </a:r>
          </a:p>
          <a:p>
            <a:r>
              <a:rPr lang="en-US" b="1" dirty="0"/>
              <a:t>          aria-controls="</a:t>
            </a:r>
            <a:r>
              <a:rPr lang="en-US" b="1" dirty="0" err="1"/>
              <a:t>navbarNavAltMarkup</a:t>
            </a:r>
            <a:r>
              <a:rPr lang="en-US" b="1" dirty="0"/>
              <a:t>"</a:t>
            </a:r>
          </a:p>
          <a:p>
            <a:r>
              <a:rPr lang="en-US" b="1" dirty="0"/>
              <a:t>          aria-expanded="false"</a:t>
            </a:r>
          </a:p>
          <a:p>
            <a:r>
              <a:rPr lang="en-US" b="1" dirty="0"/>
              <a:t>          aria-label="Toggle navigation"&gt;</a:t>
            </a:r>
          </a:p>
          <a:p>
            <a:r>
              <a:rPr lang="en-US" dirty="0"/>
              <a:t>          </a:t>
            </a:r>
            <a:r>
              <a:rPr lang="en-US" b="1" dirty="0"/>
              <a:t>&lt;span class="navbar-toggler-icon"&gt;&lt;/span&gt;</a:t>
            </a:r>
          </a:p>
          <a:p>
            <a:r>
              <a:rPr lang="en-US" dirty="0"/>
              <a:t>        </a:t>
            </a:r>
            <a:r>
              <a:rPr lang="en-US" b="1" dirty="0"/>
              <a:t>&lt;/button&gt;</a:t>
            </a:r>
          </a:p>
          <a:p>
            <a:endParaRPr lang="en-US" dirty="0"/>
          </a:p>
        </p:txBody>
      </p:sp>
      <p:sp>
        <p:nvSpPr>
          <p:cNvPr id="4" name="TextBox 3">
            <a:extLst>
              <a:ext uri="{FF2B5EF4-FFF2-40B4-BE49-F238E27FC236}">
                <a16:creationId xmlns:a16="http://schemas.microsoft.com/office/drawing/2014/main" id="{21E2A95A-D1E9-41E0-8F0D-CCDF761ED867}"/>
              </a:ext>
            </a:extLst>
          </p:cNvPr>
          <p:cNvSpPr txBox="1"/>
          <p:nvPr/>
        </p:nvSpPr>
        <p:spPr>
          <a:xfrm>
            <a:off x="6912528" y="1686187"/>
            <a:ext cx="4781758" cy="3693319"/>
          </a:xfrm>
          <a:prstGeom prst="rect">
            <a:avLst/>
          </a:prstGeom>
          <a:noFill/>
        </p:spPr>
        <p:txBody>
          <a:bodyPr wrap="none" rtlCol="0">
            <a:spAutoFit/>
          </a:bodyPr>
          <a:lstStyle/>
          <a:p>
            <a:r>
              <a:rPr lang="en-US" b="1" dirty="0"/>
              <a:t>&lt;div class="collapse navbar-collapse"</a:t>
            </a:r>
          </a:p>
          <a:p>
            <a:r>
              <a:rPr lang="en-US" b="1" dirty="0"/>
              <a:t>          id="</a:t>
            </a:r>
            <a:r>
              <a:rPr lang="en-US" b="1" dirty="0" err="1"/>
              <a:t>navbarNavAltMarkup</a:t>
            </a:r>
            <a:r>
              <a:rPr lang="en-US" b="1" dirty="0"/>
              <a:t>"&gt;</a:t>
            </a:r>
          </a:p>
          <a:p>
            <a:r>
              <a:rPr lang="en-US" dirty="0"/>
              <a:t>          </a:t>
            </a:r>
            <a:r>
              <a:rPr lang="en-US" b="1" dirty="0"/>
              <a:t>&lt;div class="navbar-nav </a:t>
            </a:r>
            <a:r>
              <a:rPr lang="en-US" b="1" dirty="0" err="1"/>
              <a:t>ms</a:t>
            </a:r>
            <a:r>
              <a:rPr lang="en-US" b="1" dirty="0"/>
              <a:t>-auto"&gt;</a:t>
            </a:r>
          </a:p>
          <a:p>
            <a:r>
              <a:rPr lang="en-US" dirty="0"/>
              <a:t>            </a:t>
            </a:r>
            <a:r>
              <a:rPr lang="en-US" b="1" dirty="0"/>
              <a:t>&lt;a class="nav-link" </a:t>
            </a:r>
            <a:r>
              <a:rPr lang="en-US" b="1" dirty="0" err="1"/>
              <a:t>href</a:t>
            </a:r>
            <a:r>
              <a:rPr lang="en-US" b="1" dirty="0"/>
              <a:t>="#"&gt;News&lt;/a&gt;</a:t>
            </a:r>
          </a:p>
          <a:p>
            <a:r>
              <a:rPr lang="en-US" dirty="0"/>
              <a:t>            </a:t>
            </a:r>
            <a:r>
              <a:rPr lang="en-US" b="1" dirty="0"/>
              <a:t>&lt;a class="nav-link" </a:t>
            </a:r>
            <a:r>
              <a:rPr lang="en-US" b="1" dirty="0" err="1"/>
              <a:t>href</a:t>
            </a:r>
            <a:r>
              <a:rPr lang="en-US" b="1" dirty="0"/>
              <a:t>="#"&gt;Login&lt;/a&gt;</a:t>
            </a:r>
          </a:p>
          <a:p>
            <a:r>
              <a:rPr lang="en-US" dirty="0"/>
              <a:t>            </a:t>
            </a:r>
            <a:r>
              <a:rPr lang="en-US" b="1" dirty="0"/>
              <a:t>&lt;a class="nav-link" </a:t>
            </a:r>
            <a:r>
              <a:rPr lang="en-US" b="1" dirty="0" err="1"/>
              <a:t>href</a:t>
            </a:r>
            <a:r>
              <a:rPr lang="en-US" b="1" dirty="0"/>
              <a:t>="#"&gt;Sign Up&lt;/a&gt;</a:t>
            </a:r>
          </a:p>
          <a:p>
            <a:r>
              <a:rPr lang="en-US" dirty="0"/>
              <a:t>          </a:t>
            </a:r>
            <a:r>
              <a:rPr lang="en-US" b="1" dirty="0"/>
              <a:t>&lt;/div&gt;</a:t>
            </a:r>
          </a:p>
          <a:p>
            <a:r>
              <a:rPr lang="en-US" dirty="0"/>
              <a:t>        </a:t>
            </a:r>
            <a:r>
              <a:rPr lang="en-US" b="1" dirty="0"/>
              <a:t>&lt;/div&gt;</a:t>
            </a:r>
          </a:p>
          <a:p>
            <a:r>
              <a:rPr lang="en-US" dirty="0"/>
              <a:t>      </a:t>
            </a:r>
            <a:r>
              <a:rPr lang="en-US" b="1" dirty="0"/>
              <a:t>&lt;/div&gt;</a:t>
            </a:r>
          </a:p>
          <a:p>
            <a:r>
              <a:rPr lang="en-US" dirty="0"/>
              <a:t>    </a:t>
            </a:r>
            <a:r>
              <a:rPr lang="en-US" b="1" dirty="0"/>
              <a:t>&lt;/nav&gt;</a:t>
            </a:r>
          </a:p>
          <a:p>
            <a:r>
              <a:rPr lang="en-US" dirty="0"/>
              <a:t>   </a:t>
            </a:r>
          </a:p>
          <a:p>
            <a:r>
              <a:rPr lang="en-US" dirty="0"/>
              <a:t>    &lt;div class="container"&gt;</a:t>
            </a:r>
          </a:p>
          <a:p>
            <a:r>
              <a:rPr lang="en-US" dirty="0"/>
              <a:t>    …</a:t>
            </a:r>
          </a:p>
        </p:txBody>
      </p:sp>
    </p:spTree>
    <p:extLst>
      <p:ext uri="{BB962C8B-B14F-4D97-AF65-F5344CB8AC3E}">
        <p14:creationId xmlns:p14="http://schemas.microsoft.com/office/powerpoint/2010/main" val="1072621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14E89-0CB9-4984-9771-B939B610DE1C}"/>
              </a:ext>
            </a:extLst>
          </p:cNvPr>
          <p:cNvSpPr>
            <a:spLocks noGrp="1"/>
          </p:cNvSpPr>
          <p:nvPr>
            <p:ph type="title"/>
          </p:nvPr>
        </p:nvSpPr>
        <p:spPr/>
        <p:txBody>
          <a:bodyPr>
            <a:normAutofit/>
          </a:bodyPr>
          <a:lstStyle/>
          <a:p>
            <a:r>
              <a:rPr lang="en-US" sz="2800" b="1" dirty="0"/>
              <a:t>We also included two links (Login and Sign Up), which will be used later.</a:t>
            </a:r>
          </a:p>
        </p:txBody>
      </p:sp>
      <p:pic>
        <p:nvPicPr>
          <p:cNvPr id="4" name="Content Placeholder 3">
            <a:extLst>
              <a:ext uri="{FF2B5EF4-FFF2-40B4-BE49-F238E27FC236}">
                <a16:creationId xmlns:a16="http://schemas.microsoft.com/office/drawing/2014/main" id="{9290009E-680C-45A5-B843-286699E9E890}"/>
              </a:ext>
            </a:extLst>
          </p:cNvPr>
          <p:cNvPicPr>
            <a:picLocks noGrp="1" noChangeAspect="1"/>
          </p:cNvPicPr>
          <p:nvPr>
            <p:ph idx="1"/>
          </p:nvPr>
        </p:nvPicPr>
        <p:blipFill>
          <a:blip r:embed="rId2"/>
          <a:stretch>
            <a:fillRect/>
          </a:stretch>
        </p:blipFill>
        <p:spPr>
          <a:xfrm>
            <a:off x="1096963" y="1998567"/>
            <a:ext cx="10058400" cy="3718117"/>
          </a:xfrm>
          <a:prstGeom prst="rect">
            <a:avLst/>
          </a:prstGeom>
        </p:spPr>
      </p:pic>
    </p:spTree>
    <p:extLst>
      <p:ext uri="{BB962C8B-B14F-4D97-AF65-F5344CB8AC3E}">
        <p14:creationId xmlns:p14="http://schemas.microsoft.com/office/powerpoint/2010/main" val="1797216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BE8DC-BC56-4A5D-9E7C-028454E287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4E5B30-E871-4F97-A915-9F344701E22C}"/>
              </a:ext>
            </a:extLst>
          </p:cNvPr>
          <p:cNvSpPr>
            <a:spLocks noGrp="1"/>
          </p:cNvSpPr>
          <p:nvPr>
            <p:ph idx="1"/>
          </p:nvPr>
        </p:nvSpPr>
        <p:spPr/>
        <p:txBody>
          <a:bodyPr/>
          <a:lstStyle/>
          <a:p>
            <a:pPr>
              <a:buFont typeface="Wingdings" panose="05000000000000000000" pitchFamily="2" charset="2"/>
              <a:buChar char="§"/>
            </a:pPr>
            <a:r>
              <a:rPr lang="en-US" dirty="0"/>
              <a:t>But should we repeat the same process and copy the exact same code into news.html and other future pages?</a:t>
            </a:r>
          </a:p>
          <a:p>
            <a:pPr>
              <a:buFont typeface="Wingdings" panose="05000000000000000000" pitchFamily="2" charset="2"/>
              <a:buChar char="§"/>
            </a:pPr>
            <a:r>
              <a:rPr lang="en-US" dirty="0"/>
              <a:t>This would duplicate a lot of the same code. Worse, it will be very hard to maintain the code. Suppose we want to add a new link – we would have to add the link on multiple pages! </a:t>
            </a:r>
          </a:p>
          <a:p>
            <a:pPr>
              <a:buFont typeface="Wingdings" panose="05000000000000000000" pitchFamily="2" charset="2"/>
              <a:buChar char="§"/>
            </a:pPr>
            <a:r>
              <a:rPr lang="en-US" dirty="0"/>
              <a:t>To fix this, we will be using base templates, where we can add the navbar to every single page. This allows us to make changes to our navbar in a single place, and it will apply to every page. </a:t>
            </a:r>
          </a:p>
          <a:p>
            <a:pPr>
              <a:buFont typeface="Wingdings" panose="05000000000000000000" pitchFamily="2" charset="2"/>
              <a:buChar char="§"/>
            </a:pPr>
            <a:r>
              <a:rPr lang="en-US" dirty="0"/>
              <a:t>Since this will be a "global" template (which will be used across all pages and apps), we will add it to the main folder (</a:t>
            </a:r>
            <a:r>
              <a:rPr lang="en-US" dirty="0" err="1"/>
              <a:t>moviereviews</a:t>
            </a:r>
            <a:r>
              <a:rPr lang="en-US" dirty="0"/>
              <a:t>). </a:t>
            </a:r>
            <a:r>
              <a:rPr lang="en-US" b="1" dirty="0">
                <a:solidFill>
                  <a:srgbClr val="0000FF"/>
                </a:solidFill>
              </a:rPr>
              <a:t>In the </a:t>
            </a:r>
            <a:r>
              <a:rPr lang="en-US" b="1" dirty="0" err="1">
                <a:solidFill>
                  <a:srgbClr val="0000FF"/>
                </a:solidFill>
              </a:rPr>
              <a:t>moviereviews</a:t>
            </a:r>
            <a:r>
              <a:rPr lang="en-US" b="1" dirty="0">
                <a:solidFill>
                  <a:srgbClr val="0000FF"/>
                </a:solidFill>
              </a:rPr>
              <a:t> folder, create a folder called templates. In that folder, create a file, base.html.</a:t>
            </a:r>
            <a:r>
              <a:rPr lang="en-US" dirty="0"/>
              <a:t> </a:t>
            </a:r>
          </a:p>
          <a:p>
            <a:pPr>
              <a:buFont typeface="Wingdings" panose="05000000000000000000" pitchFamily="2" charset="2"/>
              <a:buChar char="§"/>
            </a:pPr>
            <a:endParaRPr lang="en-US" dirty="0"/>
          </a:p>
          <a:p>
            <a:pPr>
              <a:buFont typeface="Wingdings" panose="05000000000000000000" pitchFamily="2" charset="2"/>
              <a:buChar char="§"/>
            </a:pPr>
            <a:endParaRPr lang="en-US" dirty="0"/>
          </a:p>
        </p:txBody>
      </p:sp>
    </p:spTree>
    <p:extLst>
      <p:ext uri="{BB962C8B-B14F-4D97-AF65-F5344CB8AC3E}">
        <p14:creationId xmlns:p14="http://schemas.microsoft.com/office/powerpoint/2010/main" val="36978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38290-4E93-49E8-A7C1-8EC24CF6C155}"/>
              </a:ext>
            </a:extLst>
          </p:cNvPr>
          <p:cNvSpPr>
            <a:spLocks noGrp="1"/>
          </p:cNvSpPr>
          <p:nvPr>
            <p:ph type="title"/>
          </p:nvPr>
        </p:nvSpPr>
        <p:spPr/>
        <p:txBody>
          <a:bodyPr>
            <a:normAutofit/>
          </a:bodyPr>
          <a:lstStyle/>
          <a:p>
            <a:r>
              <a:rPr lang="en-US" sz="3200" b="1" dirty="0" err="1">
                <a:solidFill>
                  <a:srgbClr val="FF0000"/>
                </a:solidFill>
              </a:rPr>
              <a:t>moviereviews</a:t>
            </a:r>
            <a:r>
              <a:rPr lang="en-US" sz="3200" b="1" dirty="0">
                <a:solidFill>
                  <a:srgbClr val="FF0000"/>
                </a:solidFill>
              </a:rPr>
              <a:t>/templates/base.html</a:t>
            </a:r>
          </a:p>
        </p:txBody>
      </p:sp>
      <p:sp>
        <p:nvSpPr>
          <p:cNvPr id="3" name="Content Placeholder 2">
            <a:extLst>
              <a:ext uri="{FF2B5EF4-FFF2-40B4-BE49-F238E27FC236}">
                <a16:creationId xmlns:a16="http://schemas.microsoft.com/office/drawing/2014/main" id="{BB040C84-BA72-49FF-A236-E7D1E148EE22}"/>
              </a:ext>
            </a:extLst>
          </p:cNvPr>
          <p:cNvSpPr>
            <a:spLocks noGrp="1"/>
          </p:cNvSpPr>
          <p:nvPr>
            <p:ph idx="1"/>
          </p:nvPr>
        </p:nvSpPr>
        <p:spPr>
          <a:xfrm>
            <a:off x="1097279" y="1845733"/>
            <a:ext cx="4112283" cy="4725663"/>
          </a:xfrm>
        </p:spPr>
        <p:txBody>
          <a:bodyPr>
            <a:normAutofit fontScale="70000" lnSpcReduction="20000"/>
          </a:bodyPr>
          <a:lstStyle/>
          <a:p>
            <a:r>
              <a:rPr lang="en-US" dirty="0"/>
              <a:t>&lt;html&gt;</a:t>
            </a:r>
          </a:p>
          <a:p>
            <a:r>
              <a:rPr lang="en-US" dirty="0"/>
              <a:t>  &lt;head&gt;</a:t>
            </a:r>
          </a:p>
          <a:p>
            <a:r>
              <a:rPr lang="en-US" dirty="0"/>
              <a:t>    &lt;title&gt;Movies App&lt;/title&gt;</a:t>
            </a:r>
          </a:p>
          <a:p>
            <a:r>
              <a:rPr lang="en-US" dirty="0"/>
              <a:t>    &lt;link </a:t>
            </a:r>
            <a:r>
              <a:rPr lang="en-US" dirty="0" err="1"/>
              <a:t>href</a:t>
            </a:r>
            <a:r>
              <a:rPr lang="en-US" dirty="0"/>
              <a:t>="https://cdn.jsdelivr.net/</a:t>
            </a:r>
            <a:r>
              <a:rPr lang="en-US" dirty="0" err="1"/>
              <a:t>npm</a:t>
            </a:r>
            <a:r>
              <a:rPr lang="en-US" dirty="0"/>
              <a:t>/</a:t>
            </a:r>
          </a:p>
          <a:p>
            <a:r>
              <a:rPr lang="en-US" dirty="0"/>
              <a:t>      bootstrap@5.1.1/</a:t>
            </a:r>
            <a:r>
              <a:rPr lang="en-US" dirty="0" err="1"/>
              <a:t>dist</a:t>
            </a:r>
            <a:r>
              <a:rPr lang="en-US" dirty="0"/>
              <a:t>/</a:t>
            </a:r>
            <a:r>
              <a:rPr lang="en-US" dirty="0" err="1"/>
              <a:t>css</a:t>
            </a:r>
            <a:r>
              <a:rPr lang="en-US" dirty="0"/>
              <a:t>/bootstrap.min.css"</a:t>
            </a:r>
          </a:p>
          <a:p>
            <a:r>
              <a:rPr lang="en-US" dirty="0"/>
              <a:t>      </a:t>
            </a:r>
            <a:r>
              <a:rPr lang="en-US" dirty="0" err="1"/>
              <a:t>rel</a:t>
            </a:r>
            <a:r>
              <a:rPr lang="en-US" dirty="0"/>
              <a:t>="stylesheet" </a:t>
            </a:r>
            <a:r>
              <a:rPr lang="en-US" dirty="0" err="1"/>
              <a:t>crossorigin</a:t>
            </a:r>
            <a:r>
              <a:rPr lang="en-US" dirty="0"/>
              <a:t>="anonymous" /&gt;</a:t>
            </a:r>
          </a:p>
          <a:p>
            <a:r>
              <a:rPr lang="en-US" dirty="0"/>
              <a:t>    &lt;script </a:t>
            </a:r>
            <a:r>
              <a:rPr lang="en-US" dirty="0" err="1"/>
              <a:t>src</a:t>
            </a:r>
            <a:r>
              <a:rPr lang="en-US" dirty="0"/>
              <a:t>="https://cdn.jsdelivr.net/</a:t>
            </a:r>
            <a:r>
              <a:rPr lang="en-US" dirty="0" err="1"/>
              <a:t>npm</a:t>
            </a:r>
            <a:r>
              <a:rPr lang="en-US" dirty="0"/>
              <a:t>/</a:t>
            </a:r>
          </a:p>
          <a:p>
            <a:r>
              <a:rPr lang="en-US" dirty="0"/>
              <a:t>      bootstrap@5.1.1/</a:t>
            </a:r>
            <a:r>
              <a:rPr lang="en-US" dirty="0" err="1"/>
              <a:t>dist</a:t>
            </a:r>
            <a:r>
              <a:rPr lang="en-US" dirty="0"/>
              <a:t>/</a:t>
            </a:r>
            <a:r>
              <a:rPr lang="en-US" dirty="0" err="1"/>
              <a:t>js</a:t>
            </a:r>
            <a:r>
              <a:rPr lang="en-US" dirty="0"/>
              <a:t>/bootstrap.bundle.min.js"</a:t>
            </a:r>
          </a:p>
          <a:p>
            <a:r>
              <a:rPr lang="en-US" dirty="0"/>
              <a:t>      </a:t>
            </a:r>
            <a:r>
              <a:rPr lang="en-US" dirty="0" err="1"/>
              <a:t>crossorigin</a:t>
            </a:r>
            <a:r>
              <a:rPr lang="en-US" dirty="0"/>
              <a:t>="anonymous"&gt;</a:t>
            </a:r>
          </a:p>
          <a:p>
            <a:r>
              <a:rPr lang="en-US" dirty="0"/>
              <a:t>    &lt;/script&gt;</a:t>
            </a:r>
          </a:p>
          <a:p>
            <a:r>
              <a:rPr lang="en-US" dirty="0"/>
              <a:t>    &lt;meta name="viewport" content="width=device-width,</a:t>
            </a:r>
          </a:p>
          <a:p>
            <a:r>
              <a:rPr lang="en-US" dirty="0"/>
              <a:t>      initial-scale=1" /&gt; </a:t>
            </a:r>
          </a:p>
          <a:p>
            <a:r>
              <a:rPr lang="en-US" dirty="0"/>
              <a:t>  &lt;/head&gt;</a:t>
            </a:r>
          </a:p>
        </p:txBody>
      </p:sp>
      <p:sp>
        <p:nvSpPr>
          <p:cNvPr id="4" name="TextBox 3">
            <a:extLst>
              <a:ext uri="{FF2B5EF4-FFF2-40B4-BE49-F238E27FC236}">
                <a16:creationId xmlns:a16="http://schemas.microsoft.com/office/drawing/2014/main" id="{0FF49D70-DBBC-4A96-96D4-794BADA42D00}"/>
              </a:ext>
            </a:extLst>
          </p:cNvPr>
          <p:cNvSpPr txBox="1"/>
          <p:nvPr/>
        </p:nvSpPr>
        <p:spPr>
          <a:xfrm>
            <a:off x="5847127" y="1737360"/>
            <a:ext cx="4971617" cy="4524315"/>
          </a:xfrm>
          <a:prstGeom prst="rect">
            <a:avLst/>
          </a:prstGeom>
          <a:noFill/>
        </p:spPr>
        <p:txBody>
          <a:bodyPr wrap="none" rtlCol="0">
            <a:spAutoFit/>
          </a:bodyPr>
          <a:lstStyle/>
          <a:p>
            <a:r>
              <a:rPr lang="en-US" dirty="0"/>
              <a:t>&lt;body&gt;</a:t>
            </a:r>
          </a:p>
          <a:p>
            <a:r>
              <a:rPr lang="en-US" dirty="0"/>
              <a:t>    &lt;nav class="navbar navbar-expand-lg</a:t>
            </a:r>
          </a:p>
          <a:p>
            <a:r>
              <a:rPr lang="en-US" dirty="0"/>
              <a:t>      navbar-light </a:t>
            </a:r>
            <a:r>
              <a:rPr lang="en-US" dirty="0" err="1"/>
              <a:t>bg</a:t>
            </a:r>
            <a:r>
              <a:rPr lang="en-US" dirty="0"/>
              <a:t>-light mb-3"&gt;</a:t>
            </a:r>
          </a:p>
          <a:p>
            <a:r>
              <a:rPr lang="en-US" dirty="0"/>
              <a:t>      &lt;div class="container"&gt;</a:t>
            </a:r>
          </a:p>
          <a:p>
            <a:r>
              <a:rPr lang="en-US" dirty="0"/>
              <a:t>        &lt;a class="navbar-brand" </a:t>
            </a:r>
            <a:r>
              <a:rPr lang="en-US" dirty="0" err="1"/>
              <a:t>href</a:t>
            </a:r>
            <a:r>
              <a:rPr lang="en-US" dirty="0"/>
              <a:t>="#"&gt;Movies&lt;/a&gt;</a:t>
            </a:r>
          </a:p>
          <a:p>
            <a:r>
              <a:rPr lang="en-US" dirty="0"/>
              <a:t>        &lt;button class="navbar-toggler" type="button"</a:t>
            </a:r>
          </a:p>
          <a:p>
            <a:r>
              <a:rPr lang="en-US" dirty="0"/>
              <a:t>          data-bs-toggle="collapse"</a:t>
            </a:r>
          </a:p>
          <a:p>
            <a:r>
              <a:rPr lang="en-US" dirty="0"/>
              <a:t>          data-bs-target="#</a:t>
            </a:r>
            <a:r>
              <a:rPr lang="en-US" dirty="0" err="1"/>
              <a:t>navbarNavAltMarkup</a:t>
            </a:r>
            <a:r>
              <a:rPr lang="en-US" dirty="0"/>
              <a:t>"</a:t>
            </a:r>
          </a:p>
          <a:p>
            <a:r>
              <a:rPr lang="en-US" dirty="0"/>
              <a:t>          aria-controls="</a:t>
            </a:r>
            <a:r>
              <a:rPr lang="en-US" dirty="0" err="1"/>
              <a:t>navbarNavAltMarkup</a:t>
            </a:r>
            <a:r>
              <a:rPr lang="en-US" dirty="0"/>
              <a:t>"</a:t>
            </a:r>
          </a:p>
          <a:p>
            <a:r>
              <a:rPr lang="en-US" dirty="0"/>
              <a:t>          aria-expanded="false"</a:t>
            </a:r>
          </a:p>
          <a:p>
            <a:r>
              <a:rPr lang="en-US" dirty="0"/>
              <a:t>          aria-label="Toggle navigation"&gt;</a:t>
            </a:r>
          </a:p>
          <a:p>
            <a:r>
              <a:rPr lang="en-US" dirty="0"/>
              <a:t>          &lt;span class="navbar-toggler-icon"&gt;&lt;/span&gt;</a:t>
            </a:r>
          </a:p>
          <a:p>
            <a:r>
              <a:rPr lang="en-US" dirty="0"/>
              <a:t>        &lt;/button&gt;</a:t>
            </a:r>
          </a:p>
          <a:p>
            <a:r>
              <a:rPr lang="en-US" dirty="0"/>
              <a:t>        &lt;div class="collapse navbar-collapse"</a:t>
            </a:r>
          </a:p>
          <a:p>
            <a:r>
              <a:rPr lang="en-US" dirty="0"/>
              <a:t>          id="</a:t>
            </a:r>
            <a:r>
              <a:rPr lang="en-US" dirty="0" err="1"/>
              <a:t>navbarNavAltMarkup</a:t>
            </a:r>
            <a:r>
              <a:rPr lang="en-US" dirty="0"/>
              <a:t>"&gt;</a:t>
            </a:r>
          </a:p>
          <a:p>
            <a:r>
              <a:rPr lang="en-US" dirty="0"/>
              <a:t>          &lt;div class="navbar-nav </a:t>
            </a:r>
            <a:r>
              <a:rPr lang="en-US" dirty="0" err="1"/>
              <a:t>ms</a:t>
            </a:r>
            <a:r>
              <a:rPr lang="en-US" dirty="0"/>
              <a:t>-auto"&gt;</a:t>
            </a:r>
          </a:p>
        </p:txBody>
      </p:sp>
    </p:spTree>
    <p:extLst>
      <p:ext uri="{BB962C8B-B14F-4D97-AF65-F5344CB8AC3E}">
        <p14:creationId xmlns:p14="http://schemas.microsoft.com/office/powerpoint/2010/main" val="3297326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0F01F-02BB-44D7-88BE-F4DA8212C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3E3E67-7279-454A-9996-9E4B6A3B1280}"/>
              </a:ext>
            </a:extLst>
          </p:cNvPr>
          <p:cNvSpPr>
            <a:spLocks noGrp="1"/>
          </p:cNvSpPr>
          <p:nvPr>
            <p:ph idx="1"/>
          </p:nvPr>
        </p:nvSpPr>
        <p:spPr>
          <a:xfrm>
            <a:off x="1097280" y="1845734"/>
            <a:ext cx="3919337" cy="4823514"/>
          </a:xfrm>
        </p:spPr>
        <p:txBody>
          <a:bodyPr>
            <a:normAutofit fontScale="77500" lnSpcReduction="20000"/>
          </a:bodyPr>
          <a:lstStyle/>
          <a:p>
            <a:r>
              <a:rPr lang="en-US" dirty="0"/>
              <a:t> &lt;a class="nav-link" </a:t>
            </a:r>
            <a:r>
              <a:rPr lang="en-US" dirty="0" err="1"/>
              <a:t>href</a:t>
            </a:r>
            <a:r>
              <a:rPr lang="en-US" dirty="0"/>
              <a:t>="#"&gt;News&lt;/a&gt;</a:t>
            </a:r>
          </a:p>
          <a:p>
            <a:r>
              <a:rPr lang="en-US" dirty="0"/>
              <a:t>            &lt;a class="nav-link" </a:t>
            </a:r>
            <a:r>
              <a:rPr lang="en-US" dirty="0" err="1"/>
              <a:t>href</a:t>
            </a:r>
            <a:r>
              <a:rPr lang="en-US" dirty="0"/>
              <a:t>="#"&gt;Login&lt;/a&gt;</a:t>
            </a:r>
          </a:p>
          <a:p>
            <a:r>
              <a:rPr lang="en-US" dirty="0"/>
              <a:t>            &lt;a class="nav-link" </a:t>
            </a:r>
            <a:r>
              <a:rPr lang="en-US" dirty="0" err="1"/>
              <a:t>href</a:t>
            </a:r>
            <a:r>
              <a:rPr lang="en-US" dirty="0"/>
              <a:t>="#"&gt;Sign Up&lt;/a&gt;</a:t>
            </a:r>
          </a:p>
          <a:p>
            <a:r>
              <a:rPr lang="en-US" dirty="0"/>
              <a:t>          &lt;/div&gt;</a:t>
            </a:r>
          </a:p>
          <a:p>
            <a:r>
              <a:rPr lang="en-US" dirty="0"/>
              <a:t>        &lt;/div&gt;</a:t>
            </a:r>
          </a:p>
          <a:p>
            <a:r>
              <a:rPr lang="en-US" dirty="0"/>
              <a:t>      &lt;/div&gt;</a:t>
            </a:r>
          </a:p>
          <a:p>
            <a:r>
              <a:rPr lang="en-US" dirty="0"/>
              <a:t>    &lt;/nav&gt;   </a:t>
            </a:r>
          </a:p>
          <a:p>
            <a:r>
              <a:rPr lang="en-US" dirty="0"/>
              <a:t>    </a:t>
            </a:r>
            <a:r>
              <a:rPr lang="en-US" dirty="0">
                <a:solidFill>
                  <a:srgbClr val="0000FF"/>
                </a:solidFill>
              </a:rPr>
              <a:t>&lt;div class="container"&gt;</a:t>
            </a:r>
          </a:p>
          <a:p>
            <a:r>
              <a:rPr lang="en-US" dirty="0">
                <a:solidFill>
                  <a:srgbClr val="0000FF"/>
                </a:solidFill>
              </a:rPr>
              <a:t>      </a:t>
            </a:r>
            <a:r>
              <a:rPr lang="en-US" b="1" dirty="0">
                <a:solidFill>
                  <a:srgbClr val="0000FF"/>
                </a:solidFill>
              </a:rPr>
              <a:t>{% block content %}</a:t>
            </a:r>
          </a:p>
          <a:p>
            <a:r>
              <a:rPr lang="en-US" b="1" dirty="0">
                <a:solidFill>
                  <a:srgbClr val="0000FF"/>
                </a:solidFill>
              </a:rPr>
              <a:t>      {% </a:t>
            </a:r>
            <a:r>
              <a:rPr lang="en-US" b="1" dirty="0" err="1">
                <a:solidFill>
                  <a:srgbClr val="0000FF"/>
                </a:solidFill>
              </a:rPr>
              <a:t>endblock</a:t>
            </a:r>
            <a:r>
              <a:rPr lang="en-US" b="1" dirty="0">
                <a:solidFill>
                  <a:srgbClr val="0000FF"/>
                </a:solidFill>
              </a:rPr>
              <a:t> content %}</a:t>
            </a:r>
          </a:p>
          <a:p>
            <a:r>
              <a:rPr lang="en-US" dirty="0">
                <a:solidFill>
                  <a:srgbClr val="0000FF"/>
                </a:solidFill>
              </a:rPr>
              <a:t>    &lt;/div&gt;</a:t>
            </a:r>
          </a:p>
          <a:p>
            <a:r>
              <a:rPr lang="en-US" dirty="0"/>
              <a:t>  &lt;/body&gt;</a:t>
            </a:r>
          </a:p>
          <a:p>
            <a:r>
              <a:rPr lang="en-US" dirty="0"/>
              <a:t>&lt;/html&gt;</a:t>
            </a:r>
          </a:p>
        </p:txBody>
      </p:sp>
    </p:spTree>
    <p:extLst>
      <p:ext uri="{BB962C8B-B14F-4D97-AF65-F5344CB8AC3E}">
        <p14:creationId xmlns:p14="http://schemas.microsoft.com/office/powerpoint/2010/main" val="326874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6E4E-7382-47DA-A56A-F1D5556C1A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FA1D8E-7DC9-41C8-9CA6-70E0F24CBC44}"/>
              </a:ext>
            </a:extLst>
          </p:cNvPr>
          <p:cNvSpPr>
            <a:spLocks noGrp="1"/>
          </p:cNvSpPr>
          <p:nvPr>
            <p:ph idx="1"/>
          </p:nvPr>
        </p:nvSpPr>
        <p:spPr/>
        <p:txBody>
          <a:bodyPr/>
          <a:lstStyle/>
          <a:p>
            <a:pPr>
              <a:buFont typeface="Wingdings" panose="05000000000000000000" pitchFamily="2" charset="2"/>
              <a:buChar char="§"/>
            </a:pPr>
            <a:r>
              <a:rPr lang="en-US" dirty="0"/>
              <a:t> base.html, as its name suggests, serves as the base for all pages. Thus, we include</a:t>
            </a:r>
          </a:p>
          <a:p>
            <a:r>
              <a:rPr lang="en-US" dirty="0"/>
              <a:t>the header navbar in it. We will later include a footer section.</a:t>
            </a:r>
          </a:p>
          <a:p>
            <a:pPr>
              <a:buFont typeface="Wingdings" panose="05000000000000000000" pitchFamily="2" charset="2"/>
              <a:buChar char="§"/>
            </a:pPr>
            <a:r>
              <a:rPr lang="en-US" dirty="0"/>
              <a:t> We then allocate a block where content can be slotted in from other child pages –</a:t>
            </a:r>
          </a:p>
          <a:p>
            <a:r>
              <a:rPr lang="en-US" dirty="0"/>
              <a:t>for example, home.html and news.html:</a:t>
            </a:r>
          </a:p>
          <a:p>
            <a:r>
              <a:rPr lang="en-US" dirty="0"/>
              <a:t>      {% block content %}</a:t>
            </a:r>
          </a:p>
          <a:p>
            <a:r>
              <a:rPr lang="en-US" dirty="0"/>
              <a:t>      {% </a:t>
            </a:r>
            <a:r>
              <a:rPr lang="en-US" dirty="0" err="1"/>
              <a:t>endblock</a:t>
            </a:r>
            <a:r>
              <a:rPr lang="en-US" dirty="0"/>
              <a:t> content %}</a:t>
            </a:r>
          </a:p>
        </p:txBody>
      </p:sp>
    </p:spTree>
    <p:extLst>
      <p:ext uri="{BB962C8B-B14F-4D97-AF65-F5344CB8AC3E}">
        <p14:creationId xmlns:p14="http://schemas.microsoft.com/office/powerpoint/2010/main" val="2294913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2044B-BE85-4940-9505-A360AADDE6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FD0453-7E9C-46C2-ADA3-F3A1E4829C80}"/>
              </a:ext>
            </a:extLst>
          </p:cNvPr>
          <p:cNvSpPr>
            <a:spLocks noGrp="1"/>
          </p:cNvSpPr>
          <p:nvPr>
            <p:ph idx="1"/>
          </p:nvPr>
        </p:nvSpPr>
        <p:spPr/>
        <p:txBody>
          <a:bodyPr/>
          <a:lstStyle/>
          <a:p>
            <a:r>
              <a:rPr lang="en-US" dirty="0"/>
              <a:t>register the </a:t>
            </a:r>
            <a:r>
              <a:rPr lang="en-US" dirty="0" err="1"/>
              <a:t>moviereviews</a:t>
            </a:r>
            <a:r>
              <a:rPr lang="en-US" dirty="0"/>
              <a:t>/templates folder in our application settings. Make sure to add it to TEMPLATES DIRS in /</a:t>
            </a:r>
            <a:r>
              <a:rPr lang="en-US" b="1" dirty="0" err="1">
                <a:solidFill>
                  <a:srgbClr val="FF0000"/>
                </a:solidFill>
              </a:rPr>
              <a:t>moviereviews</a:t>
            </a:r>
            <a:r>
              <a:rPr lang="en-US" b="1" dirty="0">
                <a:solidFill>
                  <a:srgbClr val="FF0000"/>
                </a:solidFill>
              </a:rPr>
              <a:t>/settings.py</a:t>
            </a:r>
            <a:r>
              <a:rPr lang="en-US" dirty="0"/>
              <a:t>:</a:t>
            </a:r>
          </a:p>
        </p:txBody>
      </p:sp>
      <p:pic>
        <p:nvPicPr>
          <p:cNvPr id="4" name="Picture 3">
            <a:extLst>
              <a:ext uri="{FF2B5EF4-FFF2-40B4-BE49-F238E27FC236}">
                <a16:creationId xmlns:a16="http://schemas.microsoft.com/office/drawing/2014/main" id="{1ED14A62-A70D-4F72-A6F8-F9DE52AF0C66}"/>
              </a:ext>
            </a:extLst>
          </p:cNvPr>
          <p:cNvPicPr>
            <a:picLocks noChangeAspect="1"/>
          </p:cNvPicPr>
          <p:nvPr/>
        </p:nvPicPr>
        <p:blipFill>
          <a:blip r:embed="rId2"/>
          <a:stretch>
            <a:fillRect/>
          </a:stretch>
        </p:blipFill>
        <p:spPr>
          <a:xfrm>
            <a:off x="2097554" y="2726160"/>
            <a:ext cx="7359597" cy="2877685"/>
          </a:xfrm>
          <a:prstGeom prst="rect">
            <a:avLst/>
          </a:prstGeom>
        </p:spPr>
      </p:pic>
    </p:spTree>
    <p:extLst>
      <p:ext uri="{BB962C8B-B14F-4D97-AF65-F5344CB8AC3E}">
        <p14:creationId xmlns:p14="http://schemas.microsoft.com/office/powerpoint/2010/main" val="1067460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E8FD4-C6C8-4A15-A70E-ED1AE6373E27}"/>
              </a:ext>
            </a:extLst>
          </p:cNvPr>
          <p:cNvSpPr>
            <a:spLocks noGrp="1"/>
          </p:cNvSpPr>
          <p:nvPr>
            <p:ph type="title"/>
          </p:nvPr>
        </p:nvSpPr>
        <p:spPr/>
        <p:txBody>
          <a:bodyPr>
            <a:noAutofit/>
          </a:bodyPr>
          <a:lstStyle/>
          <a:p>
            <a:r>
              <a:rPr lang="en-US" sz="2000" dirty="0"/>
              <a:t>In movie/templates/home.html, we shouldn't have the header and navbar anymore. To simplify things, let's remove the sign-up mailing list form. Also, remove the &lt;div class="container"&gt; tag, since it is loaded in the base.html template. The entire </a:t>
            </a:r>
            <a:r>
              <a:rPr lang="en-US" sz="2000" dirty="0">
                <a:solidFill>
                  <a:srgbClr val="FF0000"/>
                </a:solidFill>
              </a:rPr>
              <a:t>movie/templates/home.html </a:t>
            </a:r>
            <a:r>
              <a:rPr lang="en-US" sz="2000" dirty="0"/>
              <a:t>will look something like this:</a:t>
            </a:r>
          </a:p>
        </p:txBody>
      </p:sp>
      <p:pic>
        <p:nvPicPr>
          <p:cNvPr id="4" name="Content Placeholder 3">
            <a:extLst>
              <a:ext uri="{FF2B5EF4-FFF2-40B4-BE49-F238E27FC236}">
                <a16:creationId xmlns:a16="http://schemas.microsoft.com/office/drawing/2014/main" id="{63B9B864-3373-4AC0-A5B5-29EB003FF13A}"/>
              </a:ext>
            </a:extLst>
          </p:cNvPr>
          <p:cNvPicPr>
            <a:picLocks noGrp="1" noChangeAspect="1"/>
          </p:cNvPicPr>
          <p:nvPr>
            <p:ph idx="1"/>
          </p:nvPr>
        </p:nvPicPr>
        <p:blipFill>
          <a:blip r:embed="rId2"/>
          <a:stretch>
            <a:fillRect/>
          </a:stretch>
        </p:blipFill>
        <p:spPr>
          <a:xfrm>
            <a:off x="1373764" y="2159865"/>
            <a:ext cx="5433435" cy="1507843"/>
          </a:xfrm>
          <a:prstGeom prst="rect">
            <a:avLst/>
          </a:prstGeom>
        </p:spPr>
      </p:pic>
      <p:pic>
        <p:nvPicPr>
          <p:cNvPr id="5" name="Picture 4">
            <a:extLst>
              <a:ext uri="{FF2B5EF4-FFF2-40B4-BE49-F238E27FC236}">
                <a16:creationId xmlns:a16="http://schemas.microsoft.com/office/drawing/2014/main" id="{7E0E9319-A083-4FCF-B5F7-4532C637F9FE}"/>
              </a:ext>
            </a:extLst>
          </p:cNvPr>
          <p:cNvPicPr>
            <a:picLocks noChangeAspect="1"/>
          </p:cNvPicPr>
          <p:nvPr/>
        </p:nvPicPr>
        <p:blipFill>
          <a:blip r:embed="rId3"/>
          <a:stretch>
            <a:fillRect/>
          </a:stretch>
        </p:blipFill>
        <p:spPr>
          <a:xfrm>
            <a:off x="1373764" y="4090213"/>
            <a:ext cx="5367924" cy="1774878"/>
          </a:xfrm>
          <a:prstGeom prst="rect">
            <a:avLst/>
          </a:prstGeom>
        </p:spPr>
      </p:pic>
    </p:spTree>
    <p:extLst>
      <p:ext uri="{BB962C8B-B14F-4D97-AF65-F5344CB8AC3E}">
        <p14:creationId xmlns:p14="http://schemas.microsoft.com/office/powerpoint/2010/main" val="150907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3CC1E-BD72-4D6E-9452-FBE592947B6F}"/>
              </a:ext>
            </a:extLst>
          </p:cNvPr>
          <p:cNvSpPr>
            <a:spLocks noGrp="1"/>
          </p:cNvSpPr>
          <p:nvPr>
            <p:ph type="title"/>
          </p:nvPr>
        </p:nvSpPr>
        <p:spPr/>
        <p:txBody>
          <a:bodyPr>
            <a:noAutofit/>
          </a:bodyPr>
          <a:lstStyle/>
          <a:p>
            <a:r>
              <a:rPr lang="en-US" sz="2400" dirty="0"/>
              <a:t>apply the preceding to news.html as well. Replace all existing content of </a:t>
            </a:r>
            <a:br>
              <a:rPr lang="en-US" sz="2400" dirty="0"/>
            </a:br>
            <a:r>
              <a:rPr lang="en-US" sz="2400" b="1" dirty="0">
                <a:solidFill>
                  <a:srgbClr val="FF0000"/>
                </a:solidFill>
              </a:rPr>
              <a:t>/news/template/news.html</a:t>
            </a:r>
          </a:p>
        </p:txBody>
      </p:sp>
      <p:pic>
        <p:nvPicPr>
          <p:cNvPr id="4" name="Content Placeholder 3">
            <a:extLst>
              <a:ext uri="{FF2B5EF4-FFF2-40B4-BE49-F238E27FC236}">
                <a16:creationId xmlns:a16="http://schemas.microsoft.com/office/drawing/2014/main" id="{559061F6-22DB-42CF-B7EC-D4AB88386473}"/>
              </a:ext>
            </a:extLst>
          </p:cNvPr>
          <p:cNvPicPr>
            <a:picLocks noGrp="1" noChangeAspect="1"/>
          </p:cNvPicPr>
          <p:nvPr>
            <p:ph idx="1"/>
          </p:nvPr>
        </p:nvPicPr>
        <p:blipFill>
          <a:blip r:embed="rId2"/>
          <a:stretch>
            <a:fillRect/>
          </a:stretch>
        </p:blipFill>
        <p:spPr>
          <a:xfrm>
            <a:off x="963057" y="1855838"/>
            <a:ext cx="6002537" cy="4620463"/>
          </a:xfrm>
          <a:prstGeom prst="rect">
            <a:avLst/>
          </a:prstGeom>
        </p:spPr>
      </p:pic>
      <p:pic>
        <p:nvPicPr>
          <p:cNvPr id="5" name="Picture 4">
            <a:extLst>
              <a:ext uri="{FF2B5EF4-FFF2-40B4-BE49-F238E27FC236}">
                <a16:creationId xmlns:a16="http://schemas.microsoft.com/office/drawing/2014/main" id="{22EDD0EC-8A58-467E-8E9C-13088FAA70EC}"/>
              </a:ext>
            </a:extLst>
          </p:cNvPr>
          <p:cNvPicPr>
            <a:picLocks noChangeAspect="1"/>
          </p:cNvPicPr>
          <p:nvPr/>
        </p:nvPicPr>
        <p:blipFill>
          <a:blip r:embed="rId3"/>
          <a:stretch>
            <a:fillRect/>
          </a:stretch>
        </p:blipFill>
        <p:spPr>
          <a:xfrm>
            <a:off x="7254686" y="1855838"/>
            <a:ext cx="4248529" cy="988030"/>
          </a:xfrm>
          <a:prstGeom prst="rect">
            <a:avLst/>
          </a:prstGeom>
        </p:spPr>
      </p:pic>
    </p:spTree>
    <p:extLst>
      <p:ext uri="{BB962C8B-B14F-4D97-AF65-F5344CB8AC3E}">
        <p14:creationId xmlns:p14="http://schemas.microsoft.com/office/powerpoint/2010/main" val="2087799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40F5D-8A68-462B-9AD3-ED40D7D5D02E}"/>
              </a:ext>
            </a:extLst>
          </p:cNvPr>
          <p:cNvSpPr>
            <a:spLocks noGrp="1"/>
          </p:cNvSpPr>
          <p:nvPr>
            <p:ph type="title"/>
          </p:nvPr>
        </p:nvSpPr>
        <p:spPr/>
        <p:txBody>
          <a:bodyPr>
            <a:normAutofit/>
          </a:bodyPr>
          <a:lstStyle/>
          <a:p>
            <a:r>
              <a:rPr lang="en-US" sz="2400" dirty="0">
                <a:solidFill>
                  <a:srgbClr val="FF0000"/>
                </a:solidFill>
              </a:rPr>
              <a:t>http://localhost:8000/news/</a:t>
            </a:r>
            <a:endParaRPr lang="en-US" sz="2400" dirty="0"/>
          </a:p>
        </p:txBody>
      </p:sp>
      <p:pic>
        <p:nvPicPr>
          <p:cNvPr id="4" name="Content Placeholder 3">
            <a:extLst>
              <a:ext uri="{FF2B5EF4-FFF2-40B4-BE49-F238E27FC236}">
                <a16:creationId xmlns:a16="http://schemas.microsoft.com/office/drawing/2014/main" id="{351DE873-84DC-4DB5-9BD5-9F6522BDE1C3}"/>
              </a:ext>
            </a:extLst>
          </p:cNvPr>
          <p:cNvPicPr>
            <a:picLocks noGrp="1" noChangeAspect="1"/>
          </p:cNvPicPr>
          <p:nvPr>
            <p:ph idx="1"/>
          </p:nvPr>
        </p:nvPicPr>
        <p:blipFill>
          <a:blip r:embed="rId2"/>
          <a:stretch>
            <a:fillRect/>
          </a:stretch>
        </p:blipFill>
        <p:spPr>
          <a:xfrm>
            <a:off x="1066800" y="2064119"/>
            <a:ext cx="10058400" cy="969648"/>
          </a:xfrm>
          <a:prstGeom prst="rect">
            <a:avLst/>
          </a:prstGeom>
        </p:spPr>
      </p:pic>
      <p:sp>
        <p:nvSpPr>
          <p:cNvPr id="5" name="TextBox 4">
            <a:extLst>
              <a:ext uri="{FF2B5EF4-FFF2-40B4-BE49-F238E27FC236}">
                <a16:creationId xmlns:a16="http://schemas.microsoft.com/office/drawing/2014/main" id="{00B735D4-3BC4-4874-B52B-84F5668CE409}"/>
              </a:ext>
            </a:extLst>
          </p:cNvPr>
          <p:cNvSpPr txBox="1"/>
          <p:nvPr/>
        </p:nvSpPr>
        <p:spPr>
          <a:xfrm>
            <a:off x="1300294" y="3429000"/>
            <a:ext cx="9824906" cy="1200329"/>
          </a:xfrm>
          <a:prstGeom prst="rect">
            <a:avLst/>
          </a:prstGeom>
          <a:noFill/>
        </p:spPr>
        <p:txBody>
          <a:bodyPr wrap="square" rtlCol="0">
            <a:spAutoFit/>
          </a:bodyPr>
          <a:lstStyle/>
          <a:p>
            <a:r>
              <a:rPr lang="en-US" dirty="0"/>
              <a:t>News page extending the base.html template</a:t>
            </a:r>
          </a:p>
          <a:p>
            <a:r>
              <a:rPr lang="en-US" dirty="0"/>
              <a:t>Now, whenever you want to make a change to the navbar, you just have to do it once in base.html, and it will apply to all the pages!</a:t>
            </a:r>
          </a:p>
          <a:p>
            <a:endParaRPr lang="en-US" dirty="0"/>
          </a:p>
        </p:txBody>
      </p:sp>
    </p:spTree>
    <p:extLst>
      <p:ext uri="{BB962C8B-B14F-4D97-AF65-F5344CB8AC3E}">
        <p14:creationId xmlns:p14="http://schemas.microsoft.com/office/powerpoint/2010/main" val="3424573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2248-7F4B-4890-8BC4-F47D449E9BBA}"/>
              </a:ext>
            </a:extLst>
          </p:cNvPr>
          <p:cNvSpPr>
            <a:spLocks noGrp="1"/>
          </p:cNvSpPr>
          <p:nvPr>
            <p:ph type="title"/>
          </p:nvPr>
        </p:nvSpPr>
        <p:spPr/>
        <p:txBody>
          <a:bodyPr/>
          <a:lstStyle/>
          <a:p>
            <a:r>
              <a:rPr lang="en-US" b="1" dirty="0"/>
              <a:t>Making the links work</a:t>
            </a:r>
            <a:endParaRPr lang="en-US" dirty="0"/>
          </a:p>
        </p:txBody>
      </p:sp>
      <p:sp>
        <p:nvSpPr>
          <p:cNvPr id="3" name="Content Placeholder 2">
            <a:extLst>
              <a:ext uri="{FF2B5EF4-FFF2-40B4-BE49-F238E27FC236}">
                <a16:creationId xmlns:a16="http://schemas.microsoft.com/office/drawing/2014/main" id="{7144A867-CF04-41AC-B83A-3B1667C17B22}"/>
              </a:ext>
            </a:extLst>
          </p:cNvPr>
          <p:cNvSpPr>
            <a:spLocks noGrp="1"/>
          </p:cNvSpPr>
          <p:nvPr>
            <p:ph idx="1"/>
          </p:nvPr>
        </p:nvSpPr>
        <p:spPr/>
        <p:txBody>
          <a:bodyPr/>
          <a:lstStyle/>
          <a:p>
            <a:r>
              <a:rPr lang="en-US" dirty="0"/>
              <a:t>The links in the navbar don't currently work. To enable them, in </a:t>
            </a:r>
            <a:r>
              <a:rPr lang="en-US" b="1" dirty="0" err="1">
                <a:solidFill>
                  <a:srgbClr val="FF0000"/>
                </a:solidFill>
              </a:rPr>
              <a:t>moviereviews</a:t>
            </a:r>
            <a:r>
              <a:rPr lang="en-US" b="1" dirty="0">
                <a:solidFill>
                  <a:srgbClr val="FF0000"/>
                </a:solidFill>
              </a:rPr>
              <a:t>/templates/base.html</a:t>
            </a:r>
            <a:r>
              <a:rPr lang="en-US" dirty="0"/>
              <a:t>, add the following code in bold:</a:t>
            </a:r>
          </a:p>
          <a:p>
            <a:endParaRPr lang="en-US" dirty="0"/>
          </a:p>
        </p:txBody>
      </p:sp>
      <p:pic>
        <p:nvPicPr>
          <p:cNvPr id="4" name="Picture 3">
            <a:extLst>
              <a:ext uri="{FF2B5EF4-FFF2-40B4-BE49-F238E27FC236}">
                <a16:creationId xmlns:a16="http://schemas.microsoft.com/office/drawing/2014/main" id="{DCA2DF93-66D8-4E49-8273-BE7C37F18154}"/>
              </a:ext>
            </a:extLst>
          </p:cNvPr>
          <p:cNvPicPr>
            <a:picLocks noChangeAspect="1"/>
          </p:cNvPicPr>
          <p:nvPr/>
        </p:nvPicPr>
        <p:blipFill>
          <a:blip r:embed="rId2"/>
          <a:stretch>
            <a:fillRect/>
          </a:stretch>
        </p:blipFill>
        <p:spPr>
          <a:xfrm>
            <a:off x="1189445" y="2527009"/>
            <a:ext cx="6606572" cy="3269784"/>
          </a:xfrm>
          <a:prstGeom prst="rect">
            <a:avLst/>
          </a:prstGeom>
        </p:spPr>
      </p:pic>
    </p:spTree>
    <p:extLst>
      <p:ext uri="{BB962C8B-B14F-4D97-AF65-F5344CB8AC3E}">
        <p14:creationId xmlns:p14="http://schemas.microsoft.com/office/powerpoint/2010/main" val="1621812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916C-AAB3-4FCE-BF57-CC8B5D94420B}"/>
              </a:ext>
            </a:extLst>
          </p:cNvPr>
          <p:cNvSpPr>
            <a:spLocks noGrp="1"/>
          </p:cNvSpPr>
          <p:nvPr>
            <p:ph type="title"/>
          </p:nvPr>
        </p:nvSpPr>
        <p:spPr/>
        <p:txBody>
          <a:bodyPr>
            <a:normAutofit/>
          </a:bodyPr>
          <a:lstStyle/>
          <a:p>
            <a:r>
              <a:rPr lang="en-US" sz="2400" b="1" dirty="0" err="1">
                <a:solidFill>
                  <a:srgbClr val="FF0000"/>
                </a:solidFill>
              </a:rPr>
              <a:t>moviereviews</a:t>
            </a:r>
            <a:r>
              <a:rPr lang="en-US" sz="2400" b="1" dirty="0">
                <a:solidFill>
                  <a:srgbClr val="FF0000"/>
                </a:solidFill>
              </a:rPr>
              <a:t>/templates/base.html</a:t>
            </a:r>
            <a:r>
              <a:rPr lang="en-US" sz="2400" dirty="0"/>
              <a:t>, add the following code in bold:</a:t>
            </a:r>
            <a:endParaRPr lang="en-US" dirty="0"/>
          </a:p>
        </p:txBody>
      </p:sp>
      <p:pic>
        <p:nvPicPr>
          <p:cNvPr id="4" name="Content Placeholder 3">
            <a:extLst>
              <a:ext uri="{FF2B5EF4-FFF2-40B4-BE49-F238E27FC236}">
                <a16:creationId xmlns:a16="http://schemas.microsoft.com/office/drawing/2014/main" id="{298D1851-E71D-4607-959B-34FFD1F44F11}"/>
              </a:ext>
            </a:extLst>
          </p:cNvPr>
          <p:cNvPicPr>
            <a:picLocks noGrp="1" noChangeAspect="1"/>
          </p:cNvPicPr>
          <p:nvPr>
            <p:ph idx="1"/>
          </p:nvPr>
        </p:nvPicPr>
        <p:blipFill>
          <a:blip r:embed="rId2"/>
          <a:stretch>
            <a:fillRect/>
          </a:stretch>
        </p:blipFill>
        <p:spPr>
          <a:xfrm>
            <a:off x="1097279" y="1925535"/>
            <a:ext cx="6825229" cy="4030647"/>
          </a:xfrm>
          <a:prstGeom prst="rect">
            <a:avLst/>
          </a:prstGeom>
        </p:spPr>
      </p:pic>
    </p:spTree>
    <p:extLst>
      <p:ext uri="{BB962C8B-B14F-4D97-AF65-F5344CB8AC3E}">
        <p14:creationId xmlns:p14="http://schemas.microsoft.com/office/powerpoint/2010/main" val="3736435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FBD01-A3B6-40B1-A50D-C0B587592E2C}"/>
              </a:ext>
            </a:extLst>
          </p:cNvPr>
          <p:cNvSpPr>
            <a:spLocks noGrp="1"/>
          </p:cNvSpPr>
          <p:nvPr>
            <p:ph type="title"/>
          </p:nvPr>
        </p:nvSpPr>
        <p:spPr/>
        <p:txBody>
          <a:bodyPr>
            <a:normAutofit/>
          </a:bodyPr>
          <a:lstStyle/>
          <a:p>
            <a:r>
              <a:rPr lang="en-US" sz="2800" b="1" dirty="0">
                <a:solidFill>
                  <a:srgbClr val="FF0000"/>
                </a:solidFill>
              </a:rPr>
              <a:t>Adding a footer section</a:t>
            </a:r>
          </a:p>
        </p:txBody>
      </p:sp>
      <p:sp>
        <p:nvSpPr>
          <p:cNvPr id="3" name="Content Placeholder 2">
            <a:extLst>
              <a:ext uri="{FF2B5EF4-FFF2-40B4-BE49-F238E27FC236}">
                <a16:creationId xmlns:a16="http://schemas.microsoft.com/office/drawing/2014/main" id="{82B50C87-4768-40B8-8629-2CBCAABFBF68}"/>
              </a:ext>
            </a:extLst>
          </p:cNvPr>
          <p:cNvSpPr>
            <a:spLocks noGrp="1"/>
          </p:cNvSpPr>
          <p:nvPr>
            <p:ph idx="1"/>
          </p:nvPr>
        </p:nvSpPr>
        <p:spPr>
          <a:xfrm>
            <a:off x="1097280" y="1845734"/>
            <a:ext cx="2828768" cy="4023360"/>
          </a:xfrm>
        </p:spPr>
        <p:txBody>
          <a:bodyPr/>
          <a:lstStyle/>
          <a:p>
            <a:r>
              <a:rPr lang="en-US" dirty="0"/>
              <a:t>In </a:t>
            </a:r>
            <a:r>
              <a:rPr lang="en-US" dirty="0" err="1">
                <a:solidFill>
                  <a:srgbClr val="FF0000"/>
                </a:solidFill>
              </a:rPr>
              <a:t>moviereviews</a:t>
            </a:r>
            <a:r>
              <a:rPr lang="en-US" dirty="0">
                <a:solidFill>
                  <a:srgbClr val="FF0000"/>
                </a:solidFill>
              </a:rPr>
              <a:t>/templates/base.html, </a:t>
            </a:r>
            <a:r>
              <a:rPr lang="en-US" dirty="0"/>
              <a:t>we will make the following changes in bold:</a:t>
            </a:r>
          </a:p>
          <a:p>
            <a:endParaRPr lang="en-US" dirty="0"/>
          </a:p>
        </p:txBody>
      </p:sp>
      <p:pic>
        <p:nvPicPr>
          <p:cNvPr id="4" name="Picture 3">
            <a:extLst>
              <a:ext uri="{FF2B5EF4-FFF2-40B4-BE49-F238E27FC236}">
                <a16:creationId xmlns:a16="http://schemas.microsoft.com/office/drawing/2014/main" id="{81F3B833-C61A-424B-A2A9-5B96C264ECC2}"/>
              </a:ext>
            </a:extLst>
          </p:cNvPr>
          <p:cNvPicPr>
            <a:picLocks noChangeAspect="1"/>
          </p:cNvPicPr>
          <p:nvPr/>
        </p:nvPicPr>
        <p:blipFill>
          <a:blip r:embed="rId2"/>
          <a:stretch>
            <a:fillRect/>
          </a:stretch>
        </p:blipFill>
        <p:spPr>
          <a:xfrm>
            <a:off x="4788060" y="216855"/>
            <a:ext cx="6803354" cy="6074888"/>
          </a:xfrm>
          <a:prstGeom prst="rect">
            <a:avLst/>
          </a:prstGeom>
        </p:spPr>
      </p:pic>
    </p:spTree>
    <p:extLst>
      <p:ext uri="{BB962C8B-B14F-4D97-AF65-F5344CB8AC3E}">
        <p14:creationId xmlns:p14="http://schemas.microsoft.com/office/powerpoint/2010/main" val="2921524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4C3F63-E90A-475A-8862-885BDB73F5E0}"/>
              </a:ext>
            </a:extLst>
          </p:cNvPr>
          <p:cNvPicPr>
            <a:picLocks noChangeAspect="1"/>
          </p:cNvPicPr>
          <p:nvPr/>
        </p:nvPicPr>
        <p:blipFill>
          <a:blip r:embed="rId2"/>
          <a:stretch>
            <a:fillRect/>
          </a:stretch>
        </p:blipFill>
        <p:spPr>
          <a:xfrm>
            <a:off x="1098957" y="64071"/>
            <a:ext cx="10167457" cy="6735206"/>
          </a:xfrm>
          <a:prstGeom prst="rect">
            <a:avLst/>
          </a:prstGeom>
        </p:spPr>
      </p:pic>
    </p:spTree>
    <p:extLst>
      <p:ext uri="{BB962C8B-B14F-4D97-AF65-F5344CB8AC3E}">
        <p14:creationId xmlns:p14="http://schemas.microsoft.com/office/powerpoint/2010/main" val="3822070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F17C-7266-4748-9E6A-75D6BCECB894}"/>
              </a:ext>
            </a:extLst>
          </p:cNvPr>
          <p:cNvSpPr>
            <a:spLocks noGrp="1"/>
          </p:cNvSpPr>
          <p:nvPr>
            <p:ph type="title"/>
          </p:nvPr>
        </p:nvSpPr>
        <p:spPr/>
        <p:txBody>
          <a:bodyPr/>
          <a:lstStyle/>
          <a:p>
            <a:r>
              <a:rPr lang="en-US" b="1" dirty="0"/>
              <a:t>Serving static files</a:t>
            </a:r>
            <a:endParaRPr lang="en-US" dirty="0"/>
          </a:p>
        </p:txBody>
      </p:sp>
      <p:sp>
        <p:nvSpPr>
          <p:cNvPr id="3" name="Content Placeholder 2">
            <a:extLst>
              <a:ext uri="{FF2B5EF4-FFF2-40B4-BE49-F238E27FC236}">
                <a16:creationId xmlns:a16="http://schemas.microsoft.com/office/drawing/2014/main" id="{9A2951F8-60F3-4580-B5F2-0B58B30E5D6D}"/>
              </a:ext>
            </a:extLst>
          </p:cNvPr>
          <p:cNvSpPr>
            <a:spLocks noGrp="1"/>
          </p:cNvSpPr>
          <p:nvPr>
            <p:ph idx="1"/>
          </p:nvPr>
        </p:nvSpPr>
        <p:spPr/>
        <p:txBody>
          <a:bodyPr/>
          <a:lstStyle/>
          <a:p>
            <a:r>
              <a:rPr lang="en-US" dirty="0"/>
              <a:t>Let's suppose we want to display an image icon for our site. </a:t>
            </a:r>
          </a:p>
          <a:p>
            <a:r>
              <a:rPr lang="en-US" dirty="0"/>
              <a:t>These are examples of fixed images on the site. These fixed images are static files. They are different from media files that users upload to the site, such as movie images.</a:t>
            </a:r>
          </a:p>
          <a:p>
            <a:pPr>
              <a:buFont typeface="Wingdings" panose="05000000000000000000" pitchFamily="2" charset="2"/>
              <a:buChar char="§"/>
            </a:pPr>
            <a:r>
              <a:rPr lang="en-US" dirty="0"/>
              <a:t>In /</a:t>
            </a:r>
            <a:r>
              <a:rPr lang="en-US" dirty="0" err="1"/>
              <a:t>moviereviews</a:t>
            </a:r>
            <a:r>
              <a:rPr lang="en-US" dirty="0"/>
              <a:t>/settings.py, we have a STATIC_URL = '/static/'property. Above the property is a comment, containing a  link to documentation on </a:t>
            </a:r>
            <a:r>
              <a:rPr lang="en-US" b="1" dirty="0">
                <a:solidFill>
                  <a:srgbClr val="0000FF"/>
                </a:solidFill>
              </a:rPr>
              <a:t>how to use static files?</a:t>
            </a:r>
          </a:p>
          <a:p>
            <a:pPr>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7BAFCD57-520F-4CB7-A3F4-AF885EA8C27B}"/>
              </a:ext>
            </a:extLst>
          </p:cNvPr>
          <p:cNvPicPr>
            <a:picLocks noChangeAspect="1"/>
          </p:cNvPicPr>
          <p:nvPr/>
        </p:nvPicPr>
        <p:blipFill>
          <a:blip r:embed="rId2"/>
          <a:stretch>
            <a:fillRect/>
          </a:stretch>
        </p:blipFill>
        <p:spPr>
          <a:xfrm>
            <a:off x="971707" y="3561039"/>
            <a:ext cx="7727676" cy="1837771"/>
          </a:xfrm>
          <a:prstGeom prst="rect">
            <a:avLst/>
          </a:prstGeom>
        </p:spPr>
      </p:pic>
      <p:pic>
        <p:nvPicPr>
          <p:cNvPr id="5" name="Picture 4">
            <a:extLst>
              <a:ext uri="{FF2B5EF4-FFF2-40B4-BE49-F238E27FC236}">
                <a16:creationId xmlns:a16="http://schemas.microsoft.com/office/drawing/2014/main" id="{3F3BA59D-2BB9-4B1D-8B00-9219971F5943}"/>
              </a:ext>
            </a:extLst>
          </p:cNvPr>
          <p:cNvPicPr>
            <a:picLocks noChangeAspect="1"/>
          </p:cNvPicPr>
          <p:nvPr/>
        </p:nvPicPr>
        <p:blipFill>
          <a:blip r:embed="rId3"/>
          <a:stretch>
            <a:fillRect/>
          </a:stretch>
        </p:blipFill>
        <p:spPr>
          <a:xfrm>
            <a:off x="7577968" y="1845734"/>
            <a:ext cx="1314450" cy="466725"/>
          </a:xfrm>
          <a:prstGeom prst="rect">
            <a:avLst/>
          </a:prstGeom>
        </p:spPr>
      </p:pic>
    </p:spTree>
    <p:extLst>
      <p:ext uri="{BB962C8B-B14F-4D97-AF65-F5344CB8AC3E}">
        <p14:creationId xmlns:p14="http://schemas.microsoft.com/office/powerpoint/2010/main" val="1624024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B828-55C8-44B0-A806-EBAFB79D1B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A30DF1-2AE2-4B59-817B-FD595973AC39}"/>
              </a:ext>
            </a:extLst>
          </p:cNvPr>
          <p:cNvSpPr>
            <a:spLocks noGrp="1"/>
          </p:cNvSpPr>
          <p:nvPr>
            <p:ph idx="1"/>
          </p:nvPr>
        </p:nvSpPr>
        <p:spPr>
          <a:xfrm>
            <a:off x="1097280" y="1845734"/>
            <a:ext cx="4171006" cy="4023360"/>
          </a:xfrm>
        </p:spPr>
        <p:txBody>
          <a:bodyPr/>
          <a:lstStyle/>
          <a:p>
            <a:pPr>
              <a:buFont typeface="Wingdings" panose="05000000000000000000" pitchFamily="2" charset="2"/>
              <a:buChar char="§"/>
            </a:pPr>
            <a:r>
              <a:rPr lang="en-US" dirty="0"/>
              <a:t> In </a:t>
            </a:r>
            <a:r>
              <a:rPr lang="en-US" dirty="0">
                <a:solidFill>
                  <a:srgbClr val="0000FF"/>
                </a:solidFill>
              </a:rPr>
              <a:t>/</a:t>
            </a:r>
            <a:r>
              <a:rPr lang="en-US" dirty="0" err="1">
                <a:solidFill>
                  <a:srgbClr val="0000FF"/>
                </a:solidFill>
              </a:rPr>
              <a:t>moviereviews</a:t>
            </a:r>
            <a:r>
              <a:rPr lang="en-US" dirty="0">
                <a:solidFill>
                  <a:srgbClr val="0000FF"/>
                </a:solidFill>
              </a:rPr>
              <a:t>, create a folder, static. </a:t>
            </a:r>
            <a:r>
              <a:rPr lang="en-US" dirty="0"/>
              <a:t>In it, create an images folder to contain the fixed images used on our site.</a:t>
            </a:r>
          </a:p>
          <a:p>
            <a:pPr>
              <a:buFont typeface="Wingdings" panose="05000000000000000000" pitchFamily="2" charset="2"/>
              <a:buChar char="§"/>
            </a:pPr>
            <a:r>
              <a:rPr lang="en-US" dirty="0"/>
              <a:t>Bring in an image file (</a:t>
            </a:r>
            <a:r>
              <a:rPr lang="en-US" dirty="0" err="1"/>
              <a:t>forexample</a:t>
            </a:r>
            <a:r>
              <a:rPr lang="en-US" dirty="0"/>
              <a:t>, movie.png) that you want to display on your site into the images folder. In </a:t>
            </a:r>
            <a:r>
              <a:rPr lang="en-US" b="1" dirty="0" err="1">
                <a:solidFill>
                  <a:srgbClr val="FF0000"/>
                </a:solidFill>
              </a:rPr>
              <a:t>moviereviews</a:t>
            </a:r>
            <a:r>
              <a:rPr lang="en-US" b="1" dirty="0">
                <a:solidFill>
                  <a:srgbClr val="FF0000"/>
                </a:solidFill>
              </a:rPr>
              <a:t>/templates/base.html</a:t>
            </a:r>
            <a:r>
              <a:rPr lang="en-US" dirty="0"/>
              <a:t>, replace the Movies link with the following:</a:t>
            </a:r>
          </a:p>
          <a:p>
            <a:endParaRPr lang="en-US" dirty="0"/>
          </a:p>
        </p:txBody>
      </p:sp>
      <p:pic>
        <p:nvPicPr>
          <p:cNvPr id="4" name="Picture 3">
            <a:extLst>
              <a:ext uri="{FF2B5EF4-FFF2-40B4-BE49-F238E27FC236}">
                <a16:creationId xmlns:a16="http://schemas.microsoft.com/office/drawing/2014/main" id="{59A65136-2842-4B9E-8817-DBB5EA3741FE}"/>
              </a:ext>
            </a:extLst>
          </p:cNvPr>
          <p:cNvPicPr>
            <a:picLocks noChangeAspect="1"/>
          </p:cNvPicPr>
          <p:nvPr/>
        </p:nvPicPr>
        <p:blipFill>
          <a:blip r:embed="rId2"/>
          <a:stretch>
            <a:fillRect/>
          </a:stretch>
        </p:blipFill>
        <p:spPr>
          <a:xfrm>
            <a:off x="5335398" y="1845734"/>
            <a:ext cx="6340399" cy="3709682"/>
          </a:xfrm>
          <a:prstGeom prst="rect">
            <a:avLst/>
          </a:prstGeom>
        </p:spPr>
      </p:pic>
    </p:spTree>
    <p:extLst>
      <p:ext uri="{BB962C8B-B14F-4D97-AF65-F5344CB8AC3E}">
        <p14:creationId xmlns:p14="http://schemas.microsoft.com/office/powerpoint/2010/main" val="4126094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EC3D8-52A5-46DE-9628-C3BBC491AF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FD894A-47AB-4EAF-9E29-A533CCBB98BA}"/>
              </a:ext>
            </a:extLst>
          </p:cNvPr>
          <p:cNvSpPr>
            <a:spLocks noGrp="1"/>
          </p:cNvSpPr>
          <p:nvPr>
            <p:ph idx="1"/>
          </p:nvPr>
        </p:nvSpPr>
        <p:spPr/>
        <p:txBody>
          <a:bodyPr/>
          <a:lstStyle/>
          <a:p>
            <a:r>
              <a:rPr lang="en-US" dirty="0"/>
              <a:t>Add at the end of the /moviereviews/settings.py file the following code in bold: </a:t>
            </a:r>
          </a:p>
        </p:txBody>
      </p:sp>
      <p:pic>
        <p:nvPicPr>
          <p:cNvPr id="4" name="Picture 3">
            <a:extLst>
              <a:ext uri="{FF2B5EF4-FFF2-40B4-BE49-F238E27FC236}">
                <a16:creationId xmlns:a16="http://schemas.microsoft.com/office/drawing/2014/main" id="{DD8AE2AD-BE9B-413C-8228-2DB4E8592663}"/>
              </a:ext>
            </a:extLst>
          </p:cNvPr>
          <p:cNvPicPr>
            <a:picLocks noChangeAspect="1"/>
          </p:cNvPicPr>
          <p:nvPr/>
        </p:nvPicPr>
        <p:blipFill>
          <a:blip r:embed="rId2"/>
          <a:stretch>
            <a:fillRect/>
          </a:stretch>
        </p:blipFill>
        <p:spPr>
          <a:xfrm>
            <a:off x="1197703" y="2541908"/>
            <a:ext cx="5471546" cy="2130760"/>
          </a:xfrm>
          <a:prstGeom prst="rect">
            <a:avLst/>
          </a:prstGeom>
        </p:spPr>
      </p:pic>
      <p:pic>
        <p:nvPicPr>
          <p:cNvPr id="5" name="Picture 4">
            <a:extLst>
              <a:ext uri="{FF2B5EF4-FFF2-40B4-BE49-F238E27FC236}">
                <a16:creationId xmlns:a16="http://schemas.microsoft.com/office/drawing/2014/main" id="{D8532A0A-BD1A-4949-9A12-600113471698}"/>
              </a:ext>
            </a:extLst>
          </p:cNvPr>
          <p:cNvPicPr>
            <a:picLocks noChangeAspect="1"/>
          </p:cNvPicPr>
          <p:nvPr/>
        </p:nvPicPr>
        <p:blipFill>
          <a:blip r:embed="rId3"/>
          <a:stretch>
            <a:fillRect/>
          </a:stretch>
        </p:blipFill>
        <p:spPr>
          <a:xfrm>
            <a:off x="6929306" y="2523914"/>
            <a:ext cx="4781550" cy="2667000"/>
          </a:xfrm>
          <a:prstGeom prst="rect">
            <a:avLst/>
          </a:prstGeom>
        </p:spPr>
      </p:pic>
      <p:sp>
        <p:nvSpPr>
          <p:cNvPr id="6" name="TextBox 5">
            <a:extLst>
              <a:ext uri="{FF2B5EF4-FFF2-40B4-BE49-F238E27FC236}">
                <a16:creationId xmlns:a16="http://schemas.microsoft.com/office/drawing/2014/main" id="{6207D9B4-BF76-45A3-82AD-C39A410EB0CA}"/>
              </a:ext>
            </a:extLst>
          </p:cNvPr>
          <p:cNvSpPr txBox="1"/>
          <p:nvPr/>
        </p:nvSpPr>
        <p:spPr>
          <a:xfrm>
            <a:off x="7657469" y="5066950"/>
            <a:ext cx="3758268" cy="584775"/>
          </a:xfrm>
          <a:prstGeom prst="rect">
            <a:avLst/>
          </a:prstGeom>
          <a:noFill/>
        </p:spPr>
        <p:txBody>
          <a:bodyPr wrap="square" rtlCol="0">
            <a:spAutoFit/>
          </a:bodyPr>
          <a:lstStyle/>
          <a:p>
            <a:r>
              <a:rPr lang="en-US" sz="1400" dirty="0"/>
              <a:t>Header with icon</a:t>
            </a:r>
          </a:p>
          <a:p>
            <a:endParaRPr lang="en-US" dirty="0"/>
          </a:p>
        </p:txBody>
      </p:sp>
      <p:sp>
        <p:nvSpPr>
          <p:cNvPr id="8" name="Arrow: Right 7">
            <a:extLst>
              <a:ext uri="{FF2B5EF4-FFF2-40B4-BE49-F238E27FC236}">
                <a16:creationId xmlns:a16="http://schemas.microsoft.com/office/drawing/2014/main" id="{0CC85D94-26D5-40AC-961D-27F6CF214F9D}"/>
              </a:ext>
            </a:extLst>
          </p:cNvPr>
          <p:cNvSpPr/>
          <p:nvPr/>
        </p:nvSpPr>
        <p:spPr>
          <a:xfrm>
            <a:off x="8992998" y="3313651"/>
            <a:ext cx="494951" cy="38589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8674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DEE0C4-E52D-4CB7-8166-6A3581515A6D}"/>
              </a:ext>
            </a:extLst>
          </p:cNvPr>
          <p:cNvSpPr/>
          <p:nvPr/>
        </p:nvSpPr>
        <p:spPr>
          <a:xfrm>
            <a:off x="4551408" y="2967335"/>
            <a:ext cx="3089179" cy="923330"/>
          </a:xfrm>
          <a:prstGeom prst="rect">
            <a:avLst/>
          </a:prstGeom>
          <a:noFill/>
        </p:spPr>
        <p:txBody>
          <a:bodyPr wrap="none" lIns="91440" tIns="45720" rIns="91440" bIns="45720">
            <a:spAutoFit/>
          </a:bodyPr>
          <a:lstStyle/>
          <a:p>
            <a:pPr algn="ctr"/>
            <a:r>
              <a:rPr lang="en-US" sz="5400" i="1" dirty="0">
                <a:ln w="0"/>
                <a:solidFill>
                  <a:schemeClr val="accent1"/>
                </a:solidFill>
                <a:effectLst>
                  <a:outerShdw blurRad="38100" dist="25400" dir="5400000" algn="ctr" rotWithShape="0">
                    <a:srgbClr val="6E747A">
                      <a:alpha val="43000"/>
                    </a:srgbClr>
                  </a:outerShdw>
                </a:effectLst>
              </a:rPr>
              <a:t>Thank you</a:t>
            </a:r>
            <a:endParaRPr lang="en-US" sz="5400" b="0" i="1"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1771259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717</TotalTime>
  <Words>1391</Words>
  <Application>Microsoft Office PowerPoint</Application>
  <PresentationFormat>Widescreen</PresentationFormat>
  <Paragraphs>124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Calibri Light</vt:lpstr>
      <vt:lpstr>Wingdings</vt:lpstr>
      <vt:lpstr>Retrospect</vt:lpstr>
      <vt:lpstr>Django - Extending Base Templates</vt:lpstr>
      <vt:lpstr>Contents</vt:lpstr>
      <vt:lpstr>Creating a base template</vt:lpstr>
      <vt:lpstr> movie/templates/home.html</vt:lpstr>
      <vt:lpstr>movie/templates/home.html</vt:lpstr>
      <vt:lpstr>We also included two links (Login and Sign Up), which will be used later.</vt:lpstr>
      <vt:lpstr>PowerPoint Presentation</vt:lpstr>
      <vt:lpstr>moviereviews/templates/base.html</vt:lpstr>
      <vt:lpstr>PowerPoint Presentation</vt:lpstr>
      <vt:lpstr>PowerPoint Presentation</vt:lpstr>
      <vt:lpstr>PowerPoint Presentation</vt:lpstr>
      <vt:lpstr>In movie/templates/home.html, we shouldn't have the header and navbar anymore. To simplify things, let's remove the sign-up mailing list form. Also, remove the &lt;div class="container"&gt; tag, since it is loaded in the base.html template. The entire movie/templates/home.html will look something like this:</vt:lpstr>
      <vt:lpstr>apply the preceding to news.html as well. Replace all existing content of  /news/template/news.html</vt:lpstr>
      <vt:lpstr>http://localhost:8000/news/</vt:lpstr>
      <vt:lpstr>Making the links work</vt:lpstr>
      <vt:lpstr>moviereviews/templates/base.html, add the following code in bold:</vt:lpstr>
      <vt:lpstr>Adding a footer section</vt:lpstr>
      <vt:lpstr>PowerPoint Presentation</vt:lpstr>
      <vt:lpstr>Serving static files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 Working with Models</dc:title>
  <dc:creator>Ami Patel</dc:creator>
  <cp:lastModifiedBy>Ami Patel</cp:lastModifiedBy>
  <cp:revision>68</cp:revision>
  <cp:lastPrinted>2025-07-04T02:58:18Z</cp:lastPrinted>
  <dcterms:created xsi:type="dcterms:W3CDTF">2024-08-12T08:01:10Z</dcterms:created>
  <dcterms:modified xsi:type="dcterms:W3CDTF">2025-07-07T07:12:29Z</dcterms:modified>
</cp:coreProperties>
</file>