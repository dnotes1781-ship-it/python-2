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608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3985902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67CF3-5CD7-4157-AE03-B29BA452ABB6}"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255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767CF3-5CD7-4157-AE03-B29BA452ABB6}"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3887990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767CF3-5CD7-4157-AE03-B29BA452ABB6}" type="datetimeFigureOut">
              <a:rPr lang="en-IN" smtClean="0"/>
              <a:t>09-06-2026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1834348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767CF3-5CD7-4157-AE03-B29BA452ABB6}" type="datetimeFigureOut">
              <a:rPr lang="en-IN" smtClean="0"/>
              <a:t>09-06-2026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2038239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E767CF3-5CD7-4157-AE03-B29BA452ABB6}" type="datetimeFigureOut">
              <a:rPr lang="en-IN" smtClean="0"/>
              <a:t>09-06-2026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2051901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E767CF3-5CD7-4157-AE03-B29BA452ABB6}" type="datetimeFigureOut">
              <a:rPr lang="en-IN" smtClean="0"/>
              <a:t>09-06-2026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3A6A317-51E8-4121-9584-6C9C86577AD0}" type="slidenum">
              <a:rPr lang="en-IN" smtClean="0"/>
              <a:t>‹#›</a:t>
            </a:fld>
            <a:endParaRPr lang="en-IN"/>
          </a:p>
        </p:txBody>
      </p:sp>
    </p:spTree>
    <p:extLst>
      <p:ext uri="{BB962C8B-B14F-4D97-AF65-F5344CB8AC3E}">
        <p14:creationId xmlns:p14="http://schemas.microsoft.com/office/powerpoint/2010/main" val="1806614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67CF3-5CD7-4157-AE03-B29BA452ABB6}"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50861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3767327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1956465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E767CF3-5CD7-4157-AE03-B29BA452ABB6}" type="datetimeFigureOut">
              <a:rPr lang="en-IN" smtClean="0"/>
              <a:t>09-06-2026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3A6A317-51E8-4121-9584-6C9C86577AD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5621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BD3B1-D4EF-42A1-8D2F-9B537759E9C6}"/>
              </a:ext>
            </a:extLst>
          </p:cNvPr>
          <p:cNvSpPr>
            <a:spLocks noGrp="1"/>
          </p:cNvSpPr>
          <p:nvPr>
            <p:ph type="ctrTitle"/>
          </p:nvPr>
        </p:nvSpPr>
        <p:spPr/>
        <p:txBody>
          <a:bodyPr/>
          <a:lstStyle/>
          <a:p>
            <a:r>
              <a:rPr lang="en-IN" dirty="0"/>
              <a:t>Building a REST API</a:t>
            </a:r>
            <a:br>
              <a:rPr lang="en-IN" dirty="0"/>
            </a:br>
            <a:endParaRPr lang="en-IN" dirty="0"/>
          </a:p>
        </p:txBody>
      </p:sp>
      <p:sp>
        <p:nvSpPr>
          <p:cNvPr id="3" name="Subtitle 2">
            <a:extLst>
              <a:ext uri="{FF2B5EF4-FFF2-40B4-BE49-F238E27FC236}">
                <a16:creationId xmlns:a16="http://schemas.microsoft.com/office/drawing/2014/main" id="{C22CEDE6-61C9-4394-A425-6A7AF58A1D63}"/>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064921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270C5-1335-4BE4-A7FF-123CDB2695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E172B4-BAEA-4698-9C2A-9BF57CC624A6}"/>
              </a:ext>
            </a:extLst>
          </p:cNvPr>
          <p:cNvSpPr>
            <a:spLocks noGrp="1"/>
          </p:cNvSpPr>
          <p:nvPr>
            <p:ph idx="1"/>
          </p:nvPr>
        </p:nvSpPr>
        <p:spPr/>
        <p:txBody>
          <a:bodyPr/>
          <a:lstStyle/>
          <a:p>
            <a:r>
              <a:rPr lang="en-US" dirty="0"/>
              <a:t>Understanding REST APIs </a:t>
            </a:r>
          </a:p>
          <a:p>
            <a:r>
              <a:rPr lang="en-US" dirty="0"/>
              <a:t>DRF </a:t>
            </a:r>
          </a:p>
          <a:p>
            <a:r>
              <a:rPr lang="en-US" dirty="0"/>
              <a:t>Understanding serializers </a:t>
            </a:r>
          </a:p>
          <a:p>
            <a:r>
              <a:rPr lang="en-US" dirty="0"/>
              <a:t>Simplifying the code using </a:t>
            </a:r>
            <a:r>
              <a:rPr lang="en-US" dirty="0" err="1"/>
              <a:t>ViewSets</a:t>
            </a:r>
            <a:r>
              <a:rPr lang="en-US" dirty="0"/>
              <a:t> </a:t>
            </a:r>
          </a:p>
          <a:p>
            <a:r>
              <a:rPr lang="en-US" dirty="0"/>
              <a:t>Implementing authentication</a:t>
            </a:r>
            <a:endParaRPr lang="en-IN" dirty="0"/>
          </a:p>
        </p:txBody>
      </p:sp>
    </p:spTree>
    <p:extLst>
      <p:ext uri="{BB962C8B-B14F-4D97-AF65-F5344CB8AC3E}">
        <p14:creationId xmlns:p14="http://schemas.microsoft.com/office/powerpoint/2010/main" val="3617514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4B3A6-5854-46A8-A418-40F27EB32294}"/>
              </a:ext>
            </a:extLst>
          </p:cNvPr>
          <p:cNvSpPr>
            <a:spLocks noGrp="1"/>
          </p:cNvSpPr>
          <p:nvPr>
            <p:ph type="title"/>
          </p:nvPr>
        </p:nvSpPr>
        <p:spPr/>
        <p:txBody>
          <a:bodyPr/>
          <a:lstStyle/>
          <a:p>
            <a:r>
              <a:rPr lang="en-US" dirty="0"/>
              <a:t>DRF</a:t>
            </a:r>
            <a:endParaRPr lang="en-IN" dirty="0"/>
          </a:p>
        </p:txBody>
      </p:sp>
      <p:sp>
        <p:nvSpPr>
          <p:cNvPr id="3" name="Content Placeholder 2">
            <a:extLst>
              <a:ext uri="{FF2B5EF4-FFF2-40B4-BE49-F238E27FC236}">
                <a16:creationId xmlns:a16="http://schemas.microsoft.com/office/drawing/2014/main" id="{F39AC942-8B0B-4718-A502-380C3D1858B8}"/>
              </a:ext>
            </a:extLst>
          </p:cNvPr>
          <p:cNvSpPr>
            <a:spLocks noGrp="1"/>
          </p:cNvSpPr>
          <p:nvPr>
            <p:ph idx="1"/>
          </p:nvPr>
        </p:nvSpPr>
        <p:spPr/>
        <p:txBody>
          <a:bodyPr>
            <a:normAutofit/>
          </a:bodyPr>
          <a:lstStyle/>
          <a:p>
            <a:r>
              <a:rPr lang="en-US" dirty="0"/>
              <a:t>DRF is an open source Python library that can be used to develop REST APIs for a Django project. DRF has idx_9b7cb5c1 most of the necessary functionality built in to help develop APIs for any Django project.</a:t>
            </a:r>
          </a:p>
          <a:p>
            <a:r>
              <a:rPr lang="en-IN" b="1" dirty="0">
                <a:solidFill>
                  <a:srgbClr val="FF0000"/>
                </a:solidFill>
              </a:rPr>
              <a:t>pip install </a:t>
            </a:r>
            <a:r>
              <a:rPr lang="en-IN" b="1" dirty="0" err="1">
                <a:solidFill>
                  <a:srgbClr val="FF0000"/>
                </a:solidFill>
              </a:rPr>
              <a:t>djangorestframework</a:t>
            </a:r>
            <a:endParaRPr lang="en-IN" b="1" dirty="0">
              <a:solidFill>
                <a:srgbClr val="FF0000"/>
              </a:solidFill>
            </a:endParaRPr>
          </a:p>
          <a:p>
            <a:endParaRPr lang="en-IN" b="1" dirty="0">
              <a:solidFill>
                <a:srgbClr val="FF0000"/>
              </a:solidFill>
            </a:endParaRPr>
          </a:p>
          <a:p>
            <a:r>
              <a:rPr lang="en-IN" b="1" dirty="0">
                <a:solidFill>
                  <a:srgbClr val="FF0000"/>
                </a:solidFill>
              </a:rPr>
              <a:t>INSTALLED_APPS = ['</a:t>
            </a:r>
            <a:r>
              <a:rPr lang="en-IN" b="1" dirty="0" err="1">
                <a:solidFill>
                  <a:srgbClr val="FF0000"/>
                </a:solidFill>
              </a:rPr>
              <a:t>rest_framework</a:t>
            </a:r>
            <a:r>
              <a:rPr lang="en-IN" b="1" dirty="0">
                <a:solidFill>
                  <a:srgbClr val="FF0000"/>
                </a:solidFill>
              </a:rPr>
              <a:t>’,]</a:t>
            </a:r>
          </a:p>
        </p:txBody>
      </p:sp>
    </p:spTree>
    <p:extLst>
      <p:ext uri="{BB962C8B-B14F-4D97-AF65-F5344CB8AC3E}">
        <p14:creationId xmlns:p14="http://schemas.microsoft.com/office/powerpoint/2010/main" val="402187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FF0A8-8467-40AE-A8D4-DA0BF59CE34B}"/>
              </a:ext>
            </a:extLst>
          </p:cNvPr>
          <p:cNvSpPr>
            <a:spLocks noGrp="1"/>
          </p:cNvSpPr>
          <p:nvPr>
            <p:ph type="title"/>
          </p:nvPr>
        </p:nvSpPr>
        <p:spPr/>
        <p:txBody>
          <a:bodyPr/>
          <a:lstStyle/>
          <a:p>
            <a:r>
              <a:rPr lang="en-US" dirty="0"/>
              <a:t>Creating a simple REST API</a:t>
            </a:r>
            <a:endParaRPr lang="en-IN" dirty="0"/>
          </a:p>
        </p:txBody>
      </p:sp>
      <p:sp>
        <p:nvSpPr>
          <p:cNvPr id="3" name="Content Placeholder 2">
            <a:extLst>
              <a:ext uri="{FF2B5EF4-FFF2-40B4-BE49-F238E27FC236}">
                <a16:creationId xmlns:a16="http://schemas.microsoft.com/office/drawing/2014/main" id="{66D1A323-5C90-41ED-9C61-B77550DB2660}"/>
              </a:ext>
            </a:extLst>
          </p:cNvPr>
          <p:cNvSpPr>
            <a:spLocks noGrp="1"/>
          </p:cNvSpPr>
          <p:nvPr>
            <p:ph idx="1"/>
          </p:nvPr>
        </p:nvSpPr>
        <p:spPr/>
        <p:txBody>
          <a:bodyPr/>
          <a:lstStyle/>
          <a:p>
            <a:r>
              <a:rPr lang="en-US" dirty="0"/>
              <a:t>1. Create api_views.py in the </a:t>
            </a:r>
            <a:r>
              <a:rPr lang="en-US" dirty="0" err="1"/>
              <a:t>bookr</a:t>
            </a:r>
            <a:r>
              <a:rPr lang="en-US" dirty="0"/>
              <a:t>/reviews folder.</a:t>
            </a:r>
          </a:p>
          <a:p>
            <a:r>
              <a:rPr lang="en-US" dirty="0"/>
              <a:t>2. Add the following code in api_views.py: </a:t>
            </a:r>
          </a:p>
          <a:p>
            <a:r>
              <a:rPr lang="en-US" sz="1400" dirty="0"/>
              <a:t>from </a:t>
            </a:r>
            <a:r>
              <a:rPr lang="en-US" sz="1400" dirty="0" err="1"/>
              <a:t>rest_framework.decorators</a:t>
            </a:r>
            <a:r>
              <a:rPr lang="en-US" sz="1400" dirty="0"/>
              <a:t> </a:t>
            </a:r>
          </a:p>
          <a:p>
            <a:r>
              <a:rPr lang="en-US" sz="1400" dirty="0"/>
              <a:t>import </a:t>
            </a:r>
            <a:r>
              <a:rPr lang="en-US" sz="1400" dirty="0" err="1"/>
              <a:t>api_view</a:t>
            </a:r>
            <a:r>
              <a:rPr lang="en-US" sz="1400" dirty="0"/>
              <a:t> from </a:t>
            </a:r>
            <a:r>
              <a:rPr lang="en-US" sz="1400" dirty="0" err="1"/>
              <a:t>rest_framework.response</a:t>
            </a:r>
            <a:r>
              <a:rPr lang="en-US" sz="1400" dirty="0"/>
              <a:t> </a:t>
            </a:r>
          </a:p>
          <a:p>
            <a:r>
              <a:rPr lang="en-US" sz="1400" dirty="0"/>
              <a:t>import Response from .models import Book</a:t>
            </a:r>
          </a:p>
          <a:p>
            <a:r>
              <a:rPr lang="en-US" sz="1400" dirty="0"/>
              <a:t>@api_view(['GET’]) </a:t>
            </a:r>
          </a:p>
          <a:p>
            <a:r>
              <a:rPr lang="en-US" sz="1400" dirty="0"/>
              <a:t>def </a:t>
            </a:r>
            <a:r>
              <a:rPr lang="en-US" sz="1400" dirty="0" err="1"/>
              <a:t>first_api_view</a:t>
            </a:r>
            <a:r>
              <a:rPr lang="en-US" sz="1400" dirty="0"/>
              <a:t>(request): </a:t>
            </a:r>
          </a:p>
          <a:p>
            <a:r>
              <a:rPr lang="en-US" sz="1400" dirty="0" err="1"/>
              <a:t>num_books</a:t>
            </a:r>
            <a:r>
              <a:rPr lang="en-US" sz="1400" dirty="0"/>
              <a:t> = </a:t>
            </a:r>
            <a:r>
              <a:rPr lang="en-US" sz="1400" dirty="0" err="1"/>
              <a:t>Book.objects.count</a:t>
            </a:r>
            <a:r>
              <a:rPr lang="en-US" sz="1400" dirty="0"/>
              <a:t>() </a:t>
            </a:r>
          </a:p>
          <a:p>
            <a:r>
              <a:rPr lang="en-US" sz="1400" dirty="0"/>
              <a:t>return Response({ "</a:t>
            </a:r>
            <a:r>
              <a:rPr lang="en-US" sz="1400" dirty="0" err="1"/>
              <a:t>num_books</a:t>
            </a:r>
            <a:r>
              <a:rPr lang="en-US" sz="1400" dirty="0"/>
              <a:t>" : </a:t>
            </a:r>
            <a:r>
              <a:rPr lang="en-US" sz="1400" dirty="0" err="1"/>
              <a:t>num_books</a:t>
            </a:r>
            <a:r>
              <a:rPr lang="en-US" sz="1400" dirty="0"/>
              <a:t>})</a:t>
            </a:r>
          </a:p>
        </p:txBody>
      </p:sp>
    </p:spTree>
    <p:extLst>
      <p:ext uri="{BB962C8B-B14F-4D97-AF65-F5344CB8AC3E}">
        <p14:creationId xmlns:p14="http://schemas.microsoft.com/office/powerpoint/2010/main" val="2722295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3F634-3773-4460-9669-AE54AD6C2A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BE6B04-D1A7-4632-B02B-86C64218D3DC}"/>
              </a:ext>
            </a:extLst>
          </p:cNvPr>
          <p:cNvSpPr>
            <a:spLocks noGrp="1"/>
          </p:cNvSpPr>
          <p:nvPr>
            <p:ph idx="1"/>
          </p:nvPr>
        </p:nvSpPr>
        <p:spPr/>
        <p:txBody>
          <a:bodyPr/>
          <a:lstStyle/>
          <a:p>
            <a:r>
              <a:rPr lang="en-US" sz="2400" dirty="0"/>
              <a:t>3. O</a:t>
            </a:r>
            <a:r>
              <a:rPr lang="en-US" sz="2000" dirty="0"/>
              <a:t>pen bookr/reviews/urls.py and import the </a:t>
            </a:r>
            <a:r>
              <a:rPr lang="en-US" sz="2000" dirty="0" err="1"/>
              <a:t>api_views</a:t>
            </a:r>
            <a:r>
              <a:rPr lang="en-US" sz="2000" dirty="0"/>
              <a:t> module. </a:t>
            </a:r>
            <a:endParaRPr lang="en-IN" sz="2400" dirty="0"/>
          </a:p>
          <a:p>
            <a:endParaRPr lang="en-US" dirty="0"/>
          </a:p>
          <a:p>
            <a:r>
              <a:rPr lang="en-US" dirty="0"/>
              <a:t>from . import views, </a:t>
            </a:r>
            <a:r>
              <a:rPr lang="en-US" dirty="0" err="1"/>
              <a:t>api_views</a:t>
            </a:r>
            <a:r>
              <a:rPr lang="en-US" dirty="0"/>
              <a:t> </a:t>
            </a:r>
          </a:p>
          <a:p>
            <a:r>
              <a:rPr lang="en-US" dirty="0" err="1"/>
              <a:t>urlpatterns</a:t>
            </a:r>
            <a:r>
              <a:rPr lang="en-US" dirty="0"/>
              <a:t> = [ path( '</a:t>
            </a:r>
            <a:r>
              <a:rPr lang="en-US" dirty="0" err="1"/>
              <a:t>api</a:t>
            </a:r>
            <a:r>
              <a:rPr lang="en-US" dirty="0"/>
              <a:t>/</a:t>
            </a:r>
            <a:r>
              <a:rPr lang="en-US" dirty="0" err="1"/>
              <a:t>first_api_view</a:t>
            </a:r>
            <a:r>
              <a:rPr lang="en-US" dirty="0"/>
              <a:t>/' , </a:t>
            </a:r>
            <a:r>
              <a:rPr lang="en-US" dirty="0" err="1"/>
              <a:t>api_views.first_api_view</a:t>
            </a:r>
            <a:r>
              <a:rPr lang="en-US" dirty="0"/>
              <a:t>);]</a:t>
            </a:r>
          </a:p>
          <a:p>
            <a:r>
              <a:rPr lang="en-US" dirty="0"/>
              <a:t>4. Start the Django service with the python manage.py </a:t>
            </a:r>
            <a:r>
              <a:rPr lang="en-US" dirty="0" err="1"/>
              <a:t>runserver</a:t>
            </a:r>
            <a:r>
              <a:rPr lang="en-US" dirty="0"/>
              <a:t> command and go to http://127.0.0.1:8000/api/first_api_view/ to make your first API request. </a:t>
            </a:r>
          </a:p>
          <a:p>
            <a:endParaRPr lang="en-IN" dirty="0"/>
          </a:p>
        </p:txBody>
      </p:sp>
      <p:pic>
        <p:nvPicPr>
          <p:cNvPr id="5" name="Picture 4">
            <a:extLst>
              <a:ext uri="{FF2B5EF4-FFF2-40B4-BE49-F238E27FC236}">
                <a16:creationId xmlns:a16="http://schemas.microsoft.com/office/drawing/2014/main" id="{C261FC17-69E3-4595-A16D-CB65B7A52863}"/>
              </a:ext>
            </a:extLst>
          </p:cNvPr>
          <p:cNvPicPr>
            <a:picLocks noChangeAspect="1"/>
          </p:cNvPicPr>
          <p:nvPr/>
        </p:nvPicPr>
        <p:blipFill>
          <a:blip r:embed="rId2"/>
          <a:stretch>
            <a:fillRect/>
          </a:stretch>
        </p:blipFill>
        <p:spPr>
          <a:xfrm>
            <a:off x="1036320" y="4357892"/>
            <a:ext cx="4470343" cy="1861071"/>
          </a:xfrm>
          <a:prstGeom prst="rect">
            <a:avLst/>
          </a:prstGeom>
        </p:spPr>
      </p:pic>
    </p:spTree>
    <p:extLst>
      <p:ext uri="{BB962C8B-B14F-4D97-AF65-F5344CB8AC3E}">
        <p14:creationId xmlns:p14="http://schemas.microsoft.com/office/powerpoint/2010/main" val="293992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E79FA-2E79-474E-A898-CF744E94CD79}"/>
              </a:ext>
            </a:extLst>
          </p:cNvPr>
          <p:cNvSpPr>
            <a:spLocks noGrp="1"/>
          </p:cNvSpPr>
          <p:nvPr>
            <p:ph type="title"/>
          </p:nvPr>
        </p:nvSpPr>
        <p:spPr/>
        <p:txBody>
          <a:bodyPr/>
          <a:lstStyle/>
          <a:p>
            <a:r>
              <a:rPr lang="en-IN" dirty="0"/>
              <a:t>serializers</a:t>
            </a:r>
          </a:p>
        </p:txBody>
      </p:sp>
      <p:sp>
        <p:nvSpPr>
          <p:cNvPr id="3" name="Content Placeholder 2">
            <a:extLst>
              <a:ext uri="{FF2B5EF4-FFF2-40B4-BE49-F238E27FC236}">
                <a16:creationId xmlns:a16="http://schemas.microsoft.com/office/drawing/2014/main" id="{A6C26A1C-43F1-45F9-A3C7-AA7BFE3EEE10}"/>
              </a:ext>
            </a:extLst>
          </p:cNvPr>
          <p:cNvSpPr>
            <a:spLocks noGrp="1"/>
          </p:cNvSpPr>
          <p:nvPr>
            <p:ph idx="1"/>
          </p:nvPr>
        </p:nvSpPr>
        <p:spPr/>
        <p:txBody>
          <a:bodyPr/>
          <a:lstStyle/>
          <a:p>
            <a:r>
              <a:rPr lang="en-US" dirty="0"/>
              <a:t>if we wanted to return the full details about an actual book in our database with our API? DRF's serializer class helps to convert complex Python objects into formats such as JSON or XML so that they can be transmitted across the web using the HTTP protocol.</a:t>
            </a:r>
            <a:endParaRPr lang="en-IN" dirty="0"/>
          </a:p>
        </p:txBody>
      </p:sp>
    </p:spTree>
    <p:extLst>
      <p:ext uri="{BB962C8B-B14F-4D97-AF65-F5344CB8AC3E}">
        <p14:creationId xmlns:p14="http://schemas.microsoft.com/office/powerpoint/2010/main" val="681798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58E8D-2BA9-4547-8EBC-629633F52117}"/>
              </a:ext>
            </a:extLst>
          </p:cNvPr>
          <p:cNvSpPr>
            <a:spLocks noGrp="1"/>
          </p:cNvSpPr>
          <p:nvPr>
            <p:ph type="title"/>
          </p:nvPr>
        </p:nvSpPr>
        <p:spPr/>
        <p:txBody>
          <a:bodyPr/>
          <a:lstStyle/>
          <a:p>
            <a:r>
              <a:rPr lang="en-US" dirty="0"/>
              <a:t>Creating an API view to display a list of books</a:t>
            </a:r>
            <a:endParaRPr lang="en-IN" dirty="0"/>
          </a:p>
        </p:txBody>
      </p:sp>
      <p:sp>
        <p:nvSpPr>
          <p:cNvPr id="3" name="Content Placeholder 2">
            <a:extLst>
              <a:ext uri="{FF2B5EF4-FFF2-40B4-BE49-F238E27FC236}">
                <a16:creationId xmlns:a16="http://schemas.microsoft.com/office/drawing/2014/main" id="{10BBDB40-B859-48ED-ABBD-22C0C1E65722}"/>
              </a:ext>
            </a:extLst>
          </p:cNvPr>
          <p:cNvSpPr>
            <a:spLocks noGrp="1"/>
          </p:cNvSpPr>
          <p:nvPr>
            <p:ph idx="1"/>
          </p:nvPr>
        </p:nvSpPr>
        <p:spPr/>
        <p:txBody>
          <a:bodyPr>
            <a:normAutofit fontScale="77500" lnSpcReduction="20000"/>
          </a:bodyPr>
          <a:lstStyle/>
          <a:p>
            <a:r>
              <a:rPr lang="en-US" b="1" dirty="0"/>
              <a:t>1. Create a file named serializers.py in the </a:t>
            </a:r>
            <a:r>
              <a:rPr lang="en-US" b="1" dirty="0" err="1"/>
              <a:t>bookr</a:t>
            </a:r>
            <a:r>
              <a:rPr lang="en-US" b="1" dirty="0"/>
              <a:t>/reviews folder. This is the file where we will place all the serializer code for the APIs. </a:t>
            </a:r>
          </a:p>
          <a:p>
            <a:r>
              <a:rPr lang="en-US" b="1" dirty="0"/>
              <a:t>2. Add the following code to serializers.py: </a:t>
            </a:r>
          </a:p>
          <a:p>
            <a:r>
              <a:rPr lang="en-IN" sz="1700" dirty="0"/>
              <a:t>from </a:t>
            </a:r>
            <a:r>
              <a:rPr lang="en-IN" sz="1700" dirty="0" err="1"/>
              <a:t>rest_framework</a:t>
            </a:r>
            <a:r>
              <a:rPr lang="en-IN" sz="1700" dirty="0"/>
              <a:t> import serializers</a:t>
            </a:r>
          </a:p>
          <a:p>
            <a:r>
              <a:rPr lang="en-IN" sz="1700" dirty="0"/>
              <a:t>class </a:t>
            </a:r>
            <a:r>
              <a:rPr lang="en-IN" sz="1700" dirty="0" err="1"/>
              <a:t>PublisherSerializer</a:t>
            </a:r>
            <a:r>
              <a:rPr lang="en-IN" sz="1700" dirty="0"/>
              <a:t>(</a:t>
            </a:r>
            <a:r>
              <a:rPr lang="en-IN" sz="1700" dirty="0" err="1"/>
              <a:t>serializers.Serializer</a:t>
            </a:r>
            <a:r>
              <a:rPr lang="en-IN" sz="1700" dirty="0"/>
              <a:t>):</a:t>
            </a:r>
          </a:p>
          <a:p>
            <a:r>
              <a:rPr lang="en-IN" sz="1700" dirty="0"/>
              <a:t>    name = </a:t>
            </a:r>
            <a:r>
              <a:rPr lang="en-IN" sz="1700" dirty="0" err="1"/>
              <a:t>serializers.CharField</a:t>
            </a:r>
            <a:r>
              <a:rPr lang="en-IN" sz="1700" dirty="0"/>
              <a:t>()</a:t>
            </a:r>
          </a:p>
          <a:p>
            <a:r>
              <a:rPr lang="en-IN" sz="1700" dirty="0"/>
              <a:t>    website = </a:t>
            </a:r>
            <a:r>
              <a:rPr lang="en-IN" sz="1700" dirty="0" err="1"/>
              <a:t>serializers.URLField</a:t>
            </a:r>
            <a:r>
              <a:rPr lang="en-IN" sz="1700" dirty="0"/>
              <a:t>()</a:t>
            </a:r>
          </a:p>
          <a:p>
            <a:r>
              <a:rPr lang="en-IN" sz="1700" dirty="0"/>
              <a:t>    email = </a:t>
            </a:r>
            <a:r>
              <a:rPr lang="en-IN" sz="1700" dirty="0" err="1"/>
              <a:t>serializers.EmailField</a:t>
            </a:r>
            <a:r>
              <a:rPr lang="en-IN" sz="1700" dirty="0"/>
              <a:t>()</a:t>
            </a:r>
          </a:p>
          <a:p>
            <a:r>
              <a:rPr lang="en-IN" sz="1700" dirty="0"/>
              <a:t>class </a:t>
            </a:r>
            <a:r>
              <a:rPr lang="en-IN" sz="1700" dirty="0" err="1"/>
              <a:t>BookSerializer</a:t>
            </a:r>
            <a:r>
              <a:rPr lang="en-IN" sz="1700" dirty="0"/>
              <a:t>(</a:t>
            </a:r>
            <a:r>
              <a:rPr lang="en-IN" sz="1700" dirty="0" err="1"/>
              <a:t>serializers.Serializer</a:t>
            </a:r>
            <a:r>
              <a:rPr lang="en-IN" sz="1700" dirty="0"/>
              <a:t>):</a:t>
            </a:r>
          </a:p>
          <a:p>
            <a:r>
              <a:rPr lang="en-IN" sz="1700" dirty="0"/>
              <a:t>    title = </a:t>
            </a:r>
            <a:r>
              <a:rPr lang="en-IN" sz="1700" dirty="0" err="1"/>
              <a:t>serializers.CharField</a:t>
            </a:r>
            <a:r>
              <a:rPr lang="en-IN" sz="1700" dirty="0"/>
              <a:t>()</a:t>
            </a:r>
          </a:p>
          <a:p>
            <a:r>
              <a:rPr lang="en-IN" sz="1700" dirty="0"/>
              <a:t>    </a:t>
            </a:r>
            <a:r>
              <a:rPr lang="en-IN" sz="1700" dirty="0" err="1"/>
              <a:t>publication_date</a:t>
            </a:r>
            <a:r>
              <a:rPr lang="en-IN" sz="1700" dirty="0"/>
              <a:t> = </a:t>
            </a:r>
            <a:r>
              <a:rPr lang="en-IN" sz="1700" dirty="0" err="1"/>
              <a:t>serializers.DateField</a:t>
            </a:r>
            <a:r>
              <a:rPr lang="en-IN" sz="1700" dirty="0"/>
              <a:t>()</a:t>
            </a:r>
          </a:p>
          <a:p>
            <a:r>
              <a:rPr lang="en-IN" sz="1700" dirty="0"/>
              <a:t>    </a:t>
            </a:r>
            <a:r>
              <a:rPr lang="en-IN" sz="1700" dirty="0" err="1"/>
              <a:t>isbn</a:t>
            </a:r>
            <a:r>
              <a:rPr lang="en-IN" sz="1700" dirty="0"/>
              <a:t> = </a:t>
            </a:r>
            <a:r>
              <a:rPr lang="en-IN" sz="1700" dirty="0" err="1"/>
              <a:t>serializers.CharField</a:t>
            </a:r>
            <a:r>
              <a:rPr lang="en-IN" sz="1700" dirty="0"/>
              <a:t>()</a:t>
            </a:r>
          </a:p>
          <a:p>
            <a:r>
              <a:rPr lang="en-IN" sz="1700" dirty="0"/>
              <a:t>    publisher = </a:t>
            </a:r>
            <a:r>
              <a:rPr lang="en-IN" sz="1700" dirty="0" err="1"/>
              <a:t>PublisherSerializer</a:t>
            </a:r>
            <a:r>
              <a:rPr lang="en-IN" sz="1700" dirty="0"/>
              <a:t>()</a:t>
            </a:r>
          </a:p>
        </p:txBody>
      </p:sp>
    </p:spTree>
    <p:extLst>
      <p:ext uri="{BB962C8B-B14F-4D97-AF65-F5344CB8AC3E}">
        <p14:creationId xmlns:p14="http://schemas.microsoft.com/office/powerpoint/2010/main" val="3955041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3A25-133E-4C9F-83E7-2874FE1FBB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D9642E-0B65-4F3B-BA6E-A662063A7B11}"/>
              </a:ext>
            </a:extLst>
          </p:cNvPr>
          <p:cNvSpPr>
            <a:spLocks noGrp="1"/>
          </p:cNvSpPr>
          <p:nvPr>
            <p:ph idx="1"/>
          </p:nvPr>
        </p:nvSpPr>
        <p:spPr/>
        <p:txBody>
          <a:bodyPr>
            <a:normAutofit/>
          </a:bodyPr>
          <a:lstStyle/>
          <a:p>
            <a:r>
              <a:rPr lang="en-US" b="1" dirty="0"/>
              <a:t>3. Open </a:t>
            </a:r>
            <a:r>
              <a:rPr lang="en-US" b="1" dirty="0" err="1"/>
              <a:t>bookr</a:t>
            </a:r>
            <a:r>
              <a:rPr lang="en-US" b="1" dirty="0"/>
              <a:t>/reviews/api_views.py, remove any pre-existing code, and add the following code: </a:t>
            </a:r>
          </a:p>
          <a:p>
            <a:r>
              <a:rPr lang="en-US" sz="1500" dirty="0"/>
              <a:t>from </a:t>
            </a:r>
            <a:r>
              <a:rPr lang="en-US" sz="1500" dirty="0" err="1"/>
              <a:t>rest_framework.decorators</a:t>
            </a:r>
            <a:r>
              <a:rPr lang="en-US" sz="1500" dirty="0"/>
              <a:t> import </a:t>
            </a:r>
            <a:r>
              <a:rPr lang="en-US" sz="1500" dirty="0" err="1"/>
              <a:t>api_view</a:t>
            </a:r>
            <a:endParaRPr lang="en-US" sz="1500" dirty="0"/>
          </a:p>
          <a:p>
            <a:r>
              <a:rPr lang="en-US" sz="1500" dirty="0"/>
              <a:t>from </a:t>
            </a:r>
            <a:r>
              <a:rPr lang="en-US" sz="1500" dirty="0" err="1"/>
              <a:t>rest_framework.response</a:t>
            </a:r>
            <a:r>
              <a:rPr lang="en-US" sz="1500" dirty="0"/>
              <a:t> import Response</a:t>
            </a:r>
          </a:p>
          <a:p>
            <a:r>
              <a:rPr lang="en-US" sz="1500" dirty="0"/>
              <a:t>from .models import Book</a:t>
            </a:r>
          </a:p>
          <a:p>
            <a:r>
              <a:rPr lang="en-US" sz="1500" dirty="0"/>
              <a:t>from .serializers import </a:t>
            </a:r>
            <a:r>
              <a:rPr lang="en-US" sz="1500" dirty="0" err="1"/>
              <a:t>BookSerializer</a:t>
            </a:r>
            <a:endParaRPr lang="en-US" sz="1500" dirty="0"/>
          </a:p>
          <a:p>
            <a:r>
              <a:rPr lang="en-US" sz="1500" dirty="0"/>
              <a:t>@api_view(['GET'])</a:t>
            </a:r>
          </a:p>
          <a:p>
            <a:r>
              <a:rPr lang="en-US" sz="1500" dirty="0"/>
              <a:t>def </a:t>
            </a:r>
            <a:r>
              <a:rPr lang="en-US" sz="1500" dirty="0" err="1"/>
              <a:t>all_books</a:t>
            </a:r>
            <a:r>
              <a:rPr lang="en-US" sz="1500" dirty="0"/>
              <a:t>(request):</a:t>
            </a:r>
          </a:p>
          <a:p>
            <a:r>
              <a:rPr lang="en-US" sz="1500" dirty="0"/>
              <a:t>    books = </a:t>
            </a:r>
            <a:r>
              <a:rPr lang="en-US" sz="1500" dirty="0" err="1"/>
              <a:t>Book.objects.all</a:t>
            </a:r>
            <a:r>
              <a:rPr lang="en-US" sz="1500" dirty="0"/>
              <a:t>()</a:t>
            </a:r>
          </a:p>
          <a:p>
            <a:r>
              <a:rPr lang="en-US" sz="1500" dirty="0"/>
              <a:t>    </a:t>
            </a:r>
            <a:r>
              <a:rPr lang="en-US" sz="1500" dirty="0" err="1"/>
              <a:t>book_serializer</a:t>
            </a:r>
            <a:r>
              <a:rPr lang="en-US" sz="1500" dirty="0"/>
              <a:t> = </a:t>
            </a:r>
            <a:r>
              <a:rPr lang="en-US" sz="1500" dirty="0" err="1"/>
              <a:t>BookSerializer</a:t>
            </a:r>
            <a:r>
              <a:rPr lang="en-US" sz="1500" dirty="0"/>
              <a:t>(books, many=True)</a:t>
            </a:r>
          </a:p>
          <a:p>
            <a:pPr marL="201168" lvl="1" indent="0">
              <a:buNone/>
            </a:pPr>
            <a:r>
              <a:rPr lang="en-US" sz="1500" dirty="0"/>
              <a:t>  return Response(</a:t>
            </a:r>
            <a:r>
              <a:rPr lang="en-US" sz="1500" dirty="0" err="1"/>
              <a:t>book_serializer.data</a:t>
            </a:r>
            <a:r>
              <a:rPr lang="en-US" sz="1500" dirty="0"/>
              <a:t>)</a:t>
            </a:r>
            <a:endParaRPr lang="en-IN" sz="1500" dirty="0"/>
          </a:p>
        </p:txBody>
      </p:sp>
    </p:spTree>
    <p:extLst>
      <p:ext uri="{BB962C8B-B14F-4D97-AF65-F5344CB8AC3E}">
        <p14:creationId xmlns:p14="http://schemas.microsoft.com/office/powerpoint/2010/main" val="1931344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86F4D-F172-41D6-9CA7-83953A6DA6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C8691A-14E8-41D0-A0B4-5C3D9824A7A8}"/>
              </a:ext>
            </a:extLst>
          </p:cNvPr>
          <p:cNvSpPr>
            <a:spLocks noGrp="1"/>
          </p:cNvSpPr>
          <p:nvPr>
            <p:ph idx="1"/>
          </p:nvPr>
        </p:nvSpPr>
        <p:spPr/>
        <p:txBody>
          <a:bodyPr>
            <a:normAutofit/>
          </a:bodyPr>
          <a:lstStyle/>
          <a:p>
            <a:r>
              <a:rPr lang="en-US" b="1" dirty="0"/>
              <a:t>4. Open </a:t>
            </a:r>
            <a:r>
              <a:rPr lang="en-US" b="1" dirty="0" err="1"/>
              <a:t>bookr</a:t>
            </a:r>
            <a:r>
              <a:rPr lang="en-US" b="1" dirty="0"/>
              <a:t>/reviews/urls.py, remove the previous example path for </a:t>
            </a:r>
            <a:r>
              <a:rPr lang="en-US" b="1" dirty="0" err="1"/>
              <a:t>first_api_view</a:t>
            </a:r>
            <a:r>
              <a:rPr lang="en-US" b="1" dirty="0"/>
              <a:t>, and add the </a:t>
            </a:r>
            <a:r>
              <a:rPr lang="en-US" b="1" dirty="0" err="1"/>
              <a:t>all_books</a:t>
            </a:r>
            <a:r>
              <a:rPr lang="en-US" b="1" dirty="0"/>
              <a:t> path, as shown in the following code: </a:t>
            </a:r>
          </a:p>
          <a:p>
            <a:r>
              <a:rPr lang="en-US" dirty="0"/>
              <a:t>from </a:t>
            </a:r>
            <a:r>
              <a:rPr lang="en-US" dirty="0" err="1"/>
              <a:t>django.urls</a:t>
            </a:r>
            <a:r>
              <a:rPr lang="en-US" dirty="0"/>
              <a:t> import path</a:t>
            </a:r>
          </a:p>
          <a:p>
            <a:r>
              <a:rPr lang="en-US" dirty="0"/>
              <a:t>from . import views, </a:t>
            </a:r>
            <a:r>
              <a:rPr lang="en-US" dirty="0" err="1"/>
              <a:t>api_views</a:t>
            </a:r>
            <a:endParaRPr lang="en-US" dirty="0"/>
          </a:p>
          <a:p>
            <a:r>
              <a:rPr lang="en-US" dirty="0" err="1"/>
              <a:t>urlpatterns</a:t>
            </a:r>
            <a:r>
              <a:rPr lang="en-US" dirty="0"/>
              <a:t> = [path('</a:t>
            </a:r>
            <a:r>
              <a:rPr lang="en-US" dirty="0" err="1"/>
              <a:t>api</a:t>
            </a:r>
            <a:r>
              <a:rPr lang="en-US" dirty="0"/>
              <a:t>/</a:t>
            </a:r>
            <a:r>
              <a:rPr lang="en-US" dirty="0" err="1"/>
              <a:t>all_books</a:t>
            </a:r>
            <a:r>
              <a:rPr lang="en-US" dirty="0"/>
              <a:t>/’, </a:t>
            </a:r>
            <a:r>
              <a:rPr lang="en-US" dirty="0" err="1"/>
              <a:t>api_views.all_books</a:t>
            </a:r>
            <a:r>
              <a:rPr lang="en-US" dirty="0"/>
              <a:t>, name= '</a:t>
            </a:r>
            <a:r>
              <a:rPr lang="en-US" dirty="0" err="1"/>
              <a:t>all_books</a:t>
            </a:r>
            <a:r>
              <a:rPr lang="en-US" dirty="0"/>
              <a:t>’),]</a:t>
            </a:r>
          </a:p>
          <a:p>
            <a:r>
              <a:rPr lang="en-US" b="1" dirty="0"/>
              <a:t>5. Once all the code is added, run the Django server with the python manage.py </a:t>
            </a:r>
            <a:r>
              <a:rPr lang="en-US" b="1" dirty="0" err="1"/>
              <a:t>runserver</a:t>
            </a:r>
            <a:r>
              <a:rPr lang="en-US" b="1" dirty="0"/>
              <a:t> command and navigate to http://127.0.0.1:8000/api/all_books/.</a:t>
            </a:r>
            <a:endParaRPr lang="en-IN" b="1" dirty="0"/>
          </a:p>
        </p:txBody>
      </p:sp>
    </p:spTree>
    <p:extLst>
      <p:ext uri="{BB962C8B-B14F-4D97-AF65-F5344CB8AC3E}">
        <p14:creationId xmlns:p14="http://schemas.microsoft.com/office/powerpoint/2010/main" val="3195964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C88C0D-04D0-4879-B719-B6A4C6DBAD6C}"/>
              </a:ext>
            </a:extLst>
          </p:cNvPr>
          <p:cNvPicPr>
            <a:picLocks noChangeAspect="1"/>
          </p:cNvPicPr>
          <p:nvPr/>
        </p:nvPicPr>
        <p:blipFill>
          <a:blip r:embed="rId2"/>
          <a:stretch>
            <a:fillRect/>
          </a:stretch>
        </p:blipFill>
        <p:spPr>
          <a:xfrm>
            <a:off x="1373776" y="1011981"/>
            <a:ext cx="8557625" cy="5168467"/>
          </a:xfrm>
          <a:prstGeom prst="rect">
            <a:avLst/>
          </a:prstGeom>
        </p:spPr>
      </p:pic>
    </p:spTree>
    <p:extLst>
      <p:ext uri="{BB962C8B-B14F-4D97-AF65-F5344CB8AC3E}">
        <p14:creationId xmlns:p14="http://schemas.microsoft.com/office/powerpoint/2010/main" val="2399316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9046-F9FD-45D9-BE1E-12876F758040}"/>
              </a:ext>
            </a:extLst>
          </p:cNvPr>
          <p:cNvSpPr>
            <a:spLocks noGrp="1"/>
          </p:cNvSpPr>
          <p:nvPr>
            <p:ph type="title"/>
          </p:nvPr>
        </p:nvSpPr>
        <p:spPr/>
        <p:txBody>
          <a:bodyPr/>
          <a:lstStyle/>
          <a:p>
            <a:r>
              <a:rPr lang="en-US" dirty="0"/>
              <a:t>Class-based API views and generic views</a:t>
            </a:r>
            <a:endParaRPr lang="en-IN" dirty="0"/>
          </a:p>
        </p:txBody>
      </p:sp>
      <p:sp>
        <p:nvSpPr>
          <p:cNvPr id="3" name="Content Placeholder 2">
            <a:extLst>
              <a:ext uri="{FF2B5EF4-FFF2-40B4-BE49-F238E27FC236}">
                <a16:creationId xmlns:a16="http://schemas.microsoft.com/office/drawing/2014/main" id="{8E2BD827-4C55-4D56-970C-4234972B4FB0}"/>
              </a:ext>
            </a:extLst>
          </p:cNvPr>
          <p:cNvSpPr>
            <a:spLocks noGrp="1"/>
          </p:cNvSpPr>
          <p:nvPr>
            <p:ph idx="1"/>
          </p:nvPr>
        </p:nvSpPr>
        <p:spPr/>
        <p:txBody>
          <a:bodyPr/>
          <a:lstStyle/>
          <a:p>
            <a:r>
              <a:rPr lang="en-US" dirty="0"/>
              <a:t>We can also write class-based views for REST APIs. </a:t>
            </a:r>
          </a:p>
          <a:p>
            <a:endParaRPr lang="en-US" dirty="0"/>
          </a:p>
          <a:p>
            <a:r>
              <a:rPr lang="en-US" dirty="0"/>
              <a:t>Class-based views are the preferred way of writing views among developers, as a lot can be achieved by writing very little code.</a:t>
            </a:r>
            <a:endParaRPr lang="en-IN" dirty="0"/>
          </a:p>
        </p:txBody>
      </p:sp>
    </p:spTree>
    <p:extLst>
      <p:ext uri="{BB962C8B-B14F-4D97-AF65-F5344CB8AC3E}">
        <p14:creationId xmlns:p14="http://schemas.microsoft.com/office/powerpoint/2010/main" val="3575566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85E9-1767-4BD1-A918-9B6710818958}"/>
              </a:ext>
            </a:extLst>
          </p:cNvPr>
          <p:cNvSpPr>
            <a:spLocks noGrp="1"/>
          </p:cNvSpPr>
          <p:nvPr>
            <p:ph type="title"/>
          </p:nvPr>
        </p:nvSpPr>
        <p:spPr/>
        <p:txBody>
          <a:bodyPr>
            <a:normAutofit/>
          </a:bodyPr>
          <a:lstStyle/>
          <a:p>
            <a:r>
              <a:rPr lang="en-US" dirty="0"/>
              <a:t>Creating class-based API views and model serializers</a:t>
            </a:r>
            <a:endParaRPr lang="en-IN" dirty="0"/>
          </a:p>
        </p:txBody>
      </p:sp>
      <p:sp>
        <p:nvSpPr>
          <p:cNvPr id="3" name="Content Placeholder 2">
            <a:extLst>
              <a:ext uri="{FF2B5EF4-FFF2-40B4-BE49-F238E27FC236}">
                <a16:creationId xmlns:a16="http://schemas.microsoft.com/office/drawing/2014/main" id="{1FFCF1AF-5C86-48E3-8D7E-37EACEA82D49}"/>
              </a:ext>
            </a:extLst>
          </p:cNvPr>
          <p:cNvSpPr>
            <a:spLocks noGrp="1"/>
          </p:cNvSpPr>
          <p:nvPr>
            <p:ph idx="1"/>
          </p:nvPr>
        </p:nvSpPr>
        <p:spPr/>
        <p:txBody>
          <a:bodyPr>
            <a:normAutofit fontScale="47500" lnSpcReduction="20000"/>
          </a:bodyPr>
          <a:lstStyle/>
          <a:p>
            <a:r>
              <a:rPr lang="en-IN" sz="3400" b="1" dirty="0"/>
              <a:t>1. Open the bookr/reviews/serializers.py file, remove any pre-existing code, and replace it with the following code: </a:t>
            </a:r>
          </a:p>
          <a:p>
            <a:r>
              <a:rPr lang="en-IN" dirty="0"/>
              <a:t>from </a:t>
            </a:r>
            <a:r>
              <a:rPr lang="en-IN" dirty="0" err="1"/>
              <a:t>rest_framework</a:t>
            </a:r>
            <a:r>
              <a:rPr lang="en-IN" dirty="0"/>
              <a:t> import serializers</a:t>
            </a:r>
          </a:p>
          <a:p>
            <a:r>
              <a:rPr lang="en-IN" dirty="0"/>
              <a:t>from .models import Book, Publisher</a:t>
            </a:r>
          </a:p>
          <a:p>
            <a:r>
              <a:rPr lang="en-IN" dirty="0" err="1"/>
              <a:t>classPublisherSerializer</a:t>
            </a:r>
            <a:r>
              <a:rPr lang="en-IN" dirty="0"/>
              <a:t>(</a:t>
            </a:r>
          </a:p>
          <a:p>
            <a:r>
              <a:rPr lang="en-IN" dirty="0"/>
              <a:t>    </a:t>
            </a:r>
            <a:r>
              <a:rPr lang="en-IN" dirty="0" err="1"/>
              <a:t>serializers.ModelSerializer</a:t>
            </a:r>
            <a:r>
              <a:rPr lang="en-IN" dirty="0"/>
              <a:t>):</a:t>
            </a:r>
          </a:p>
          <a:p>
            <a:r>
              <a:rPr lang="en-IN" dirty="0" err="1"/>
              <a:t>classMeta</a:t>
            </a:r>
            <a:r>
              <a:rPr lang="en-IN" dirty="0"/>
              <a:t>:</a:t>
            </a:r>
          </a:p>
          <a:p>
            <a:r>
              <a:rPr lang="en-IN" dirty="0"/>
              <a:t>        model = Publisher</a:t>
            </a:r>
          </a:p>
          <a:p>
            <a:r>
              <a:rPr lang="en-IN" dirty="0"/>
              <a:t>        fields = ['name', 'website', 'email']</a:t>
            </a:r>
          </a:p>
          <a:p>
            <a:r>
              <a:rPr lang="en-IN" dirty="0" err="1"/>
              <a:t>classBookSerializer</a:t>
            </a:r>
            <a:r>
              <a:rPr lang="en-IN" dirty="0"/>
              <a:t>(</a:t>
            </a:r>
            <a:r>
              <a:rPr lang="en-IN" dirty="0" err="1"/>
              <a:t>serializers.ModelSerializer</a:t>
            </a:r>
            <a:r>
              <a:rPr lang="en-IN" dirty="0"/>
              <a:t>):</a:t>
            </a:r>
          </a:p>
          <a:p>
            <a:r>
              <a:rPr lang="en-IN" dirty="0"/>
              <a:t>    publisher = </a:t>
            </a:r>
            <a:r>
              <a:rPr lang="en-IN" dirty="0" err="1"/>
              <a:t>PublisherSerializer</a:t>
            </a:r>
            <a:r>
              <a:rPr lang="en-IN" dirty="0"/>
              <a:t>()</a:t>
            </a:r>
          </a:p>
          <a:p>
            <a:r>
              <a:rPr lang="en-US" dirty="0"/>
              <a:t>class Meta:</a:t>
            </a:r>
          </a:p>
          <a:p>
            <a:r>
              <a:rPr lang="en-US" dirty="0"/>
              <a:t>        model = Book</a:t>
            </a:r>
          </a:p>
          <a:p>
            <a:r>
              <a:rPr lang="en-US" dirty="0"/>
              <a:t>        fields = ['title', '</a:t>
            </a:r>
            <a:r>
              <a:rPr lang="en-US" dirty="0" err="1"/>
              <a:t>publication_date</a:t>
            </a:r>
            <a:r>
              <a:rPr lang="en-US" dirty="0"/>
              <a:t>', '</a:t>
            </a:r>
            <a:r>
              <a:rPr lang="en-US" dirty="0" err="1"/>
              <a:t>isbn</a:t>
            </a:r>
            <a:r>
              <a:rPr lang="en-US" dirty="0"/>
              <a:t>', </a:t>
            </a:r>
          </a:p>
          <a:p>
            <a:r>
              <a:rPr lang="en-US" dirty="0"/>
              <a:t>'publisher']</a:t>
            </a:r>
            <a:endParaRPr lang="en-IN" dirty="0"/>
          </a:p>
          <a:p>
            <a:endParaRPr lang="en-IN" dirty="0"/>
          </a:p>
        </p:txBody>
      </p:sp>
    </p:spTree>
    <p:extLst>
      <p:ext uri="{BB962C8B-B14F-4D97-AF65-F5344CB8AC3E}">
        <p14:creationId xmlns:p14="http://schemas.microsoft.com/office/powerpoint/2010/main" val="1545289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4F446-175B-4F26-91BD-16F61199D4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7C2D9C4-DE50-4CB9-BD36-BC2396375481}"/>
              </a:ext>
            </a:extLst>
          </p:cNvPr>
          <p:cNvSpPr>
            <a:spLocks noGrp="1"/>
          </p:cNvSpPr>
          <p:nvPr>
            <p:ph idx="1"/>
          </p:nvPr>
        </p:nvSpPr>
        <p:spPr/>
        <p:txBody>
          <a:bodyPr/>
          <a:lstStyle/>
          <a:p>
            <a:r>
              <a:rPr lang="en-IN" b="1" dirty="0"/>
              <a:t>2. Next, open </a:t>
            </a:r>
            <a:r>
              <a:rPr lang="en-IN" b="1" dirty="0" err="1"/>
              <a:t>bookr</a:t>
            </a:r>
            <a:r>
              <a:rPr lang="en-IN" b="1" dirty="0"/>
              <a:t>/reviews/api_views.py, remove any pre-existing code, and add the following code: </a:t>
            </a:r>
          </a:p>
          <a:p>
            <a:r>
              <a:rPr lang="en-IN" dirty="0"/>
              <a:t>from </a:t>
            </a:r>
            <a:r>
              <a:rPr lang="en-IN" dirty="0" err="1"/>
              <a:t>rest_framework</a:t>
            </a:r>
            <a:r>
              <a:rPr lang="en-IN" dirty="0"/>
              <a:t> import generics</a:t>
            </a:r>
          </a:p>
          <a:p>
            <a:r>
              <a:rPr lang="en-IN" dirty="0"/>
              <a:t>from .models import Book</a:t>
            </a:r>
          </a:p>
          <a:p>
            <a:r>
              <a:rPr lang="en-IN" dirty="0"/>
              <a:t>from .serializers import </a:t>
            </a:r>
            <a:r>
              <a:rPr lang="en-IN" dirty="0" err="1"/>
              <a:t>BookSerializer</a:t>
            </a:r>
            <a:endParaRPr lang="en-IN" dirty="0"/>
          </a:p>
          <a:p>
            <a:r>
              <a:rPr lang="en-IN" dirty="0"/>
              <a:t>class </a:t>
            </a:r>
            <a:r>
              <a:rPr lang="en-IN" dirty="0" err="1"/>
              <a:t>AllBooks</a:t>
            </a:r>
            <a:r>
              <a:rPr lang="en-IN" dirty="0"/>
              <a:t>(</a:t>
            </a:r>
            <a:r>
              <a:rPr lang="en-IN" dirty="0" err="1"/>
              <a:t>generics.ListAPIView</a:t>
            </a:r>
            <a:r>
              <a:rPr lang="en-IN" dirty="0"/>
              <a:t>):</a:t>
            </a:r>
          </a:p>
          <a:p>
            <a:r>
              <a:rPr lang="en-IN" dirty="0"/>
              <a:t>    </a:t>
            </a:r>
            <a:r>
              <a:rPr lang="en-IN" dirty="0" err="1"/>
              <a:t>queryset</a:t>
            </a:r>
            <a:r>
              <a:rPr lang="en-IN" dirty="0"/>
              <a:t> = </a:t>
            </a:r>
            <a:r>
              <a:rPr lang="en-IN" dirty="0" err="1"/>
              <a:t>Book.objects.all</a:t>
            </a:r>
            <a:r>
              <a:rPr lang="en-IN" dirty="0"/>
              <a:t>()</a:t>
            </a:r>
          </a:p>
          <a:p>
            <a:r>
              <a:rPr lang="en-IN" dirty="0"/>
              <a:t>    </a:t>
            </a:r>
            <a:r>
              <a:rPr lang="en-IN" dirty="0" err="1"/>
              <a:t>serializer_class</a:t>
            </a:r>
            <a:r>
              <a:rPr lang="en-IN" dirty="0"/>
              <a:t> = </a:t>
            </a:r>
            <a:r>
              <a:rPr lang="en-IN" dirty="0" err="1"/>
              <a:t>BookSerializer</a:t>
            </a:r>
            <a:endParaRPr lang="en-IN" dirty="0"/>
          </a:p>
        </p:txBody>
      </p:sp>
    </p:spTree>
    <p:extLst>
      <p:ext uri="{BB962C8B-B14F-4D97-AF65-F5344CB8AC3E}">
        <p14:creationId xmlns:p14="http://schemas.microsoft.com/office/powerpoint/2010/main" val="1706142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89A6-B50A-4813-94AD-CD3C60D159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9EFE71-F8EA-4BAC-8AB9-8A1D7A3CFE46}"/>
              </a:ext>
            </a:extLst>
          </p:cNvPr>
          <p:cNvSpPr>
            <a:spLocks noGrp="1"/>
          </p:cNvSpPr>
          <p:nvPr>
            <p:ph idx="1"/>
          </p:nvPr>
        </p:nvSpPr>
        <p:spPr/>
        <p:txBody>
          <a:bodyPr/>
          <a:lstStyle/>
          <a:p>
            <a:r>
              <a:rPr lang="en-US" b="1" dirty="0"/>
              <a:t>3. Open the bookr/reviews/urls.py file and modify the /</a:t>
            </a:r>
            <a:r>
              <a:rPr lang="en-US" b="1" dirty="0" err="1"/>
              <a:t>api</a:t>
            </a:r>
            <a:r>
              <a:rPr lang="en-US" b="1" dirty="0"/>
              <a:t>/</a:t>
            </a:r>
            <a:r>
              <a:rPr lang="en-US" b="1" dirty="0" err="1"/>
              <a:t>all_books</a:t>
            </a:r>
            <a:r>
              <a:rPr lang="en-US" b="1" dirty="0"/>
              <a:t> API path to include the new class-based view as follows:</a:t>
            </a:r>
          </a:p>
          <a:p>
            <a:r>
              <a:rPr lang="en-US" dirty="0" err="1"/>
              <a:t>urlpatterns</a:t>
            </a:r>
            <a:r>
              <a:rPr lang="en-US" dirty="0"/>
              <a:t> = [path('</a:t>
            </a:r>
            <a:r>
              <a:rPr lang="en-US" dirty="0" err="1"/>
              <a:t>api</a:t>
            </a:r>
            <a:r>
              <a:rPr lang="en-US" dirty="0"/>
              <a:t>/</a:t>
            </a:r>
            <a:r>
              <a:rPr lang="en-US" dirty="0" err="1"/>
              <a:t>all_books</a:t>
            </a:r>
            <a:r>
              <a:rPr lang="en-US" dirty="0"/>
              <a:t>/’, </a:t>
            </a:r>
            <a:r>
              <a:rPr lang="en-US" dirty="0" err="1"/>
              <a:t>api_views.AllBooks.as_view</a:t>
            </a:r>
            <a:r>
              <a:rPr lang="en-US" dirty="0"/>
              <a:t>(), </a:t>
            </a:r>
            <a:r>
              <a:rPr lang="en-IN" dirty="0"/>
              <a:t>name= '</a:t>
            </a:r>
            <a:r>
              <a:rPr lang="en-IN" dirty="0" err="1"/>
              <a:t>all_books</a:t>
            </a:r>
            <a:r>
              <a:rPr lang="en-IN" dirty="0"/>
              <a:t>’),]</a:t>
            </a:r>
          </a:p>
          <a:p>
            <a:endParaRPr lang="en-US" dirty="0"/>
          </a:p>
          <a:p>
            <a:r>
              <a:rPr lang="en-IN" b="1" dirty="0"/>
              <a:t>4. </a:t>
            </a:r>
            <a:r>
              <a:rPr lang="en-US" b="1" dirty="0"/>
              <a:t>python manage.py </a:t>
            </a:r>
            <a:r>
              <a:rPr lang="en-US" b="1" dirty="0" err="1"/>
              <a:t>runserver</a:t>
            </a:r>
            <a:r>
              <a:rPr lang="en-US" b="1" dirty="0"/>
              <a:t> command, and then open the API at http://127.0.0.1:8000/api/all_books/ in the web browser.</a:t>
            </a:r>
            <a:endParaRPr lang="en-IN" b="1" dirty="0"/>
          </a:p>
        </p:txBody>
      </p:sp>
    </p:spTree>
    <p:extLst>
      <p:ext uri="{BB962C8B-B14F-4D97-AF65-F5344CB8AC3E}">
        <p14:creationId xmlns:p14="http://schemas.microsoft.com/office/powerpoint/2010/main" val="1502326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AF3543-C2BB-45AD-9FE0-07D408D4DD38}"/>
              </a:ext>
            </a:extLst>
          </p:cNvPr>
          <p:cNvPicPr>
            <a:picLocks noChangeAspect="1"/>
          </p:cNvPicPr>
          <p:nvPr/>
        </p:nvPicPr>
        <p:blipFill>
          <a:blip r:embed="rId2"/>
          <a:stretch>
            <a:fillRect/>
          </a:stretch>
        </p:blipFill>
        <p:spPr>
          <a:xfrm>
            <a:off x="923971" y="558801"/>
            <a:ext cx="8426481" cy="5021020"/>
          </a:xfrm>
          <a:prstGeom prst="rect">
            <a:avLst/>
          </a:prstGeom>
        </p:spPr>
      </p:pic>
    </p:spTree>
    <p:extLst>
      <p:ext uri="{BB962C8B-B14F-4D97-AF65-F5344CB8AC3E}">
        <p14:creationId xmlns:p14="http://schemas.microsoft.com/office/powerpoint/2010/main" val="398386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1D88-C2A7-427C-A7A3-5BF47F0DC6CD}"/>
              </a:ext>
            </a:extLst>
          </p:cNvPr>
          <p:cNvSpPr>
            <a:spLocks noGrp="1"/>
          </p:cNvSpPr>
          <p:nvPr>
            <p:ph type="title"/>
          </p:nvPr>
        </p:nvSpPr>
        <p:spPr/>
        <p:txBody>
          <a:bodyPr/>
          <a:lstStyle/>
          <a:p>
            <a:r>
              <a:rPr lang="en-US" dirty="0"/>
              <a:t>Creating an API endpoint for a top contributors </a:t>
            </a:r>
            <a:r>
              <a:rPr lang="en-US" dirty="0" err="1"/>
              <a:t>pageShould</a:t>
            </a:r>
            <a:endParaRPr lang="en-IN" dirty="0"/>
          </a:p>
        </p:txBody>
      </p:sp>
      <p:sp>
        <p:nvSpPr>
          <p:cNvPr id="3" name="Content Placeholder 2">
            <a:extLst>
              <a:ext uri="{FF2B5EF4-FFF2-40B4-BE49-F238E27FC236}">
                <a16:creationId xmlns:a16="http://schemas.microsoft.com/office/drawing/2014/main" id="{188BB1E3-BEF1-445A-B012-6418467B9E38}"/>
              </a:ext>
            </a:extLst>
          </p:cNvPr>
          <p:cNvSpPr>
            <a:spLocks noGrp="1"/>
          </p:cNvSpPr>
          <p:nvPr>
            <p:ph idx="1"/>
          </p:nvPr>
        </p:nvSpPr>
        <p:spPr/>
        <p:txBody>
          <a:bodyPr>
            <a:normAutofit/>
          </a:bodyPr>
          <a:lstStyle/>
          <a:p>
            <a:r>
              <a:rPr lang="en-US" dirty="0"/>
              <a:t>Imagine that your team decides to create a web page that displays the top contributors(authors, coauthors, and editors) in your database. They decide to enlist the services of an external developer to create an app in ReactJS. To integrate with the Django backend, the developer will need an endpoint that provides the following:</a:t>
            </a:r>
          </a:p>
          <a:p>
            <a:pPr>
              <a:buFont typeface="Wingdings" panose="05000000000000000000" pitchFamily="2" charset="2"/>
              <a:buChar char="§"/>
            </a:pPr>
            <a:r>
              <a:rPr lang="en-US" dirty="0"/>
              <a:t>A list of all contributors in the database</a:t>
            </a:r>
          </a:p>
          <a:p>
            <a:pPr>
              <a:buFont typeface="Wingdings" panose="05000000000000000000" pitchFamily="2" charset="2"/>
              <a:buChar char="§"/>
            </a:pPr>
            <a:r>
              <a:rPr lang="en-US" dirty="0"/>
              <a:t>For each contributor, a list of all books they contributed to</a:t>
            </a:r>
          </a:p>
          <a:p>
            <a:pPr>
              <a:buFont typeface="Wingdings" panose="05000000000000000000" pitchFamily="2" charset="2"/>
              <a:buChar char="§"/>
            </a:pPr>
            <a:r>
              <a:rPr lang="en-US" dirty="0"/>
              <a:t>For each contributor, the number of books they contributed to</a:t>
            </a:r>
          </a:p>
          <a:p>
            <a:pPr>
              <a:buFont typeface="Wingdings" panose="05000000000000000000" pitchFamily="2" charset="2"/>
              <a:buChar char="§"/>
            </a:pPr>
            <a:r>
              <a:rPr lang="en-US" dirty="0"/>
              <a:t>For each book they contributed to, their role in the book</a:t>
            </a:r>
            <a:endParaRPr lang="en-IN" dirty="0"/>
          </a:p>
        </p:txBody>
      </p:sp>
    </p:spTree>
    <p:extLst>
      <p:ext uri="{BB962C8B-B14F-4D97-AF65-F5344CB8AC3E}">
        <p14:creationId xmlns:p14="http://schemas.microsoft.com/office/powerpoint/2010/main" val="204730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FD854-FC68-4100-95B3-542A3DDF235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D1ACF8A2-F4F1-4578-8E7C-DD7314D12FC4}"/>
              </a:ext>
            </a:extLst>
          </p:cNvPr>
          <p:cNvSpPr>
            <a:spLocks noGrp="1"/>
          </p:cNvSpPr>
          <p:nvPr>
            <p:ph idx="1"/>
          </p:nvPr>
        </p:nvSpPr>
        <p:spPr/>
        <p:txBody>
          <a:bodyPr/>
          <a:lstStyle/>
          <a:p>
            <a:r>
              <a:rPr lang="en-US" dirty="0"/>
              <a:t>To perform this task, execute the following steps:</a:t>
            </a:r>
          </a:p>
          <a:p>
            <a:pPr>
              <a:buFont typeface="Wingdings" panose="05000000000000000000" pitchFamily="2" charset="2"/>
              <a:buChar char="§"/>
            </a:pPr>
            <a:r>
              <a:rPr lang="en-US" dirty="0"/>
              <a:t>Add a method to the Contributor class that returns the number of contributions made.</a:t>
            </a:r>
          </a:p>
          <a:p>
            <a:pPr>
              <a:buFont typeface="Wingdings" panose="05000000000000000000" pitchFamily="2" charset="2"/>
              <a:buChar char="§"/>
            </a:pPr>
            <a:r>
              <a:rPr lang="en-US" dirty="0"/>
              <a:t>Add </a:t>
            </a:r>
            <a:r>
              <a:rPr lang="en-US" dirty="0" err="1"/>
              <a:t>ContributionSerializer</a:t>
            </a:r>
            <a:r>
              <a:rPr lang="en-US" dirty="0"/>
              <a:t>, which serializes the </a:t>
            </a:r>
            <a:r>
              <a:rPr lang="en-US" dirty="0" err="1"/>
              <a:t>BookContribution</a:t>
            </a:r>
            <a:r>
              <a:rPr lang="en-US" dirty="0"/>
              <a:t> model.</a:t>
            </a:r>
          </a:p>
          <a:p>
            <a:pPr>
              <a:buFont typeface="Wingdings" panose="05000000000000000000" pitchFamily="2" charset="2"/>
              <a:buChar char="§"/>
            </a:pPr>
            <a:r>
              <a:rPr lang="en-US" dirty="0"/>
              <a:t>Add </a:t>
            </a:r>
            <a:r>
              <a:rPr lang="en-US" dirty="0" err="1"/>
              <a:t>ContributorSerializer</a:t>
            </a:r>
            <a:r>
              <a:rPr lang="en-US" dirty="0"/>
              <a:t>, which serializes the Contributor model.</a:t>
            </a:r>
          </a:p>
          <a:p>
            <a:pPr>
              <a:buFont typeface="Wingdings" panose="05000000000000000000" pitchFamily="2" charset="2"/>
              <a:buChar char="§"/>
            </a:pPr>
            <a:r>
              <a:rPr lang="en-US" dirty="0"/>
              <a:t>Add </a:t>
            </a:r>
            <a:r>
              <a:rPr lang="en-US" dirty="0" err="1"/>
              <a:t>ContributorView</a:t>
            </a:r>
            <a:r>
              <a:rPr lang="en-US" dirty="0"/>
              <a:t>, which uses </a:t>
            </a:r>
            <a:r>
              <a:rPr lang="en-US" dirty="0" err="1"/>
              <a:t>ContributorSerializer</a:t>
            </a:r>
            <a:r>
              <a:rPr lang="en-US" dirty="0"/>
              <a:t>.</a:t>
            </a:r>
          </a:p>
          <a:p>
            <a:pPr>
              <a:buFont typeface="Wingdings" panose="05000000000000000000" pitchFamily="2" charset="2"/>
              <a:buChar char="§"/>
            </a:pPr>
            <a:r>
              <a:rPr lang="en-US" dirty="0"/>
              <a:t>Add a pattern to urls.py to enable access to </a:t>
            </a:r>
            <a:r>
              <a:rPr lang="en-US" dirty="0" err="1"/>
              <a:t>ContributorView</a:t>
            </a:r>
            <a:endParaRPr lang="en-US" dirty="0"/>
          </a:p>
          <a:p>
            <a:endParaRPr lang="en-IN" dirty="0"/>
          </a:p>
        </p:txBody>
      </p:sp>
    </p:spTree>
    <p:extLst>
      <p:ext uri="{BB962C8B-B14F-4D97-AF65-F5344CB8AC3E}">
        <p14:creationId xmlns:p14="http://schemas.microsoft.com/office/powerpoint/2010/main" val="589519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C32A-A1D0-4F5E-9EC7-7524D4E84DBF}"/>
              </a:ext>
            </a:extLst>
          </p:cNvPr>
          <p:cNvSpPr>
            <a:spLocks noGrp="1"/>
          </p:cNvSpPr>
          <p:nvPr>
            <p:ph type="title"/>
          </p:nvPr>
        </p:nvSpPr>
        <p:spPr/>
        <p:txBody>
          <a:bodyPr/>
          <a:lstStyle/>
          <a:p>
            <a:r>
              <a:rPr lang="en-US" dirty="0"/>
              <a:t>Simplifying the code using </a:t>
            </a:r>
            <a:r>
              <a:rPr lang="en-US" dirty="0" err="1"/>
              <a:t>ViewSets</a:t>
            </a:r>
            <a:endParaRPr lang="en-IN" dirty="0"/>
          </a:p>
        </p:txBody>
      </p:sp>
      <p:sp>
        <p:nvSpPr>
          <p:cNvPr id="3" name="Content Placeholder 2">
            <a:extLst>
              <a:ext uri="{FF2B5EF4-FFF2-40B4-BE49-F238E27FC236}">
                <a16:creationId xmlns:a16="http://schemas.microsoft.com/office/drawing/2014/main" id="{BEE71CEE-5529-4AC5-84D5-A9F1B529D8EC}"/>
              </a:ext>
            </a:extLst>
          </p:cNvPr>
          <p:cNvSpPr>
            <a:spLocks noGrp="1"/>
          </p:cNvSpPr>
          <p:nvPr>
            <p:ph idx="1"/>
          </p:nvPr>
        </p:nvSpPr>
        <p:spPr/>
        <p:txBody>
          <a:bodyPr>
            <a:normAutofit/>
          </a:bodyPr>
          <a:lstStyle/>
          <a:p>
            <a:r>
              <a:rPr lang="en-US" dirty="0" err="1"/>
              <a:t>ViewSets</a:t>
            </a:r>
            <a:r>
              <a:rPr lang="en-US" dirty="0"/>
              <a:t> and routers help us  sing class-based further simplify our code. As the name indicates,</a:t>
            </a:r>
          </a:p>
          <a:p>
            <a:r>
              <a:rPr lang="en-US" dirty="0" err="1"/>
              <a:t>ViewSets</a:t>
            </a:r>
            <a:r>
              <a:rPr lang="en-US" dirty="0"/>
              <a:t> are a set of views represented in a single class. </a:t>
            </a:r>
          </a:p>
          <a:p>
            <a:r>
              <a:rPr lang="en-US" dirty="0"/>
              <a:t>For example, we used the </a:t>
            </a:r>
            <a:r>
              <a:rPr lang="en-US" dirty="0" err="1"/>
              <a:t>AllBooks</a:t>
            </a:r>
            <a:r>
              <a:rPr lang="en-US" dirty="0"/>
              <a:t> view to return a list of all books in the application and the </a:t>
            </a:r>
            <a:r>
              <a:rPr lang="en-US" dirty="0" err="1"/>
              <a:t>BookDetail</a:t>
            </a:r>
            <a:r>
              <a:rPr lang="en-US" dirty="0"/>
              <a:t> view to return the details of a single book. Using </a:t>
            </a:r>
            <a:r>
              <a:rPr lang="en-US" dirty="0" err="1"/>
              <a:t>ViewSets</a:t>
            </a:r>
            <a:r>
              <a:rPr lang="en-US" dirty="0"/>
              <a:t>, we could combine both these classes into a single class.</a:t>
            </a:r>
            <a:endParaRPr lang="en-IN" dirty="0"/>
          </a:p>
        </p:txBody>
      </p:sp>
    </p:spTree>
    <p:extLst>
      <p:ext uri="{BB962C8B-B14F-4D97-AF65-F5344CB8AC3E}">
        <p14:creationId xmlns:p14="http://schemas.microsoft.com/office/powerpoint/2010/main" val="2113896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00CF-DAC1-471E-B6CA-2F9A9D7B1ADE}"/>
              </a:ext>
            </a:extLst>
          </p:cNvPr>
          <p:cNvSpPr>
            <a:spLocks noGrp="1"/>
          </p:cNvSpPr>
          <p:nvPr>
            <p:ph type="title"/>
          </p:nvPr>
        </p:nvSpPr>
        <p:spPr/>
        <p:txBody>
          <a:bodyPr/>
          <a:lstStyle/>
          <a:p>
            <a:r>
              <a:rPr lang="en-IN" dirty="0"/>
              <a:t>Using </a:t>
            </a:r>
            <a:r>
              <a:rPr lang="en-IN" dirty="0" err="1"/>
              <a:t>ViewSets</a:t>
            </a:r>
            <a:r>
              <a:rPr lang="en-IN" dirty="0"/>
              <a:t> and routers</a:t>
            </a:r>
          </a:p>
        </p:txBody>
      </p:sp>
      <p:sp>
        <p:nvSpPr>
          <p:cNvPr id="3" name="Content Placeholder 2">
            <a:extLst>
              <a:ext uri="{FF2B5EF4-FFF2-40B4-BE49-F238E27FC236}">
                <a16:creationId xmlns:a16="http://schemas.microsoft.com/office/drawing/2014/main" id="{E9B2E906-2A48-483C-8158-4E4B35F9B145}"/>
              </a:ext>
            </a:extLst>
          </p:cNvPr>
          <p:cNvSpPr>
            <a:spLocks noGrp="1"/>
          </p:cNvSpPr>
          <p:nvPr>
            <p:ph idx="1"/>
          </p:nvPr>
        </p:nvSpPr>
        <p:spPr/>
        <p:txBody>
          <a:bodyPr>
            <a:normAutofit fontScale="92500" lnSpcReduction="10000"/>
          </a:bodyPr>
          <a:lstStyle/>
          <a:p>
            <a:r>
              <a:rPr lang="en-IN" dirty="0"/>
              <a:t>1. create the required Open the bookr/reviews/serializers.py file, remove the pre-existing code, and add the following code snippet: </a:t>
            </a:r>
          </a:p>
          <a:p>
            <a:r>
              <a:rPr lang="en-IN" dirty="0"/>
              <a:t>from </a:t>
            </a:r>
            <a:r>
              <a:rPr lang="en-IN" dirty="0" err="1"/>
              <a:t>django.contrib.auth.models</a:t>
            </a:r>
            <a:r>
              <a:rPr lang="en-IN" dirty="0"/>
              <a:t> import User</a:t>
            </a:r>
          </a:p>
          <a:p>
            <a:r>
              <a:rPr lang="en-IN" dirty="0"/>
              <a:t>from </a:t>
            </a:r>
            <a:r>
              <a:rPr lang="en-IN" dirty="0" err="1"/>
              <a:t>django.utils</a:t>
            </a:r>
            <a:r>
              <a:rPr lang="en-IN" dirty="0"/>
              <a:t> import </a:t>
            </a:r>
            <a:r>
              <a:rPr lang="en-IN" dirty="0" err="1"/>
              <a:t>timezone</a:t>
            </a:r>
            <a:endParaRPr lang="en-IN" dirty="0"/>
          </a:p>
          <a:p>
            <a:r>
              <a:rPr lang="en-IN" dirty="0"/>
              <a:t>from </a:t>
            </a:r>
            <a:r>
              <a:rPr lang="en-IN" dirty="0" err="1"/>
              <a:t>rest_framework</a:t>
            </a:r>
            <a:r>
              <a:rPr lang="en-IN" dirty="0"/>
              <a:t> import serializers</a:t>
            </a:r>
          </a:p>
          <a:p>
            <a:r>
              <a:rPr lang="en-IN" dirty="0"/>
              <a:t>from </a:t>
            </a:r>
            <a:r>
              <a:rPr lang="en-IN" dirty="0" err="1"/>
              <a:t>rest_framework.exceptions</a:t>
            </a:r>
            <a:r>
              <a:rPr lang="en-IN" dirty="0"/>
              <a:t> import</a:t>
            </a:r>
          </a:p>
          <a:p>
            <a:r>
              <a:rPr lang="en-IN" dirty="0"/>
              <a:t>    </a:t>
            </a:r>
            <a:r>
              <a:rPr lang="en-IN" dirty="0" err="1"/>
              <a:t>NotAuthenticated</a:t>
            </a:r>
            <a:r>
              <a:rPr lang="en-IN" dirty="0"/>
              <a:t>, </a:t>
            </a:r>
            <a:r>
              <a:rPr lang="en-IN" dirty="0" err="1"/>
              <a:t>PermissionDenied</a:t>
            </a:r>
            <a:endParaRPr lang="en-IN" dirty="0"/>
          </a:p>
          <a:p>
            <a:r>
              <a:rPr lang="en-IN" dirty="0"/>
              <a:t>from .models import Book, Publisher, Review</a:t>
            </a:r>
          </a:p>
          <a:p>
            <a:r>
              <a:rPr lang="en-IN" dirty="0"/>
              <a:t>from .utils import </a:t>
            </a:r>
            <a:r>
              <a:rPr lang="en-IN" dirty="0" err="1"/>
              <a:t>average_rating</a:t>
            </a:r>
            <a:endParaRPr lang="en-IN" dirty="0"/>
          </a:p>
          <a:p>
            <a:r>
              <a:rPr lang="en-IN" dirty="0"/>
              <a:t>class </a:t>
            </a:r>
            <a:r>
              <a:rPr lang="en-IN" dirty="0" err="1"/>
              <a:t>PublisherSerializer</a:t>
            </a:r>
            <a:r>
              <a:rPr lang="en-IN" dirty="0"/>
              <a:t>(</a:t>
            </a:r>
            <a:r>
              <a:rPr lang="en-IN" dirty="0" err="1"/>
              <a:t>serializers.ModelSerializer</a:t>
            </a:r>
            <a:r>
              <a:rPr lang="en-IN" dirty="0"/>
              <a:t>):</a:t>
            </a:r>
          </a:p>
        </p:txBody>
      </p:sp>
    </p:spTree>
    <p:extLst>
      <p:ext uri="{BB962C8B-B14F-4D97-AF65-F5344CB8AC3E}">
        <p14:creationId xmlns:p14="http://schemas.microsoft.com/office/powerpoint/2010/main" val="2418225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374C3-4C19-4CC8-8A1C-129FE63FDB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208F48-64E2-4E4B-8613-8AF8C5648AF9}"/>
              </a:ext>
            </a:extLst>
          </p:cNvPr>
          <p:cNvSpPr>
            <a:spLocks noGrp="1"/>
          </p:cNvSpPr>
          <p:nvPr>
            <p:ph idx="1"/>
          </p:nvPr>
        </p:nvSpPr>
        <p:spPr/>
        <p:txBody>
          <a:bodyPr>
            <a:normAutofit fontScale="55000" lnSpcReduction="20000"/>
          </a:bodyPr>
          <a:lstStyle/>
          <a:p>
            <a:r>
              <a:rPr lang="en-US" dirty="0"/>
              <a:t>2. Open the bookr/reviews/api_views.py file, remove the pre-existing code, and add the following: </a:t>
            </a:r>
          </a:p>
          <a:p>
            <a:r>
              <a:rPr lang="en-IN" dirty="0"/>
              <a:t>from </a:t>
            </a:r>
            <a:r>
              <a:rPr lang="en-IN" dirty="0" err="1"/>
              <a:t>rest_framework</a:t>
            </a:r>
            <a:r>
              <a:rPr lang="en-IN" dirty="0"/>
              <a:t> import </a:t>
            </a:r>
            <a:r>
              <a:rPr lang="en-IN" dirty="0" err="1"/>
              <a:t>viewsets</a:t>
            </a:r>
            <a:endParaRPr lang="en-IN" dirty="0"/>
          </a:p>
          <a:p>
            <a:r>
              <a:rPr lang="en-IN" dirty="0"/>
              <a:t>from </a:t>
            </a:r>
            <a:r>
              <a:rPr lang="en-IN" dirty="0" err="1"/>
              <a:t>rest_framework.pagination</a:t>
            </a:r>
            <a:r>
              <a:rPr lang="en-IN" dirty="0"/>
              <a:t> import (</a:t>
            </a:r>
            <a:r>
              <a:rPr lang="en-IN" dirty="0" err="1"/>
              <a:t>LimitOffsetPagination</a:t>
            </a:r>
            <a:r>
              <a:rPr lang="en-IN" dirty="0"/>
              <a:t>)</a:t>
            </a:r>
          </a:p>
          <a:p>
            <a:r>
              <a:rPr lang="en-IN" dirty="0"/>
              <a:t>from .models import Book, Review</a:t>
            </a:r>
          </a:p>
          <a:p>
            <a:r>
              <a:rPr lang="en-IN" dirty="0"/>
              <a:t>from .serializers import (</a:t>
            </a:r>
            <a:r>
              <a:rPr lang="en-IN" dirty="0" err="1"/>
              <a:t>BookSerializer</a:t>
            </a:r>
            <a:r>
              <a:rPr lang="en-IN" dirty="0"/>
              <a:t>, </a:t>
            </a:r>
            <a:r>
              <a:rPr lang="en-IN" dirty="0" err="1"/>
              <a:t>ReviewSerializer</a:t>
            </a:r>
            <a:r>
              <a:rPr lang="en-IN" dirty="0"/>
              <a:t>)</a:t>
            </a:r>
          </a:p>
          <a:p>
            <a:r>
              <a:rPr lang="en-IN" dirty="0"/>
              <a:t>class </a:t>
            </a:r>
            <a:r>
              <a:rPr lang="en-IN" dirty="0" err="1"/>
              <a:t>BookViewSet</a:t>
            </a:r>
            <a:r>
              <a:rPr lang="en-IN" dirty="0"/>
              <a:t>(</a:t>
            </a:r>
            <a:r>
              <a:rPr lang="en-IN" dirty="0" err="1"/>
              <a:t>viewsets.ReadOnlyModelViewSet</a:t>
            </a:r>
            <a:r>
              <a:rPr lang="en-IN" dirty="0"/>
              <a:t>):</a:t>
            </a:r>
          </a:p>
          <a:p>
            <a:r>
              <a:rPr lang="en-IN" dirty="0"/>
              <a:t>    </a:t>
            </a:r>
            <a:r>
              <a:rPr lang="en-IN" dirty="0" err="1"/>
              <a:t>queryset</a:t>
            </a:r>
            <a:r>
              <a:rPr lang="en-IN" dirty="0"/>
              <a:t> = </a:t>
            </a:r>
            <a:r>
              <a:rPr lang="en-IN" dirty="0" err="1"/>
              <a:t>Book.objects.all</a:t>
            </a:r>
            <a:r>
              <a:rPr lang="en-IN" dirty="0"/>
              <a:t>()</a:t>
            </a:r>
          </a:p>
          <a:p>
            <a:r>
              <a:rPr lang="en-IN" dirty="0"/>
              <a:t>    </a:t>
            </a:r>
            <a:r>
              <a:rPr lang="en-IN" dirty="0" err="1"/>
              <a:t>serializer_class</a:t>
            </a:r>
            <a:r>
              <a:rPr lang="en-IN" dirty="0"/>
              <a:t> = </a:t>
            </a:r>
            <a:r>
              <a:rPr lang="en-IN" dirty="0" err="1"/>
              <a:t>BookSerializer</a:t>
            </a:r>
            <a:endParaRPr lang="en-IN" dirty="0"/>
          </a:p>
          <a:p>
            <a:r>
              <a:rPr lang="en-IN" dirty="0" err="1"/>
              <a:t>classReviewViewSet</a:t>
            </a:r>
            <a:r>
              <a:rPr lang="en-IN" dirty="0"/>
              <a:t>(</a:t>
            </a:r>
            <a:r>
              <a:rPr lang="en-IN" dirty="0" err="1"/>
              <a:t>viewsets.ModelViewSet</a:t>
            </a:r>
            <a:r>
              <a:rPr lang="en-IN" dirty="0"/>
              <a:t>):</a:t>
            </a:r>
          </a:p>
          <a:p>
            <a:r>
              <a:rPr lang="en-IN" dirty="0"/>
              <a:t>    </a:t>
            </a:r>
            <a:r>
              <a:rPr lang="en-IN" dirty="0" err="1"/>
              <a:t>queryset</a:t>
            </a:r>
            <a:r>
              <a:rPr lang="en-IN" dirty="0"/>
              <a:t> = </a:t>
            </a:r>
            <a:r>
              <a:rPr lang="en-IN" dirty="0" err="1"/>
              <a:t>Review.objects.order_by</a:t>
            </a:r>
            <a:r>
              <a:rPr lang="en-IN" dirty="0"/>
              <a:t>('-</a:t>
            </a:r>
            <a:r>
              <a:rPr lang="en-IN" dirty="0" err="1"/>
              <a:t>date_created</a:t>
            </a:r>
            <a:r>
              <a:rPr lang="en-IN" dirty="0"/>
              <a:t>')</a:t>
            </a:r>
          </a:p>
          <a:p>
            <a:r>
              <a:rPr lang="en-IN" dirty="0"/>
              <a:t>    </a:t>
            </a:r>
            <a:r>
              <a:rPr lang="en-IN" dirty="0" err="1"/>
              <a:t>serializer_class</a:t>
            </a:r>
            <a:r>
              <a:rPr lang="en-IN" dirty="0"/>
              <a:t> = </a:t>
            </a:r>
            <a:r>
              <a:rPr lang="en-IN" dirty="0" err="1"/>
              <a:t>ReviewSerializer</a:t>
            </a:r>
            <a:endParaRPr lang="en-IN" dirty="0"/>
          </a:p>
          <a:p>
            <a:r>
              <a:rPr lang="en-IN" dirty="0"/>
              <a:t>    </a:t>
            </a:r>
            <a:r>
              <a:rPr lang="en-IN" dirty="0" err="1"/>
              <a:t>pagination_class</a:t>
            </a:r>
            <a:r>
              <a:rPr lang="en-IN" dirty="0"/>
              <a:t> = </a:t>
            </a:r>
            <a:r>
              <a:rPr lang="en-IN" dirty="0" err="1"/>
              <a:t>LimitOffsetPagination</a:t>
            </a:r>
            <a:endParaRPr lang="en-IN" dirty="0"/>
          </a:p>
          <a:p>
            <a:r>
              <a:rPr lang="en-IN" dirty="0"/>
              <a:t>    </a:t>
            </a:r>
            <a:r>
              <a:rPr lang="en-IN" dirty="0" err="1"/>
              <a:t>authentication_classes</a:t>
            </a:r>
            <a:r>
              <a:rPr lang="en-IN" dirty="0"/>
              <a:t> = []</a:t>
            </a:r>
          </a:p>
          <a:p>
            <a:endParaRPr lang="en-IN" dirty="0"/>
          </a:p>
        </p:txBody>
      </p:sp>
    </p:spTree>
    <p:extLst>
      <p:ext uri="{BB962C8B-B14F-4D97-AF65-F5344CB8AC3E}">
        <p14:creationId xmlns:p14="http://schemas.microsoft.com/office/powerpoint/2010/main" val="3627628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2A530-B1D1-4C07-8091-1D1A803396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235832-0D9C-40EA-9001-B79D25A367E6}"/>
              </a:ext>
            </a:extLst>
          </p:cNvPr>
          <p:cNvSpPr>
            <a:spLocks noGrp="1"/>
          </p:cNvSpPr>
          <p:nvPr>
            <p:ph idx="1"/>
          </p:nvPr>
        </p:nvSpPr>
        <p:spPr/>
        <p:txBody>
          <a:bodyPr/>
          <a:lstStyle/>
          <a:p>
            <a:r>
              <a:rPr lang="en-US" dirty="0"/>
              <a:t>3. Next, open the bookr/reviews/urls.py file, remove the first two URL patterns starting with </a:t>
            </a:r>
            <a:r>
              <a:rPr lang="en-US" dirty="0" err="1"/>
              <a:t>api</a:t>
            </a:r>
            <a:r>
              <a:rPr lang="en-US" dirty="0"/>
              <a:t>/, and then add the following (highlighted) code: </a:t>
            </a:r>
          </a:p>
          <a:p>
            <a:endParaRPr lang="en-IN" dirty="0"/>
          </a:p>
        </p:txBody>
      </p:sp>
      <p:pic>
        <p:nvPicPr>
          <p:cNvPr id="5" name="Picture 4">
            <a:extLst>
              <a:ext uri="{FF2B5EF4-FFF2-40B4-BE49-F238E27FC236}">
                <a16:creationId xmlns:a16="http://schemas.microsoft.com/office/drawing/2014/main" id="{D5396086-4328-4CC6-9D65-D77ED30FC6D6}"/>
              </a:ext>
            </a:extLst>
          </p:cNvPr>
          <p:cNvPicPr>
            <a:picLocks noChangeAspect="1"/>
          </p:cNvPicPr>
          <p:nvPr/>
        </p:nvPicPr>
        <p:blipFill>
          <a:blip r:embed="rId2"/>
          <a:stretch>
            <a:fillRect/>
          </a:stretch>
        </p:blipFill>
        <p:spPr>
          <a:xfrm>
            <a:off x="745068" y="2531533"/>
            <a:ext cx="8489858" cy="4267200"/>
          </a:xfrm>
          <a:prstGeom prst="rect">
            <a:avLst/>
          </a:prstGeom>
        </p:spPr>
      </p:pic>
    </p:spTree>
    <p:extLst>
      <p:ext uri="{BB962C8B-B14F-4D97-AF65-F5344CB8AC3E}">
        <p14:creationId xmlns:p14="http://schemas.microsoft.com/office/powerpoint/2010/main" val="268677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F539F-18B3-4EA2-8992-78438ECD88F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44561B1-D43A-4946-9572-A84DBD208942}"/>
              </a:ext>
            </a:extLst>
          </p:cNvPr>
          <p:cNvSpPr>
            <a:spLocks noGrp="1"/>
          </p:cNvSpPr>
          <p:nvPr>
            <p:ph idx="1"/>
          </p:nvPr>
        </p:nvSpPr>
        <p:spPr/>
        <p:txBody>
          <a:bodyPr>
            <a:normAutofit/>
          </a:bodyPr>
          <a:lstStyle/>
          <a:p>
            <a:r>
              <a:rPr lang="en-US" dirty="0"/>
              <a:t>5. Save all the files, and once the Django service restarts (or you start it manually with the python manage.py </a:t>
            </a:r>
            <a:r>
              <a:rPr lang="en-US" dirty="0" err="1"/>
              <a:t>runserver</a:t>
            </a:r>
            <a:r>
              <a:rPr lang="en-US" dirty="0"/>
              <a:t> command), go to the http://127.0.0.1:8000/api/ books/ URL to get a list of all the books. You should see the following view in the API explorer: </a:t>
            </a:r>
          </a:p>
          <a:p>
            <a:r>
              <a:rPr lang="en-US" dirty="0"/>
              <a:t>5. You can also access the details for a specific book using the http://127.0.0.1:8000/ </a:t>
            </a:r>
            <a:r>
              <a:rPr lang="en-US" dirty="0" err="1"/>
              <a:t>api</a:t>
            </a:r>
            <a:r>
              <a:rPr lang="en-US" dirty="0"/>
              <a:t>/books/1/ URL. In this case, it will return details for the book with a primary key of 1 (if it exists in your database): </a:t>
            </a:r>
            <a:endParaRPr lang="en-IN" dirty="0"/>
          </a:p>
        </p:txBody>
      </p:sp>
    </p:spTree>
    <p:extLst>
      <p:ext uri="{BB962C8B-B14F-4D97-AF65-F5344CB8AC3E}">
        <p14:creationId xmlns:p14="http://schemas.microsoft.com/office/powerpoint/2010/main" val="73269036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72</TotalTime>
  <Words>1535</Words>
  <Application>Microsoft Office PowerPoint</Application>
  <PresentationFormat>Widescreen</PresentationFormat>
  <Paragraphs>128</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Calibri Light</vt:lpstr>
      <vt:lpstr>Wingdings</vt:lpstr>
      <vt:lpstr>Retrospect</vt:lpstr>
      <vt:lpstr>Building a REST API </vt:lpstr>
      <vt:lpstr>PowerPoint Presentation</vt:lpstr>
      <vt:lpstr>DRF</vt:lpstr>
      <vt:lpstr>Creating a simple REST API</vt:lpstr>
      <vt:lpstr>PowerPoint Presentation</vt:lpstr>
      <vt:lpstr>serializers</vt:lpstr>
      <vt:lpstr>Creating an API view to display a list of books</vt:lpstr>
      <vt:lpstr>PowerPoint Presentation</vt:lpstr>
      <vt:lpstr>PowerPoint Presentation</vt:lpstr>
      <vt:lpstr>PowerPoint Presentation</vt:lpstr>
      <vt:lpstr>Class-based API views and generic views</vt:lpstr>
      <vt:lpstr>Creating class-based API views and model serializers</vt:lpstr>
      <vt:lpstr>PowerPoint Presentation</vt:lpstr>
      <vt:lpstr>PowerPoint Presentation</vt:lpstr>
      <vt:lpstr>PowerPoint Presentation</vt:lpstr>
      <vt:lpstr>Creating an API endpoint for a top contributors pageShould</vt:lpstr>
      <vt:lpstr>PowerPoint Presentation</vt:lpstr>
      <vt:lpstr>Simplifying the code using ViewSets</vt:lpstr>
      <vt:lpstr>Using ViewSets and routers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REST AP</dc:title>
  <dc:creator>Hp</dc:creator>
  <cp:lastModifiedBy>Hp</cp:lastModifiedBy>
  <cp:revision>17</cp:revision>
  <dcterms:created xsi:type="dcterms:W3CDTF">2026-06-09T10:41:33Z</dcterms:created>
  <dcterms:modified xsi:type="dcterms:W3CDTF">2026-06-09T11:53:58Z</dcterms:modified>
</cp:coreProperties>
</file>