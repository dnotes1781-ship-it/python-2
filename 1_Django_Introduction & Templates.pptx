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48"/>
  </p:notesMasterIdLst>
  <p:sldIdLst>
    <p:sldId id="256" r:id="rId2"/>
    <p:sldId id="257" r:id="rId3"/>
    <p:sldId id="258" r:id="rId4"/>
    <p:sldId id="259" r:id="rId5"/>
    <p:sldId id="315" r:id="rId6"/>
    <p:sldId id="260" r:id="rId7"/>
    <p:sldId id="261" r:id="rId8"/>
    <p:sldId id="316" r:id="rId9"/>
    <p:sldId id="317" r:id="rId10"/>
    <p:sldId id="266" r:id="rId11"/>
    <p:sldId id="268" r:id="rId12"/>
    <p:sldId id="318" r:id="rId13"/>
    <p:sldId id="270" r:id="rId14"/>
    <p:sldId id="319" r:id="rId15"/>
    <p:sldId id="271" r:id="rId16"/>
    <p:sldId id="272" r:id="rId17"/>
    <p:sldId id="273" r:id="rId18"/>
    <p:sldId id="274" r:id="rId19"/>
    <p:sldId id="320" r:id="rId20"/>
    <p:sldId id="321" r:id="rId21"/>
    <p:sldId id="275" r:id="rId22"/>
    <p:sldId id="276" r:id="rId23"/>
    <p:sldId id="322" r:id="rId24"/>
    <p:sldId id="277" r:id="rId25"/>
    <p:sldId id="278" r:id="rId26"/>
    <p:sldId id="280" r:id="rId27"/>
    <p:sldId id="323" r:id="rId28"/>
    <p:sldId id="324" r:id="rId29"/>
    <p:sldId id="281" r:id="rId30"/>
    <p:sldId id="325"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Lst>
  <p:sldSz cx="12192000" cy="6858000"/>
  <p:notesSz cx="6858000" cy="9144000"/>
  <p:embeddedFontLst>
    <p:embeddedFont>
      <p:font typeface="Calibri" panose="020F0502020204030204" pitchFamily="34" charset="0"/>
      <p:regular r:id="rId49"/>
      <p:bold r:id="rId50"/>
      <p:italic r:id="rId51"/>
      <p:boldItalic r:id="rId52"/>
    </p:embeddedFont>
    <p:embeddedFont>
      <p:font typeface="Calibri Light" panose="020F0302020204030204" pitchFamily="34" charset="0"/>
      <p:regular r:id="rId53"/>
      <p:italic r:id="rId54"/>
    </p:embeddedFont>
    <p:embeddedFont>
      <p:font typeface="Cambria" panose="02040503050406030204" pitchFamily="18" charset="0"/>
      <p:regular r:id="rId55"/>
      <p:bold r:id="rId56"/>
      <p:italic r:id="rId57"/>
      <p:boldItalic r:id="rId58"/>
    </p:embeddedFont>
    <p:embeddedFont>
      <p:font typeface="Georgia" panose="02040502050405020303" pitchFamily="18" charset="0"/>
      <p:regular r:id="rId59"/>
      <p:bold r:id="rId60"/>
      <p:italic r:id="rId61"/>
      <p:boldItalic r:id="rId62"/>
    </p:embeddedFont>
    <p:embeddedFont>
      <p:font typeface="IBM Plex Sans" panose="020B0604020202020204" charset="0"/>
      <p:regular r:id="rId63"/>
      <p:bold r:id="rId64"/>
      <p:italic r:id="rId65"/>
      <p:boldItalic r:id="rId66"/>
    </p:embeddedFont>
    <p:embeddedFont>
      <p:font typeface="Lucida Fax" panose="02060602050505020204" pitchFamily="18" charset="0"/>
      <p:regular r:id="rId67"/>
      <p:bold r:id="rId68"/>
      <p:italic r:id="rId69"/>
      <p:boldItalic r:id="rId70"/>
    </p:embeddedFont>
    <p:embeddedFont>
      <p:font typeface="Trebuchet MS" panose="020B0603020202020204" pitchFamily="34" charset="0"/>
      <p:regular r:id="rId71"/>
      <p:bold r:id="rId72"/>
      <p:italic r:id="rId73"/>
      <p:boldItalic r:id="rId7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8" roundtripDataSignature="AMtx7mgFyZLtAj3qCigVlmOe9dEeR/Iuw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font" Target="fonts/font20.fntdata"/><Relationship Id="rId112"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74" Type="http://schemas.openxmlformats.org/officeDocument/2006/relationships/font" Target="fonts/font26.fntdata"/><Relationship Id="rId110"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font" Target="fonts/font3.fntdata"/><Relationship Id="rId72" Type="http://schemas.openxmlformats.org/officeDocument/2006/relationships/font" Target="fonts/font2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font" Target="fonts/font19.fntdata"/><Relationship Id="rId108"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font" Target="fonts/font22.fntdata"/><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73" Type="http://schemas.openxmlformats.org/officeDocument/2006/relationships/font" Target="fonts/font2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font" Target="fonts/font23.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8" name="Google Shape;16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265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85569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849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74219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98092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99344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027835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91268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8579599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76151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64422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marL="0" lvl="0" indent="0" algn="ctr" rtl="0">
              <a:spcBef>
                <a:spcPts val="0"/>
              </a:spcBef>
              <a:spcAft>
                <a:spcPts val="0"/>
              </a:spcAft>
              <a:buNone/>
            </a:pPr>
            <a:fld id="{00000000-1234-1234-1234-12341234123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5613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
          <p:cNvSpPr txBox="1">
            <a:spLocks noGrp="1"/>
          </p:cNvSpPr>
          <p:nvPr>
            <p:ph type="ctrTitle"/>
          </p:nvPr>
        </p:nvSpPr>
        <p:spPr>
          <a:xfrm>
            <a:off x="1069848" y="1316651"/>
            <a:ext cx="9966960" cy="3035808"/>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SzPts val="5400"/>
              <a:buFont typeface="Georgia"/>
              <a:buNone/>
            </a:pPr>
            <a:r>
              <a:rPr lang="en-IN" sz="5400" dirty="0"/>
              <a:t>Getting started with Django Framework</a:t>
            </a:r>
            <a:endParaRPr dirty="0"/>
          </a:p>
        </p:txBody>
      </p:sp>
      <p:sp>
        <p:nvSpPr>
          <p:cNvPr id="105" name="Google Shape;105;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r>
              <a:rPr lang="en-IN"/>
              <a:t>Ami Patel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a:t>Web Framework</a:t>
            </a:r>
            <a:endParaRPr/>
          </a:p>
        </p:txBody>
      </p:sp>
      <p:sp>
        <p:nvSpPr>
          <p:cNvPr id="111" name="Google Shape;111;p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IN" b="1"/>
              <a:t>Web framework is a set of components designed to simplify your web development process. It has basic structuring tools in it, which serve as a solid base for your project.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a:t>What is Django???</a:t>
            </a:r>
            <a:endParaRPr/>
          </a:p>
        </p:txBody>
      </p:sp>
      <p:sp>
        <p:nvSpPr>
          <p:cNvPr id="117" name="Google Shape;117;p3"/>
          <p:cNvSpPr txBox="1">
            <a:spLocks noGrp="1"/>
          </p:cNvSpPr>
          <p:nvPr>
            <p:ph idx="1"/>
          </p:nvPr>
        </p:nvSpPr>
        <p:spPr>
          <a:prstGeom prst="rect">
            <a:avLst/>
          </a:prstGeom>
          <a:noFill/>
          <a:ln>
            <a:noFill/>
          </a:ln>
        </p:spPr>
        <p:txBody>
          <a:bodyPr spcFirstLastPara="1" wrap="square" lIns="91425" tIns="45700" rIns="91425" bIns="45700" anchor="t" anchorCtr="0">
            <a:normAutofit fontScale="55000" lnSpcReduction="20000"/>
          </a:bodyPr>
          <a:lstStyle/>
          <a:p>
            <a:pPr marL="182880" lvl="0" indent="-182880" algn="l" rtl="0">
              <a:lnSpc>
                <a:spcPct val="90000"/>
              </a:lnSpc>
              <a:spcBef>
                <a:spcPts val="0"/>
              </a:spcBef>
              <a:spcAft>
                <a:spcPts val="0"/>
              </a:spcAft>
              <a:buSzPts val="1700"/>
              <a:buChar char="▪"/>
            </a:pPr>
            <a:r>
              <a:rPr lang="en-IN" dirty="0"/>
              <a:t>Django is a high-level Python web development framework.</a:t>
            </a:r>
            <a:endParaRPr dirty="0"/>
          </a:p>
          <a:p>
            <a:pPr marL="182880" lvl="0" indent="-182880" algn="l" rtl="0">
              <a:lnSpc>
                <a:spcPct val="90000"/>
              </a:lnSpc>
              <a:spcBef>
                <a:spcPts val="1200"/>
              </a:spcBef>
              <a:spcAft>
                <a:spcPts val="0"/>
              </a:spcAft>
              <a:buSzPts val="1700"/>
              <a:buChar char="▪"/>
            </a:pPr>
            <a:r>
              <a:rPr lang="en-IN" dirty="0"/>
              <a:t>Open Source</a:t>
            </a:r>
            <a:endParaRPr dirty="0"/>
          </a:p>
          <a:p>
            <a:pPr marL="182880" lvl="0" indent="-182880" algn="l" rtl="0">
              <a:lnSpc>
                <a:spcPct val="90000"/>
              </a:lnSpc>
              <a:spcBef>
                <a:spcPts val="1200"/>
              </a:spcBef>
              <a:spcAft>
                <a:spcPts val="0"/>
              </a:spcAft>
              <a:buSzPts val="1700"/>
              <a:buChar char="▪"/>
            </a:pPr>
            <a:r>
              <a:rPr lang="en-IN" dirty="0"/>
              <a:t>World Online, a web newspaper, was in need of software that could meet deadlines.</a:t>
            </a:r>
            <a:endParaRPr dirty="0"/>
          </a:p>
          <a:p>
            <a:pPr marL="182880" lvl="0" indent="-182880" algn="l" rtl="0">
              <a:lnSpc>
                <a:spcPct val="90000"/>
              </a:lnSpc>
              <a:spcBef>
                <a:spcPts val="1200"/>
              </a:spcBef>
              <a:spcAft>
                <a:spcPts val="0"/>
              </a:spcAft>
              <a:buSzPts val="1700"/>
              <a:buChar char="▪"/>
            </a:pPr>
            <a:r>
              <a:rPr lang="en-IN" dirty="0"/>
              <a:t>The Django is very demanding due to its rapid development feature.</a:t>
            </a:r>
            <a:endParaRPr dirty="0"/>
          </a:p>
          <a:p>
            <a:pPr marL="182880" lvl="0" indent="-182880" algn="l" rtl="0">
              <a:lnSpc>
                <a:spcPct val="90000"/>
              </a:lnSpc>
              <a:spcBef>
                <a:spcPts val="1200"/>
              </a:spcBef>
              <a:spcAft>
                <a:spcPts val="0"/>
              </a:spcAft>
              <a:buSzPts val="1700"/>
              <a:buChar char="▪"/>
            </a:pPr>
            <a:r>
              <a:rPr lang="en-IN" dirty="0"/>
              <a:t>It takes less time to build application after collecting client requirement.</a:t>
            </a:r>
          </a:p>
          <a:p>
            <a:pPr marL="182880" lvl="0" indent="-182880">
              <a:buSzPts val="1700"/>
            </a:pPr>
            <a:r>
              <a:rPr lang="en-US" dirty="0"/>
              <a:t>Django inherited Python’s “batteries-included” approach.</a:t>
            </a:r>
          </a:p>
          <a:p>
            <a:pPr marL="0" lvl="0" indent="0">
              <a:buSzPts val="1700"/>
              <a:buNone/>
            </a:pPr>
            <a:r>
              <a:rPr lang="en-US" dirty="0"/>
              <a:t>It also includes pre-made modules and applications for common tasks in web development like </a:t>
            </a:r>
          </a:p>
          <a:p>
            <a:pPr marL="0" lvl="0" indent="0">
              <a:buSzPts val="1700"/>
              <a:buNone/>
            </a:pPr>
            <a:r>
              <a:rPr lang="en-US" dirty="0"/>
              <a:t>• User authentication, </a:t>
            </a:r>
          </a:p>
          <a:p>
            <a:pPr marL="0" lvl="0" indent="0">
              <a:buSzPts val="1700"/>
              <a:buNone/>
            </a:pPr>
            <a:r>
              <a:rPr lang="en-US" dirty="0"/>
              <a:t>• templates, </a:t>
            </a:r>
          </a:p>
          <a:p>
            <a:pPr marL="0" lvl="0" indent="0">
              <a:buSzPts val="1700"/>
              <a:buNone/>
            </a:pPr>
            <a:r>
              <a:rPr lang="en-US" dirty="0"/>
              <a:t>• routes, and views, </a:t>
            </a:r>
          </a:p>
          <a:p>
            <a:pPr marL="0" lvl="0" indent="0">
              <a:buSzPts val="1700"/>
              <a:buNone/>
            </a:pPr>
            <a:r>
              <a:rPr lang="en-US" dirty="0"/>
              <a:t>• admin interface, </a:t>
            </a:r>
          </a:p>
          <a:p>
            <a:pPr marL="0" lvl="0" indent="0">
              <a:buSzPts val="1700"/>
              <a:buNone/>
            </a:pPr>
            <a:r>
              <a:rPr lang="en-US" dirty="0"/>
              <a:t>• robust security and </a:t>
            </a:r>
          </a:p>
          <a:p>
            <a:pPr marL="0" lvl="0" indent="0">
              <a:buSzPts val="1700"/>
              <a:buNone/>
            </a:pPr>
            <a:r>
              <a:rPr lang="en-US" dirty="0"/>
              <a:t>• support for multiple database backends.  </a:t>
            </a:r>
            <a:endParaRPr dirty="0"/>
          </a:p>
          <a:p>
            <a:pPr marL="182880" lvl="0" indent="-182880" algn="l" rtl="0">
              <a:lnSpc>
                <a:spcPct val="90000"/>
              </a:lnSpc>
              <a:spcBef>
                <a:spcPts val="1200"/>
              </a:spcBef>
              <a:spcAft>
                <a:spcPts val="0"/>
              </a:spcAft>
              <a:buSzPts val="1700"/>
              <a:buChar char="▪"/>
            </a:pPr>
            <a:r>
              <a:rPr lang="en-IN" dirty="0"/>
              <a:t>It is based on MVT (Model View Template)design pattern.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dirty="0"/>
              <a:t>Examples of Companies Using Django </a:t>
            </a:r>
            <a:endParaRPr dirty="0"/>
          </a:p>
        </p:txBody>
      </p:sp>
      <p:sp>
        <p:nvSpPr>
          <p:cNvPr id="123" name="Google Shape;123;p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Font typeface="Georgia"/>
              <a:buAutoNum type="arabicPeriod"/>
            </a:pPr>
            <a:r>
              <a:rPr lang="en-IN" dirty="0">
                <a:solidFill>
                  <a:srgbClr val="4A4B4E"/>
                </a:solidFill>
                <a:latin typeface="IBM Plex Sans"/>
                <a:ea typeface="IBM Plex Sans"/>
                <a:cs typeface="IBM Plex Sans"/>
                <a:sym typeface="IBM Plex Sans"/>
              </a:rPr>
              <a:t>Instagram </a:t>
            </a:r>
            <a:endParaRPr dirty="0"/>
          </a:p>
          <a:p>
            <a:pPr marL="182880" lvl="0" indent="-182880" algn="l" rtl="0">
              <a:lnSpc>
                <a:spcPct val="90000"/>
              </a:lnSpc>
              <a:spcBef>
                <a:spcPts val="1200"/>
              </a:spcBef>
              <a:spcAft>
                <a:spcPts val="0"/>
              </a:spcAft>
              <a:buSzPts val="1700"/>
              <a:buFont typeface="Georgia"/>
              <a:buAutoNum type="arabicPeriod"/>
            </a:pPr>
            <a:r>
              <a:rPr lang="en-IN" dirty="0">
                <a:solidFill>
                  <a:srgbClr val="4A4B4E"/>
                </a:solidFill>
                <a:latin typeface="IBM Plex Sans"/>
                <a:ea typeface="IBM Plex Sans"/>
                <a:cs typeface="IBM Plex Sans"/>
                <a:sym typeface="IBM Plex Sans"/>
              </a:rPr>
              <a:t>National Geographic</a:t>
            </a:r>
            <a:endParaRPr dirty="0"/>
          </a:p>
          <a:p>
            <a:pPr marL="182880" lvl="0" indent="-182880" algn="l" rtl="0">
              <a:lnSpc>
                <a:spcPct val="90000"/>
              </a:lnSpc>
              <a:spcBef>
                <a:spcPts val="1200"/>
              </a:spcBef>
              <a:spcAft>
                <a:spcPts val="0"/>
              </a:spcAft>
              <a:buSzPts val="1700"/>
              <a:buFont typeface="Georgia"/>
              <a:buAutoNum type="arabicPeriod"/>
            </a:pPr>
            <a:r>
              <a:rPr lang="en-IN" dirty="0">
                <a:solidFill>
                  <a:srgbClr val="4A4B4E"/>
                </a:solidFill>
                <a:latin typeface="IBM Plex Sans"/>
                <a:ea typeface="IBM Plex Sans"/>
                <a:cs typeface="IBM Plex Sans"/>
                <a:sym typeface="IBM Plex Sans"/>
              </a:rPr>
              <a:t>Mozilla</a:t>
            </a:r>
            <a:endParaRPr dirty="0"/>
          </a:p>
          <a:p>
            <a:pPr marL="182880" lvl="0" indent="-182880" algn="l" rtl="0">
              <a:lnSpc>
                <a:spcPct val="90000"/>
              </a:lnSpc>
              <a:spcBef>
                <a:spcPts val="1200"/>
              </a:spcBef>
              <a:spcAft>
                <a:spcPts val="0"/>
              </a:spcAft>
              <a:buSzPts val="1700"/>
              <a:buFont typeface="Georgia"/>
              <a:buAutoNum type="arabicPeriod"/>
            </a:pPr>
            <a:r>
              <a:rPr lang="en-IN" dirty="0">
                <a:solidFill>
                  <a:srgbClr val="4A4B4E"/>
                </a:solidFill>
                <a:latin typeface="IBM Plex Sans"/>
                <a:ea typeface="IBM Plex Sans"/>
                <a:cs typeface="IBM Plex Sans"/>
                <a:sym typeface="IBM Plex Sans"/>
              </a:rPr>
              <a:t>Spotify</a:t>
            </a:r>
            <a:endParaRPr dirty="0"/>
          </a:p>
          <a:p>
            <a:pPr marL="182880" lvl="0" indent="-182880" algn="l" rtl="0">
              <a:lnSpc>
                <a:spcPct val="90000"/>
              </a:lnSpc>
              <a:spcBef>
                <a:spcPts val="1200"/>
              </a:spcBef>
              <a:spcAft>
                <a:spcPts val="0"/>
              </a:spcAft>
              <a:buSzPts val="1700"/>
              <a:buFont typeface="Georgia"/>
              <a:buAutoNum type="arabicPeriod"/>
            </a:pPr>
            <a:r>
              <a:rPr lang="en-IN" dirty="0">
                <a:solidFill>
                  <a:srgbClr val="4A4B4E"/>
                </a:solidFill>
                <a:latin typeface="IBM Plex Sans"/>
                <a:ea typeface="IBM Plex Sans"/>
                <a:cs typeface="IBM Plex Sans"/>
                <a:sym typeface="IBM Plex Sans"/>
              </a:rPr>
              <a:t>Pinterest</a:t>
            </a:r>
            <a:endParaRPr dirty="0"/>
          </a:p>
          <a:p>
            <a:pPr marL="182880" lvl="0" indent="-182880" algn="l" rtl="0">
              <a:lnSpc>
                <a:spcPct val="90000"/>
              </a:lnSpc>
              <a:spcBef>
                <a:spcPts val="1200"/>
              </a:spcBef>
              <a:spcAft>
                <a:spcPts val="0"/>
              </a:spcAft>
              <a:buSzPts val="1700"/>
              <a:buFont typeface="Georgia"/>
              <a:buAutoNum type="arabicPeriod"/>
            </a:pPr>
            <a:r>
              <a:rPr lang="en-IN" dirty="0" err="1">
                <a:solidFill>
                  <a:srgbClr val="4A4B4E"/>
                </a:solidFill>
                <a:latin typeface="IBM Plex Sans"/>
                <a:ea typeface="IBM Plex Sans"/>
                <a:cs typeface="IBM Plex Sans"/>
                <a:sym typeface="IBM Plex Sans"/>
              </a:rPr>
              <a:t>Disqus</a:t>
            </a:r>
            <a:r>
              <a:rPr lang="en-IN" dirty="0">
                <a:solidFill>
                  <a:srgbClr val="4A4B4E"/>
                </a:solidFill>
                <a:latin typeface="IBM Plex Sans"/>
                <a:ea typeface="IBM Plex Sans"/>
                <a:cs typeface="IBM Plex Sans"/>
                <a:sym typeface="IBM Plex Sans"/>
              </a:rPr>
              <a:t> </a:t>
            </a:r>
            <a:endParaRPr dirty="0"/>
          </a:p>
          <a:p>
            <a:pPr marL="182880" lvl="0" indent="-182880" algn="l" rtl="0">
              <a:lnSpc>
                <a:spcPct val="90000"/>
              </a:lnSpc>
              <a:spcBef>
                <a:spcPts val="1200"/>
              </a:spcBef>
              <a:spcAft>
                <a:spcPts val="0"/>
              </a:spcAft>
              <a:buSzPts val="1700"/>
              <a:buFont typeface="Georgia"/>
              <a:buAutoNum type="arabicPeriod"/>
            </a:pPr>
            <a:r>
              <a:rPr lang="en-IN" dirty="0">
                <a:solidFill>
                  <a:srgbClr val="4A4B4E"/>
                </a:solidFill>
                <a:latin typeface="IBM Plex Sans"/>
                <a:ea typeface="IBM Plex Sans"/>
                <a:cs typeface="IBM Plex Sans"/>
                <a:sym typeface="IBM Plex Sans"/>
              </a:rPr>
              <a:t>Bitbucket</a:t>
            </a:r>
            <a:endParaRPr dirty="0"/>
          </a:p>
          <a:p>
            <a:pPr marL="182880" lvl="0" indent="-182880" algn="l" rtl="0">
              <a:lnSpc>
                <a:spcPct val="90000"/>
              </a:lnSpc>
              <a:spcBef>
                <a:spcPts val="1200"/>
              </a:spcBef>
              <a:spcAft>
                <a:spcPts val="0"/>
              </a:spcAft>
              <a:buSzPts val="1700"/>
              <a:buFont typeface="Georgia"/>
              <a:buAutoNum type="arabicPeriod"/>
            </a:pPr>
            <a:r>
              <a:rPr lang="en-IN" dirty="0">
                <a:solidFill>
                  <a:srgbClr val="4A4B4E"/>
                </a:solidFill>
                <a:latin typeface="IBM Plex Sans"/>
                <a:ea typeface="IBM Plex Sans"/>
                <a:cs typeface="IBM Plex Sans"/>
                <a:sym typeface="IBM Plex Sans"/>
              </a:rPr>
              <a:t>Eventbrite </a:t>
            </a:r>
            <a:endParaRPr dirty="0"/>
          </a:p>
          <a:p>
            <a:pPr marL="182880" lvl="0" indent="-182880" algn="l" rtl="0">
              <a:lnSpc>
                <a:spcPct val="90000"/>
              </a:lnSpc>
              <a:spcBef>
                <a:spcPts val="1200"/>
              </a:spcBef>
              <a:spcAft>
                <a:spcPts val="0"/>
              </a:spcAft>
              <a:buSzPts val="1700"/>
              <a:buFont typeface="Georgia"/>
              <a:buAutoNum type="arabicPeriod"/>
            </a:pPr>
            <a:r>
              <a:rPr lang="en-IN" dirty="0">
                <a:solidFill>
                  <a:srgbClr val="4A4B4E"/>
                </a:solidFill>
                <a:latin typeface="IBM Plex Sans"/>
                <a:ea typeface="IBM Plex Sans"/>
                <a:cs typeface="IBM Plex Sans"/>
                <a:sym typeface="IBM Plex Sans"/>
              </a:rPr>
              <a:t>Prezi</a:t>
            </a:r>
            <a:endParaRPr dirty="0"/>
          </a:p>
          <a:p>
            <a:pPr marL="182880" lvl="0" indent="-74929" algn="l" rtl="0">
              <a:lnSpc>
                <a:spcPct val="90000"/>
              </a:lnSpc>
              <a:spcBef>
                <a:spcPts val="1200"/>
              </a:spcBef>
              <a:spcAft>
                <a:spcPts val="0"/>
              </a:spcAft>
              <a:buSzPts val="17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732A7-6EC3-4DF6-A746-3E34A26EACC1}"/>
              </a:ext>
            </a:extLst>
          </p:cNvPr>
          <p:cNvSpPr>
            <a:spLocks noGrp="1"/>
          </p:cNvSpPr>
          <p:nvPr>
            <p:ph type="title"/>
          </p:nvPr>
        </p:nvSpPr>
        <p:spPr/>
        <p:txBody>
          <a:bodyPr/>
          <a:lstStyle/>
          <a:p>
            <a:r>
              <a:rPr lang="en-US" dirty="0"/>
              <a:t>Django Work Flow</a:t>
            </a:r>
          </a:p>
        </p:txBody>
      </p:sp>
      <p:pic>
        <p:nvPicPr>
          <p:cNvPr id="4" name="Picture 3">
            <a:extLst>
              <a:ext uri="{FF2B5EF4-FFF2-40B4-BE49-F238E27FC236}">
                <a16:creationId xmlns:a16="http://schemas.microsoft.com/office/drawing/2014/main" id="{F4BDBFD3-4664-40ED-9235-F32DBF798CC2}"/>
              </a:ext>
            </a:extLst>
          </p:cNvPr>
          <p:cNvPicPr>
            <a:picLocks noChangeAspect="1"/>
          </p:cNvPicPr>
          <p:nvPr/>
        </p:nvPicPr>
        <p:blipFill>
          <a:blip r:embed="rId2"/>
          <a:stretch>
            <a:fillRect/>
          </a:stretch>
        </p:blipFill>
        <p:spPr>
          <a:xfrm>
            <a:off x="3329126" y="1960811"/>
            <a:ext cx="5450890" cy="4270680"/>
          </a:xfrm>
          <a:prstGeom prst="rect">
            <a:avLst/>
          </a:prstGeom>
        </p:spPr>
      </p:pic>
    </p:spTree>
    <p:extLst>
      <p:ext uri="{BB962C8B-B14F-4D97-AF65-F5344CB8AC3E}">
        <p14:creationId xmlns:p14="http://schemas.microsoft.com/office/powerpoint/2010/main" val="1978231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a:t>Django flow</a:t>
            </a:r>
            <a:endParaRPr/>
          </a:p>
        </p:txBody>
      </p:sp>
      <p:pic>
        <p:nvPicPr>
          <p:cNvPr id="129" name="Google Shape;129;p5" descr="Text&#10;&#10;Description automatically generated"/>
          <p:cNvPicPr preferRelativeResize="0"/>
          <p:nvPr/>
        </p:nvPicPr>
        <p:blipFill rotWithShape="1">
          <a:blip r:embed="rId3">
            <a:alphaModFix/>
          </a:blip>
          <a:srcRect/>
          <a:stretch/>
        </p:blipFill>
        <p:spPr>
          <a:xfrm>
            <a:off x="643467" y="1827627"/>
            <a:ext cx="10905066" cy="40893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6"/>
          <p:cNvSpPr txBox="1">
            <a:spLocks noGrp="1"/>
          </p:cNvSpPr>
          <p:nvPr>
            <p:ph type="title"/>
          </p:nvPr>
        </p:nvSpPr>
        <p:spPr>
          <a:xfrm>
            <a:off x="7466121" y="1931692"/>
            <a:ext cx="4083728" cy="1609344"/>
          </a:xfrm>
          <a:prstGeom prst="rect">
            <a:avLst/>
          </a:prstGeom>
          <a:noFill/>
          <a:ln>
            <a:noFill/>
          </a:ln>
        </p:spPr>
        <p:txBody>
          <a:bodyPr spcFirstLastPara="1" wrap="square" lIns="91425" tIns="45700" rIns="91425" bIns="45700" anchor="ctr" anchorCtr="0">
            <a:noAutofit/>
          </a:bodyPr>
          <a:lstStyle/>
          <a:p>
            <a:r>
              <a:rPr lang="en-US" sz="3600" dirty="0"/>
              <a:t>Understanding the app we will be building</a:t>
            </a:r>
          </a:p>
        </p:txBody>
      </p:sp>
      <p:pic>
        <p:nvPicPr>
          <p:cNvPr id="4" name="Picture 3">
            <a:extLst>
              <a:ext uri="{FF2B5EF4-FFF2-40B4-BE49-F238E27FC236}">
                <a16:creationId xmlns:a16="http://schemas.microsoft.com/office/drawing/2014/main" id="{A5D66457-AC58-4D2B-8CD2-FEDFBD8AD4A8}"/>
              </a:ext>
            </a:extLst>
          </p:cNvPr>
          <p:cNvPicPr>
            <a:picLocks noChangeAspect="1"/>
          </p:cNvPicPr>
          <p:nvPr/>
        </p:nvPicPr>
        <p:blipFill>
          <a:blip r:embed="rId3"/>
          <a:stretch>
            <a:fillRect/>
          </a:stretch>
        </p:blipFill>
        <p:spPr>
          <a:xfrm>
            <a:off x="1023013" y="344610"/>
            <a:ext cx="5991225" cy="59912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B12D8-8CA9-455B-B6CD-20295289DC78}"/>
              </a:ext>
            </a:extLst>
          </p:cNvPr>
          <p:cNvSpPr>
            <a:spLocks noGrp="1"/>
          </p:cNvSpPr>
          <p:nvPr>
            <p:ph type="title"/>
          </p:nvPr>
        </p:nvSpPr>
        <p:spPr>
          <a:xfrm>
            <a:off x="7455944" y="2881603"/>
            <a:ext cx="3466642" cy="1609344"/>
          </a:xfrm>
        </p:spPr>
        <p:txBody>
          <a:bodyPr>
            <a:noAutofit/>
          </a:bodyPr>
          <a:lstStyle/>
          <a:p>
            <a:r>
              <a:rPr lang="en-US" sz="2800" dirty="0"/>
              <a:t>Users will also be able to log in and post reviews of any movies</a:t>
            </a:r>
            <a:r>
              <a:rPr lang="en-US" sz="4400" dirty="0"/>
              <a:t> </a:t>
            </a:r>
            <a:r>
              <a:rPr lang="en-US" sz="2800" dirty="0"/>
              <a:t>they may have watched, as</a:t>
            </a:r>
            <a:br>
              <a:rPr lang="en-US" sz="2800" dirty="0"/>
            </a:br>
            <a:r>
              <a:rPr lang="en-US" sz="2800" dirty="0"/>
              <a:t>shown in figure</a:t>
            </a:r>
          </a:p>
        </p:txBody>
      </p:sp>
      <p:pic>
        <p:nvPicPr>
          <p:cNvPr id="4" name="Picture 3">
            <a:extLst>
              <a:ext uri="{FF2B5EF4-FFF2-40B4-BE49-F238E27FC236}">
                <a16:creationId xmlns:a16="http://schemas.microsoft.com/office/drawing/2014/main" id="{D33B20A1-E64A-4B44-8D5B-8480DE323757}"/>
              </a:ext>
            </a:extLst>
          </p:cNvPr>
          <p:cNvPicPr>
            <a:picLocks noChangeAspect="1"/>
          </p:cNvPicPr>
          <p:nvPr/>
        </p:nvPicPr>
        <p:blipFill>
          <a:blip r:embed="rId2"/>
          <a:stretch>
            <a:fillRect/>
          </a:stretch>
        </p:blipFill>
        <p:spPr>
          <a:xfrm>
            <a:off x="1269414" y="1079977"/>
            <a:ext cx="5924550" cy="4467225"/>
          </a:xfrm>
          <a:prstGeom prst="rect">
            <a:avLst/>
          </a:prstGeom>
        </p:spPr>
      </p:pic>
    </p:spTree>
    <p:extLst>
      <p:ext uri="{BB962C8B-B14F-4D97-AF65-F5344CB8AC3E}">
        <p14:creationId xmlns:p14="http://schemas.microsoft.com/office/powerpoint/2010/main" val="1659988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B94F2E1-3A96-49EF-90E4-C81F33E22A37}"/>
              </a:ext>
            </a:extLst>
          </p:cNvPr>
          <p:cNvSpPr>
            <a:spLocks noGrp="1"/>
          </p:cNvSpPr>
          <p:nvPr>
            <p:ph idx="1"/>
          </p:nvPr>
        </p:nvSpPr>
        <p:spPr>
          <a:xfrm>
            <a:off x="901171" y="1792002"/>
            <a:ext cx="5757081" cy="4050792"/>
          </a:xfrm>
        </p:spPr>
        <p:txBody>
          <a:bodyPr/>
          <a:lstStyle/>
          <a:p>
            <a:r>
              <a:rPr lang="en-US" dirty="0"/>
              <a:t>Installing Python For Windows, run this:</a:t>
            </a:r>
          </a:p>
          <a:p>
            <a:pPr marL="131445" indent="0">
              <a:buNone/>
            </a:pPr>
            <a:r>
              <a:rPr lang="en-US" b="1" dirty="0"/>
              <a:t>    </a:t>
            </a:r>
            <a:r>
              <a:rPr lang="en-US" b="1" dirty="0">
                <a:solidFill>
                  <a:srgbClr val="FF0000"/>
                </a:solidFill>
              </a:rPr>
              <a:t>python --version</a:t>
            </a:r>
          </a:p>
          <a:p>
            <a:r>
              <a:rPr lang="en-US" b="1" dirty="0"/>
              <a:t>Installing Django </a:t>
            </a:r>
            <a:r>
              <a:rPr lang="en-US" dirty="0"/>
              <a:t>For Windows, run this:</a:t>
            </a:r>
          </a:p>
          <a:p>
            <a:pPr marL="131445" indent="0">
              <a:buNone/>
            </a:pPr>
            <a:r>
              <a:rPr lang="en-US" b="1" dirty="0"/>
              <a:t>    </a:t>
            </a:r>
            <a:r>
              <a:rPr lang="en-US" b="1" dirty="0">
                <a:solidFill>
                  <a:srgbClr val="FF0000"/>
                </a:solidFill>
              </a:rPr>
              <a:t>pip install Django==4.0</a:t>
            </a:r>
          </a:p>
          <a:p>
            <a:r>
              <a:rPr lang="en-US" dirty="0"/>
              <a:t>Ensure you have installed Django by running the following command.</a:t>
            </a:r>
          </a:p>
          <a:p>
            <a:pPr marL="131445" indent="0">
              <a:buNone/>
            </a:pPr>
            <a:r>
              <a:rPr lang="en-US" b="1" dirty="0"/>
              <a:t>    </a:t>
            </a:r>
            <a:r>
              <a:rPr lang="en-US" b="1" dirty="0">
                <a:solidFill>
                  <a:srgbClr val="FF0000"/>
                </a:solidFill>
              </a:rPr>
              <a:t>python -m </a:t>
            </a:r>
            <a:r>
              <a:rPr lang="en-US" b="1" dirty="0" err="1">
                <a:solidFill>
                  <a:srgbClr val="FF0000"/>
                </a:solidFill>
              </a:rPr>
              <a:t>django</a:t>
            </a:r>
            <a:endParaRPr lang="en-US" dirty="0">
              <a:solidFill>
                <a:srgbClr val="FF0000"/>
              </a:solidFill>
            </a:endParaRPr>
          </a:p>
        </p:txBody>
      </p:sp>
      <p:pic>
        <p:nvPicPr>
          <p:cNvPr id="2" name="Picture 1">
            <a:extLst>
              <a:ext uri="{FF2B5EF4-FFF2-40B4-BE49-F238E27FC236}">
                <a16:creationId xmlns:a16="http://schemas.microsoft.com/office/drawing/2014/main" id="{CD1CEC09-9FDE-4D43-9AD4-92670D8C8C79}"/>
              </a:ext>
            </a:extLst>
          </p:cNvPr>
          <p:cNvPicPr>
            <a:picLocks noChangeAspect="1"/>
          </p:cNvPicPr>
          <p:nvPr/>
        </p:nvPicPr>
        <p:blipFill>
          <a:blip r:embed="rId2"/>
          <a:stretch>
            <a:fillRect/>
          </a:stretch>
        </p:blipFill>
        <p:spPr>
          <a:xfrm>
            <a:off x="7155494" y="761815"/>
            <a:ext cx="4374842" cy="5600700"/>
          </a:xfrm>
          <a:prstGeom prst="rect">
            <a:avLst/>
          </a:prstGeom>
        </p:spPr>
      </p:pic>
    </p:spTree>
    <p:extLst>
      <p:ext uri="{BB962C8B-B14F-4D97-AF65-F5344CB8AC3E}">
        <p14:creationId xmlns:p14="http://schemas.microsoft.com/office/powerpoint/2010/main" val="2521967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buSzPts val="4800"/>
            </a:pPr>
            <a:r>
              <a:rPr lang="en-US" dirty="0"/>
              <a:t>To create a new project</a:t>
            </a:r>
            <a:endParaRPr dirty="0"/>
          </a:p>
        </p:txBody>
      </p:sp>
      <p:sp>
        <p:nvSpPr>
          <p:cNvPr id="171" name="Google Shape;171;p1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r>
              <a:rPr lang="en-US" dirty="0"/>
              <a:t>In the Terminal, navigate to a folder on your computer where you want to store your Django project, such as Desktop. In that folder, you will run a command like this:</a:t>
            </a:r>
            <a:endParaRPr sz="1800" b="1" dirty="0">
              <a:latin typeface="Calibri"/>
              <a:ea typeface="Calibri"/>
              <a:cs typeface="Calibri"/>
              <a:sym typeface="Calibri"/>
            </a:endParaRPr>
          </a:p>
          <a:p>
            <a:pPr marL="182880" indent="-85724">
              <a:buNone/>
            </a:pPr>
            <a:r>
              <a:rPr lang="en-US" b="1" dirty="0">
                <a:solidFill>
                  <a:srgbClr val="FF0000"/>
                </a:solidFill>
              </a:rPr>
              <a:t>python -m </a:t>
            </a:r>
            <a:r>
              <a:rPr lang="en-US" b="1" dirty="0" err="1">
                <a:solidFill>
                  <a:srgbClr val="FF0000"/>
                </a:solidFill>
              </a:rPr>
              <a:t>django</a:t>
            </a:r>
            <a:r>
              <a:rPr lang="en-US" b="1" dirty="0">
                <a:solidFill>
                  <a:srgbClr val="FF0000"/>
                </a:solidFill>
              </a:rPr>
              <a:t> </a:t>
            </a:r>
            <a:r>
              <a:rPr lang="en-US" b="1" dirty="0" err="1">
                <a:solidFill>
                  <a:srgbClr val="FF0000"/>
                </a:solidFill>
              </a:rPr>
              <a:t>startproject</a:t>
            </a:r>
            <a:r>
              <a:rPr lang="en-US" b="1" dirty="0">
                <a:solidFill>
                  <a:srgbClr val="FF0000"/>
                </a:solidFill>
              </a:rPr>
              <a:t> </a:t>
            </a:r>
            <a:r>
              <a:rPr lang="en-US" b="1" dirty="0" err="1">
                <a:solidFill>
                  <a:srgbClr val="FF0000"/>
                </a:solidFill>
              </a:rPr>
              <a:t>moviereviews</a:t>
            </a:r>
            <a:endParaRPr lang="en-US" b="1" dirty="0">
              <a:solidFill>
                <a:srgbClr val="FF0000"/>
              </a:solidFill>
            </a:endParaRPr>
          </a:p>
          <a:p>
            <a:pPr marL="440056" indent="-342900"/>
            <a:r>
              <a:rPr lang="en-US" b="1" dirty="0"/>
              <a:t>Running the Django local web server</a:t>
            </a:r>
            <a:endParaRPr lang="en-US" b="1" dirty="0">
              <a:solidFill>
                <a:srgbClr val="FF0000"/>
              </a:solidFill>
            </a:endParaRPr>
          </a:p>
          <a:p>
            <a:pPr marL="382906" indent="-285750"/>
            <a:r>
              <a:rPr lang="en-US" dirty="0"/>
              <a:t>In the Terminal, cd into the created folder:</a:t>
            </a:r>
            <a:endParaRPr sz="1800" b="1" dirty="0">
              <a:solidFill>
                <a:srgbClr val="FF0000"/>
              </a:solidFill>
              <a:latin typeface="Calibri"/>
              <a:ea typeface="Calibri"/>
              <a:cs typeface="Calibri"/>
              <a:sym typeface="Calibri"/>
            </a:endParaRPr>
          </a:p>
          <a:p>
            <a:pPr marL="182880" indent="-85724">
              <a:buNone/>
            </a:pPr>
            <a:r>
              <a:rPr lang="en-US" b="1" dirty="0">
                <a:solidFill>
                  <a:srgbClr val="FF0000"/>
                </a:solidFill>
              </a:rPr>
              <a:t>cd </a:t>
            </a:r>
            <a:r>
              <a:rPr lang="en-US" b="1" dirty="0" err="1">
                <a:solidFill>
                  <a:srgbClr val="FF0000"/>
                </a:solidFill>
              </a:rPr>
              <a:t>moviereviews</a:t>
            </a:r>
            <a:endParaRPr lang="en-US" b="1" dirty="0">
              <a:solidFill>
                <a:srgbClr val="FF0000"/>
              </a:solidFill>
            </a:endParaRPr>
          </a:p>
          <a:p>
            <a:pPr marL="182880" lvl="0" indent="-85724">
              <a:buNone/>
            </a:pPr>
            <a:r>
              <a:rPr lang="en-US" b="1" dirty="0">
                <a:solidFill>
                  <a:srgbClr val="FF0000"/>
                </a:solidFill>
              </a:rPr>
              <a:t>python manage.py </a:t>
            </a:r>
            <a:r>
              <a:rPr lang="en-US" b="1" dirty="0" err="1">
                <a:solidFill>
                  <a:srgbClr val="FF0000"/>
                </a:solidFill>
              </a:rPr>
              <a:t>runserver</a:t>
            </a:r>
            <a:endParaRPr sz="1800" b="1" dirty="0">
              <a:solidFill>
                <a:srgbClr val="FF0000"/>
              </a:solidFill>
              <a:latin typeface="Calibri"/>
              <a:ea typeface="Calibri"/>
              <a:cs typeface="Calibri"/>
              <a:sym typeface="Calibri"/>
            </a:endParaRPr>
          </a:p>
          <a:p>
            <a:pPr marL="182880" lvl="0" indent="-85724" algn="l" rtl="0">
              <a:lnSpc>
                <a:spcPct val="90000"/>
              </a:lnSpc>
              <a:spcBef>
                <a:spcPts val="1200"/>
              </a:spcBef>
              <a:spcAft>
                <a:spcPts val="0"/>
              </a:spcAft>
              <a:buSzPts val="1530"/>
              <a:buNone/>
            </a:pPr>
            <a:endParaRPr sz="1800" b="1" dirty="0">
              <a:latin typeface="Calibri"/>
              <a:ea typeface="Calibri"/>
              <a:cs typeface="Calibri"/>
              <a:sym typeface="Calibri"/>
            </a:endParaRPr>
          </a:p>
          <a:p>
            <a:pPr marL="182880" lvl="0" indent="-74929" algn="l" rtl="0">
              <a:lnSpc>
                <a:spcPct val="90000"/>
              </a:lnSpc>
              <a:spcBef>
                <a:spcPts val="1200"/>
              </a:spcBef>
              <a:spcAft>
                <a:spcPts val="0"/>
              </a:spcAft>
              <a:buSzPts val="1700"/>
              <a:buNone/>
            </a:pPr>
            <a:endParaRPr dirty="0"/>
          </a:p>
        </p:txBody>
      </p:sp>
      <p:pic>
        <p:nvPicPr>
          <p:cNvPr id="2" name="Picture 1">
            <a:extLst>
              <a:ext uri="{FF2B5EF4-FFF2-40B4-BE49-F238E27FC236}">
                <a16:creationId xmlns:a16="http://schemas.microsoft.com/office/drawing/2014/main" id="{10AB8D8A-ED24-434A-B403-E710473913CE}"/>
              </a:ext>
            </a:extLst>
          </p:cNvPr>
          <p:cNvPicPr>
            <a:picLocks noChangeAspect="1"/>
          </p:cNvPicPr>
          <p:nvPr/>
        </p:nvPicPr>
        <p:blipFill>
          <a:blip r:embed="rId3"/>
          <a:stretch>
            <a:fillRect/>
          </a:stretch>
        </p:blipFill>
        <p:spPr>
          <a:xfrm>
            <a:off x="6679892" y="3382900"/>
            <a:ext cx="4762500" cy="2762250"/>
          </a:xfrm>
          <a:prstGeom prst="rect">
            <a:avLst/>
          </a:prstGeom>
        </p:spPr>
      </p:pic>
      <p:sp>
        <p:nvSpPr>
          <p:cNvPr id="3" name="Arrow: Left 2">
            <a:extLst>
              <a:ext uri="{FF2B5EF4-FFF2-40B4-BE49-F238E27FC236}">
                <a16:creationId xmlns:a16="http://schemas.microsoft.com/office/drawing/2014/main" id="{5AC1F735-D942-42A7-A44F-E32FD2A957BA}"/>
              </a:ext>
            </a:extLst>
          </p:cNvPr>
          <p:cNvSpPr/>
          <p:nvPr/>
        </p:nvSpPr>
        <p:spPr>
          <a:xfrm>
            <a:off x="11001235" y="3322976"/>
            <a:ext cx="568171" cy="425196"/>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1</a:t>
            </a:r>
          </a:p>
        </p:txBody>
      </p:sp>
      <p:sp>
        <p:nvSpPr>
          <p:cNvPr id="8" name="Arrow: Left 7">
            <a:extLst>
              <a:ext uri="{FF2B5EF4-FFF2-40B4-BE49-F238E27FC236}">
                <a16:creationId xmlns:a16="http://schemas.microsoft.com/office/drawing/2014/main" id="{E373AC24-72A3-48A0-BA8F-9781082C94AF}"/>
              </a:ext>
            </a:extLst>
          </p:cNvPr>
          <p:cNvSpPr/>
          <p:nvPr/>
        </p:nvSpPr>
        <p:spPr>
          <a:xfrm>
            <a:off x="8934218" y="3605266"/>
            <a:ext cx="568171" cy="425196"/>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2</a:t>
            </a:r>
          </a:p>
        </p:txBody>
      </p:sp>
      <p:sp>
        <p:nvSpPr>
          <p:cNvPr id="9" name="Arrow: Left 8">
            <a:extLst>
              <a:ext uri="{FF2B5EF4-FFF2-40B4-BE49-F238E27FC236}">
                <a16:creationId xmlns:a16="http://schemas.microsoft.com/office/drawing/2014/main" id="{A16A91EE-96C2-46F6-BAEE-6435EF7EFC5D}"/>
              </a:ext>
            </a:extLst>
          </p:cNvPr>
          <p:cNvSpPr/>
          <p:nvPr/>
        </p:nvSpPr>
        <p:spPr>
          <a:xfrm>
            <a:off x="10717149" y="3934206"/>
            <a:ext cx="568171" cy="425196"/>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3"/>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nSpc>
                <a:spcPct val="90000"/>
              </a:lnSpc>
              <a:spcBef>
                <a:spcPts val="0"/>
              </a:spcBef>
              <a:buSzPts val="4800"/>
            </a:pPr>
            <a:r>
              <a:rPr lang="en-US" sz="2400" dirty="0">
                <a:latin typeface="Calibri"/>
                <a:ea typeface="Calibri"/>
                <a:cs typeface="Calibri"/>
                <a:sym typeface="Calibri"/>
              </a:rPr>
              <a:t>Copy the </a:t>
            </a:r>
            <a:r>
              <a:rPr lang="en-US" sz="2400" dirty="0" err="1">
                <a:latin typeface="Calibri"/>
                <a:ea typeface="Calibri"/>
                <a:cs typeface="Calibri"/>
                <a:sym typeface="Calibri"/>
              </a:rPr>
              <a:t>url</a:t>
            </a:r>
            <a:r>
              <a:rPr lang="en-US" sz="2400" dirty="0">
                <a:latin typeface="Calibri"/>
                <a:ea typeface="Calibri"/>
                <a:cs typeface="Calibri"/>
                <a:sym typeface="Calibri"/>
              </a:rPr>
              <a:t> (http://127.0.0.1:8000/ )and open it in the browser. If you see the below screen, that means everything was successful.</a:t>
            </a:r>
            <a:endParaRPr sz="2400" dirty="0"/>
          </a:p>
        </p:txBody>
      </p:sp>
      <p:pic>
        <p:nvPicPr>
          <p:cNvPr id="187" name="Google Shape;187;p13"/>
          <p:cNvPicPr preferRelativeResize="0"/>
          <p:nvPr/>
        </p:nvPicPr>
        <p:blipFill rotWithShape="1">
          <a:blip r:embed="rId3">
            <a:alphaModFix/>
          </a:blip>
          <a:srcRect/>
          <a:stretch/>
        </p:blipFill>
        <p:spPr>
          <a:xfrm>
            <a:off x="1459168" y="1902357"/>
            <a:ext cx="8616987" cy="42676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4896-7529-4060-BCFD-D0517A2EAE3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51D2779-2EB5-474B-A7AA-D40F55AE3205}"/>
              </a:ext>
            </a:extLst>
          </p:cNvPr>
          <p:cNvSpPr>
            <a:spLocks noGrp="1"/>
          </p:cNvSpPr>
          <p:nvPr>
            <p:ph idx="1"/>
          </p:nvPr>
        </p:nvSpPr>
        <p:spPr/>
        <p:txBody>
          <a:bodyPr/>
          <a:lstStyle/>
          <a:p>
            <a:r>
              <a:rPr lang="en-US" dirty="0"/>
              <a:t>Open VS Code, open the folder </a:t>
            </a:r>
            <a:r>
              <a:rPr lang="en-US" dirty="0" err="1"/>
              <a:t>moviereviews</a:t>
            </a:r>
            <a:r>
              <a:rPr lang="en-US" dirty="0"/>
              <a:t>.</a:t>
            </a:r>
          </a:p>
          <a:p>
            <a:r>
              <a:rPr lang="en-US" dirty="0"/>
              <a:t>To avoid confusion and to distinguish between the two </a:t>
            </a:r>
            <a:r>
              <a:rPr lang="en-US" dirty="0" err="1"/>
              <a:t>moviereviews</a:t>
            </a:r>
            <a:r>
              <a:rPr lang="en-US" dirty="0"/>
              <a:t> folders, we will keep the inner </a:t>
            </a:r>
            <a:r>
              <a:rPr lang="en-US" dirty="0" err="1"/>
              <a:t>moviereviews</a:t>
            </a:r>
            <a:r>
              <a:rPr lang="en-US" dirty="0"/>
              <a:t> folder as it is and rename the outer folder </a:t>
            </a:r>
            <a:r>
              <a:rPr lang="en-US" dirty="0" err="1"/>
              <a:t>moviereviewsproject</a:t>
            </a:r>
            <a:r>
              <a:rPr lang="en-US" dirty="0"/>
              <a:t>. </a:t>
            </a:r>
          </a:p>
          <a:p>
            <a:endParaRPr lang="en-US" dirty="0"/>
          </a:p>
        </p:txBody>
      </p:sp>
      <p:pic>
        <p:nvPicPr>
          <p:cNvPr id="4" name="Picture 3">
            <a:extLst>
              <a:ext uri="{FF2B5EF4-FFF2-40B4-BE49-F238E27FC236}">
                <a16:creationId xmlns:a16="http://schemas.microsoft.com/office/drawing/2014/main" id="{907ED32A-5A4D-41A8-A1F2-36E94776D59F}"/>
              </a:ext>
            </a:extLst>
          </p:cNvPr>
          <p:cNvPicPr>
            <a:picLocks noChangeAspect="1"/>
          </p:cNvPicPr>
          <p:nvPr/>
        </p:nvPicPr>
        <p:blipFill>
          <a:blip r:embed="rId2"/>
          <a:stretch>
            <a:fillRect/>
          </a:stretch>
        </p:blipFill>
        <p:spPr>
          <a:xfrm>
            <a:off x="1459175" y="3262749"/>
            <a:ext cx="2856483" cy="3038475"/>
          </a:xfrm>
          <a:prstGeom prst="rect">
            <a:avLst/>
          </a:prstGeom>
        </p:spPr>
      </p:pic>
      <p:pic>
        <p:nvPicPr>
          <p:cNvPr id="5" name="Picture 4">
            <a:extLst>
              <a:ext uri="{FF2B5EF4-FFF2-40B4-BE49-F238E27FC236}">
                <a16:creationId xmlns:a16="http://schemas.microsoft.com/office/drawing/2014/main" id="{F62985D8-15EB-4FAC-A488-4EDE6ABC858B}"/>
              </a:ext>
            </a:extLst>
          </p:cNvPr>
          <p:cNvPicPr>
            <a:picLocks noChangeAspect="1"/>
          </p:cNvPicPr>
          <p:nvPr/>
        </p:nvPicPr>
        <p:blipFill>
          <a:blip r:embed="rId3"/>
          <a:stretch>
            <a:fillRect/>
          </a:stretch>
        </p:blipFill>
        <p:spPr>
          <a:xfrm>
            <a:off x="6571602" y="3262749"/>
            <a:ext cx="2856483" cy="3038475"/>
          </a:xfrm>
          <a:prstGeom prst="rect">
            <a:avLst/>
          </a:prstGeom>
        </p:spPr>
      </p:pic>
      <p:sp>
        <p:nvSpPr>
          <p:cNvPr id="6" name="Arrow: Left 5">
            <a:extLst>
              <a:ext uri="{FF2B5EF4-FFF2-40B4-BE49-F238E27FC236}">
                <a16:creationId xmlns:a16="http://schemas.microsoft.com/office/drawing/2014/main" id="{DB09BAB3-EAA4-4F7C-AC1B-5173D34F56D8}"/>
              </a:ext>
            </a:extLst>
          </p:cNvPr>
          <p:cNvSpPr/>
          <p:nvPr/>
        </p:nvSpPr>
        <p:spPr>
          <a:xfrm>
            <a:off x="8700117" y="4070412"/>
            <a:ext cx="417250" cy="328473"/>
          </a:xfrm>
          <a:prstGeom prst="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97347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a:t>all the files created by default</a:t>
            </a:r>
            <a:endParaRPr/>
          </a:p>
        </p:txBody>
      </p:sp>
      <p:sp>
        <p:nvSpPr>
          <p:cNvPr id="201" name="Google Shape;201;p1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lnSpc>
                <a:spcPct val="107000"/>
              </a:lnSpc>
              <a:spcBef>
                <a:spcPts val="0"/>
              </a:spcBef>
              <a:spcAft>
                <a:spcPts val="0"/>
              </a:spcAft>
              <a:buSzPts val="1530"/>
              <a:buFont typeface="Georgia"/>
              <a:buAutoNum type="arabicPeriod"/>
            </a:pPr>
            <a:r>
              <a:rPr lang="en-IN" sz="1800" b="1" dirty="0">
                <a:solidFill>
                  <a:srgbClr val="FF0000"/>
                </a:solidFill>
                <a:latin typeface="Calibri"/>
                <a:ea typeface="Calibri"/>
                <a:cs typeface="Calibri"/>
                <a:sym typeface="Calibri"/>
              </a:rPr>
              <a:t>manage.py</a:t>
            </a:r>
            <a:r>
              <a:rPr lang="en-IN" sz="1800" dirty="0">
                <a:latin typeface="Calibri"/>
                <a:ea typeface="Calibri"/>
                <a:cs typeface="Calibri"/>
                <a:sym typeface="Calibri"/>
              </a:rPr>
              <a:t>: allows us to execute all the code. DO NOT MAKE ANY CHANGES TO IT.</a:t>
            </a:r>
            <a:endParaRPr dirty="0"/>
          </a:p>
          <a:p>
            <a:pPr marL="342900" lvl="0" indent="-342900" algn="l" rtl="0">
              <a:lnSpc>
                <a:spcPct val="107000"/>
              </a:lnSpc>
              <a:spcBef>
                <a:spcPts val="1200"/>
              </a:spcBef>
              <a:spcAft>
                <a:spcPts val="0"/>
              </a:spcAft>
              <a:buSzPts val="1530"/>
              <a:buFont typeface="Georgia"/>
              <a:buAutoNum type="arabicPeriod"/>
            </a:pPr>
            <a:r>
              <a:rPr lang="en-IN" sz="1800" b="1" dirty="0">
                <a:solidFill>
                  <a:srgbClr val="FF0000"/>
                </a:solidFill>
                <a:latin typeface="Calibri"/>
                <a:ea typeface="Calibri"/>
                <a:cs typeface="Calibri"/>
                <a:sym typeface="Calibri"/>
              </a:rPr>
              <a:t>db.sqlite3: </a:t>
            </a:r>
            <a:r>
              <a:rPr lang="en-IN" sz="1800" dirty="0">
                <a:latin typeface="Calibri"/>
                <a:ea typeface="Calibri"/>
                <a:cs typeface="Calibri"/>
                <a:sym typeface="Calibri"/>
              </a:rPr>
              <a:t>the default </a:t>
            </a:r>
            <a:r>
              <a:rPr lang="en-IN" sz="1800" dirty="0" err="1">
                <a:latin typeface="Calibri"/>
                <a:ea typeface="Calibri"/>
                <a:cs typeface="Calibri"/>
                <a:sym typeface="Calibri"/>
              </a:rPr>
              <a:t>sqlite</a:t>
            </a:r>
            <a:r>
              <a:rPr lang="en-IN" sz="1800" dirty="0">
                <a:latin typeface="Calibri"/>
                <a:ea typeface="Calibri"/>
                <a:cs typeface="Calibri"/>
                <a:sym typeface="Calibri"/>
              </a:rPr>
              <a:t> database that comes with Django.</a:t>
            </a:r>
            <a:endParaRPr dirty="0"/>
          </a:p>
          <a:p>
            <a:pPr marL="342900" lvl="0" indent="-342900" algn="l" rtl="0">
              <a:lnSpc>
                <a:spcPct val="107000"/>
              </a:lnSpc>
              <a:spcBef>
                <a:spcPts val="1200"/>
              </a:spcBef>
              <a:spcAft>
                <a:spcPts val="0"/>
              </a:spcAft>
              <a:buSzPts val="1530"/>
              <a:buFont typeface="Georgia"/>
              <a:buAutoNum type="arabicPeriod"/>
            </a:pPr>
            <a:r>
              <a:rPr lang="en-IN" sz="1800" b="1" dirty="0">
                <a:solidFill>
                  <a:srgbClr val="FF0000"/>
                </a:solidFill>
                <a:latin typeface="Calibri"/>
                <a:ea typeface="Calibri"/>
                <a:cs typeface="Calibri"/>
                <a:sym typeface="Calibri"/>
              </a:rPr>
              <a:t>wsgi.py: </a:t>
            </a:r>
            <a:r>
              <a:rPr lang="en-IN" sz="1800" dirty="0">
                <a:latin typeface="Calibri"/>
                <a:ea typeface="Calibri"/>
                <a:cs typeface="Calibri"/>
                <a:sym typeface="Calibri"/>
              </a:rPr>
              <a:t>web server gateway interface allows us to create the Django server</a:t>
            </a:r>
            <a:endParaRPr dirty="0"/>
          </a:p>
          <a:p>
            <a:pPr marL="342900" lvl="0" indent="-342900" algn="l" rtl="0">
              <a:lnSpc>
                <a:spcPct val="107000"/>
              </a:lnSpc>
              <a:spcBef>
                <a:spcPts val="1200"/>
              </a:spcBef>
              <a:spcAft>
                <a:spcPts val="0"/>
              </a:spcAft>
              <a:buSzPts val="1530"/>
              <a:buFont typeface="Georgia"/>
              <a:buAutoNum type="arabicPeriod"/>
            </a:pPr>
            <a:r>
              <a:rPr lang="en-IN" sz="1800" b="1" dirty="0">
                <a:solidFill>
                  <a:srgbClr val="FF0000"/>
                </a:solidFill>
                <a:latin typeface="Calibri"/>
                <a:ea typeface="Calibri"/>
                <a:cs typeface="Calibri"/>
                <a:sym typeface="Calibri"/>
              </a:rPr>
              <a:t>urls.py: </a:t>
            </a:r>
            <a:r>
              <a:rPr lang="en-IN" sz="1800" dirty="0">
                <a:latin typeface="Calibri"/>
                <a:ea typeface="Calibri"/>
                <a:cs typeface="Calibri"/>
                <a:sym typeface="Calibri"/>
              </a:rPr>
              <a:t>contains a list of </a:t>
            </a:r>
            <a:r>
              <a:rPr lang="en-IN" sz="1800" dirty="0" err="1">
                <a:latin typeface="Calibri"/>
                <a:ea typeface="Calibri"/>
                <a:cs typeface="Calibri"/>
                <a:sym typeface="Calibri"/>
              </a:rPr>
              <a:t>url</a:t>
            </a:r>
            <a:r>
              <a:rPr lang="en-IN" sz="1800" dirty="0">
                <a:latin typeface="Calibri"/>
                <a:ea typeface="Calibri"/>
                <a:cs typeface="Calibri"/>
                <a:sym typeface="Calibri"/>
              </a:rPr>
              <a:t> paths for routing across the website </a:t>
            </a:r>
            <a:endParaRPr dirty="0"/>
          </a:p>
          <a:p>
            <a:pPr marL="342900" lvl="0" indent="-342900" algn="l" rtl="0">
              <a:lnSpc>
                <a:spcPct val="107000"/>
              </a:lnSpc>
              <a:spcBef>
                <a:spcPts val="1200"/>
              </a:spcBef>
              <a:spcAft>
                <a:spcPts val="0"/>
              </a:spcAft>
              <a:buSzPts val="1530"/>
              <a:buFont typeface="Georgia"/>
              <a:buAutoNum type="arabicPeriod"/>
            </a:pPr>
            <a:r>
              <a:rPr lang="en-IN" sz="1800" b="1" dirty="0">
                <a:solidFill>
                  <a:srgbClr val="FF0000"/>
                </a:solidFill>
                <a:latin typeface="Calibri"/>
                <a:ea typeface="Calibri"/>
                <a:cs typeface="Calibri"/>
                <a:sym typeface="Calibri"/>
              </a:rPr>
              <a:t>asgi.py: </a:t>
            </a:r>
            <a:r>
              <a:rPr lang="en-IN" sz="1800" dirty="0">
                <a:latin typeface="Calibri"/>
                <a:ea typeface="Calibri"/>
                <a:cs typeface="Calibri"/>
                <a:sym typeface="Calibri"/>
              </a:rPr>
              <a:t>is for asynchronous calls (Async programming in Python. Asynchronous programming is a characteristic of modern programming languages that allows an application to perform various operations without waiting for any of them.)</a:t>
            </a:r>
            <a:endParaRPr dirty="0"/>
          </a:p>
          <a:p>
            <a:pPr marL="342900" lvl="0" indent="-342900" algn="l" rtl="0">
              <a:lnSpc>
                <a:spcPct val="107000"/>
              </a:lnSpc>
              <a:spcBef>
                <a:spcPts val="1200"/>
              </a:spcBef>
              <a:spcAft>
                <a:spcPts val="0"/>
              </a:spcAft>
              <a:buSzPts val="1530"/>
              <a:buFont typeface="Georgia"/>
              <a:buAutoNum type="arabicPeriod"/>
            </a:pPr>
            <a:r>
              <a:rPr lang="en-IN" sz="1800" b="1" dirty="0">
                <a:solidFill>
                  <a:srgbClr val="FF0000"/>
                </a:solidFill>
                <a:latin typeface="Calibri"/>
                <a:ea typeface="Calibri"/>
                <a:cs typeface="Calibri"/>
                <a:sym typeface="Calibri"/>
              </a:rPr>
              <a:t>settings.py: </a:t>
            </a:r>
            <a:r>
              <a:rPr lang="en-IN" sz="1800" dirty="0">
                <a:latin typeface="Calibri"/>
                <a:ea typeface="Calibri"/>
                <a:cs typeface="Calibri"/>
                <a:sym typeface="Calibri"/>
              </a:rPr>
              <a:t>is the core command centre of the project. It connects everything: apps, templates, databases, </a:t>
            </a:r>
            <a:r>
              <a:rPr lang="en-IN" sz="1800" dirty="0" err="1">
                <a:latin typeface="Calibri"/>
                <a:ea typeface="Calibri"/>
                <a:cs typeface="Calibri"/>
                <a:sym typeface="Calibri"/>
              </a:rPr>
              <a:t>urls</a:t>
            </a:r>
            <a:r>
              <a:rPr lang="en-IN" sz="1800" dirty="0">
                <a:latin typeface="Calibri"/>
                <a:ea typeface="Calibri"/>
                <a:cs typeface="Calibri"/>
                <a:sym typeface="Calibri"/>
              </a:rPr>
              <a:t>, static files, etc.</a:t>
            </a:r>
            <a:endParaRPr dirty="0"/>
          </a:p>
          <a:p>
            <a:pPr marL="342900" lvl="0" indent="-342900" algn="l" rtl="0">
              <a:lnSpc>
                <a:spcPct val="107000"/>
              </a:lnSpc>
              <a:spcBef>
                <a:spcPts val="1200"/>
              </a:spcBef>
              <a:spcAft>
                <a:spcPts val="0"/>
              </a:spcAft>
              <a:buSzPts val="1530"/>
              <a:buFont typeface="Georgia"/>
              <a:buAutoNum type="arabicPeriod"/>
            </a:pPr>
            <a:r>
              <a:rPr lang="en-IN" sz="1800" dirty="0">
                <a:latin typeface="Calibri"/>
                <a:ea typeface="Calibri"/>
                <a:cs typeface="Calibri"/>
                <a:sym typeface="Calibri"/>
              </a:rPr>
              <a:t>Apps are small components that handle different pages of a website.</a:t>
            </a:r>
            <a:endParaRPr dirty="0"/>
          </a:p>
          <a:p>
            <a:pPr marL="182880" lvl="0" indent="-74929" algn="l" rtl="0">
              <a:lnSpc>
                <a:spcPct val="90000"/>
              </a:lnSpc>
              <a:spcBef>
                <a:spcPts val="2000"/>
              </a:spcBef>
              <a:spcAft>
                <a:spcPts val="0"/>
              </a:spcAft>
              <a:buSzPts val="1700"/>
              <a:buNone/>
            </a:pPr>
            <a:endParaRPr dirty="0"/>
          </a:p>
        </p:txBody>
      </p:sp>
      <p:pic>
        <p:nvPicPr>
          <p:cNvPr id="5" name="Picture 4">
            <a:extLst>
              <a:ext uri="{FF2B5EF4-FFF2-40B4-BE49-F238E27FC236}">
                <a16:creationId xmlns:a16="http://schemas.microsoft.com/office/drawing/2014/main" id="{AFFB5FB7-3BFB-41A9-BD4D-8A74669A3F31}"/>
              </a:ext>
            </a:extLst>
          </p:cNvPr>
          <p:cNvPicPr>
            <a:picLocks noChangeAspect="1"/>
          </p:cNvPicPr>
          <p:nvPr/>
        </p:nvPicPr>
        <p:blipFill>
          <a:blip r:embed="rId3"/>
          <a:stretch>
            <a:fillRect/>
          </a:stretch>
        </p:blipFill>
        <p:spPr>
          <a:xfrm>
            <a:off x="9341435" y="988906"/>
            <a:ext cx="2453791" cy="2610127"/>
          </a:xfrm>
          <a:prstGeom prst="rect">
            <a:avLst/>
          </a:prstGeom>
        </p:spPr>
      </p:pic>
      <p:sp>
        <p:nvSpPr>
          <p:cNvPr id="6" name="Arrow: Left 5">
            <a:extLst>
              <a:ext uri="{FF2B5EF4-FFF2-40B4-BE49-F238E27FC236}">
                <a16:creationId xmlns:a16="http://schemas.microsoft.com/office/drawing/2014/main" id="{0488B4B5-ECA6-40FF-8F1A-FADC752C1EB3}"/>
              </a:ext>
            </a:extLst>
          </p:cNvPr>
          <p:cNvSpPr/>
          <p:nvPr/>
        </p:nvSpPr>
        <p:spPr>
          <a:xfrm>
            <a:off x="11155680" y="1650464"/>
            <a:ext cx="299244" cy="282167"/>
          </a:xfrm>
          <a:prstGeom prst="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8603B-5537-4771-AA93-6AAE160B95F1}"/>
              </a:ext>
            </a:extLst>
          </p:cNvPr>
          <p:cNvSpPr>
            <a:spLocks noGrp="1"/>
          </p:cNvSpPr>
          <p:nvPr>
            <p:ph type="title"/>
          </p:nvPr>
        </p:nvSpPr>
        <p:spPr/>
        <p:txBody>
          <a:bodyPr/>
          <a:lstStyle/>
          <a:p>
            <a:r>
              <a:rPr lang="en-IN" dirty="0">
                <a:latin typeface="Calibri"/>
                <a:ea typeface="Calibri"/>
                <a:cs typeface="Calibri"/>
                <a:sym typeface="Calibri"/>
              </a:rPr>
              <a:t>settings.py</a:t>
            </a:r>
            <a:endParaRPr lang="en-US" dirty="0"/>
          </a:p>
        </p:txBody>
      </p:sp>
      <p:sp>
        <p:nvSpPr>
          <p:cNvPr id="3" name="Content Placeholder 2">
            <a:extLst>
              <a:ext uri="{FF2B5EF4-FFF2-40B4-BE49-F238E27FC236}">
                <a16:creationId xmlns:a16="http://schemas.microsoft.com/office/drawing/2014/main" id="{66AEB353-D42A-4788-AED5-69ABFB08CD22}"/>
              </a:ext>
            </a:extLst>
          </p:cNvPr>
          <p:cNvSpPr>
            <a:spLocks noGrp="1"/>
          </p:cNvSpPr>
          <p:nvPr>
            <p:ph idx="1"/>
          </p:nvPr>
        </p:nvSpPr>
        <p:spPr/>
        <p:txBody>
          <a:bodyPr>
            <a:normAutofit fontScale="85000" lnSpcReduction="20000"/>
          </a:bodyPr>
          <a:lstStyle/>
          <a:p>
            <a:r>
              <a:rPr lang="en-US" b="1" dirty="0">
                <a:solidFill>
                  <a:srgbClr val="FF0000"/>
                </a:solidFill>
              </a:rPr>
              <a:t>BASE_DIR: </a:t>
            </a:r>
            <a:r>
              <a:rPr lang="en-US" dirty="0"/>
              <a:t>Determines where on your machine the project is situated.</a:t>
            </a:r>
          </a:p>
          <a:p>
            <a:r>
              <a:rPr lang="en-US" b="1" dirty="0">
                <a:solidFill>
                  <a:srgbClr val="FF0000"/>
                </a:solidFill>
              </a:rPr>
              <a:t>SECRET_KEY: </a:t>
            </a:r>
            <a:r>
              <a:rPr lang="en-US" dirty="0"/>
              <a:t>Used when you have data flowing in and out of your website.  Do not ever share this with others. </a:t>
            </a:r>
          </a:p>
          <a:p>
            <a:r>
              <a:rPr lang="en-US" b="1" dirty="0">
                <a:solidFill>
                  <a:srgbClr val="FF0000"/>
                </a:solidFill>
              </a:rPr>
              <a:t>DEBUG: </a:t>
            </a:r>
            <a:r>
              <a:rPr lang="en-US" dirty="0"/>
              <a:t>Our site can run in debug mode or not. In debug mode, we get detailed information on errors – for instance, if we try to run http://localhost:8000/123 in the browser, we will see a </a:t>
            </a:r>
            <a:r>
              <a:rPr lang="en-US" b="1" dirty="0"/>
              <a:t>Page not found (404) error:</a:t>
            </a:r>
          </a:p>
          <a:p>
            <a:r>
              <a:rPr lang="en-US" b="1" dirty="0">
                <a:solidFill>
                  <a:srgbClr val="FF0000"/>
                </a:solidFill>
              </a:rPr>
              <a:t>INSTALLED_APPS: </a:t>
            </a:r>
            <a:r>
              <a:rPr lang="en-US" dirty="0"/>
              <a:t>Allows us to bring different pieces of code into our project.</a:t>
            </a:r>
          </a:p>
          <a:p>
            <a:r>
              <a:rPr lang="en-US" dirty="0"/>
              <a:t>We will see this in action later.</a:t>
            </a:r>
          </a:p>
          <a:p>
            <a:r>
              <a:rPr lang="en-US" b="1" dirty="0">
                <a:solidFill>
                  <a:srgbClr val="FF0000"/>
                </a:solidFill>
              </a:rPr>
              <a:t>MIDDLEWARE: </a:t>
            </a:r>
            <a:r>
              <a:rPr lang="en-US" dirty="0"/>
              <a:t>Refers to built-in Django functions to process application requests/responses, which include authentication, session, and security.</a:t>
            </a:r>
          </a:p>
          <a:p>
            <a:r>
              <a:rPr lang="en-US" b="1" dirty="0">
                <a:solidFill>
                  <a:srgbClr val="FF0000"/>
                </a:solidFill>
              </a:rPr>
              <a:t>ROOT_URLCONF: </a:t>
            </a:r>
            <a:r>
              <a:rPr lang="en-US" dirty="0"/>
              <a:t>Specifies where our URLs are.</a:t>
            </a:r>
          </a:p>
          <a:p>
            <a:r>
              <a:rPr lang="en-US" b="1" dirty="0">
                <a:solidFill>
                  <a:srgbClr val="FF0000"/>
                </a:solidFill>
              </a:rPr>
              <a:t>TEMPLATES: </a:t>
            </a:r>
            <a:r>
              <a:rPr lang="en-US" dirty="0"/>
              <a:t>Defines the template engine class, the list of directories where the engine should look for template source files, and specific template settings.</a:t>
            </a:r>
          </a:p>
          <a:p>
            <a:r>
              <a:rPr lang="en-US" b="1" dirty="0">
                <a:solidFill>
                  <a:srgbClr val="FF0000"/>
                </a:solidFill>
              </a:rPr>
              <a:t>AUTH_PASSWORD_VALIDATORS: </a:t>
            </a:r>
            <a:r>
              <a:rPr lang="en-US" dirty="0"/>
              <a:t>Allow us to specify the validations that we want on passwords – for example, a minimum length.</a:t>
            </a:r>
          </a:p>
        </p:txBody>
      </p:sp>
    </p:spTree>
    <p:extLst>
      <p:ext uri="{BB962C8B-B14F-4D97-AF65-F5344CB8AC3E}">
        <p14:creationId xmlns:p14="http://schemas.microsoft.com/office/powerpoint/2010/main" val="855100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lnSpc>
                <a:spcPct val="90000"/>
              </a:lnSpc>
              <a:spcBef>
                <a:spcPts val="0"/>
              </a:spcBef>
              <a:buSzPts val="4800"/>
            </a:pPr>
            <a:r>
              <a:rPr lang="en-US" b="1" dirty="0"/>
              <a:t>Creating our first app</a:t>
            </a:r>
            <a:endParaRPr dirty="0"/>
          </a:p>
        </p:txBody>
      </p:sp>
      <p:sp>
        <p:nvSpPr>
          <p:cNvPr id="208" name="Google Shape;208;p1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
            </a:pPr>
            <a:r>
              <a:rPr lang="en-US" dirty="0"/>
              <a:t>A single Django project can contain one or more apps that work together to power a web application. Django uses the concept of projects and apps to keep code clean and readable. </a:t>
            </a:r>
          </a:p>
          <a:p>
            <a:pPr>
              <a:buFont typeface="Wingdings" panose="05000000000000000000" pitchFamily="2" charset="2"/>
              <a:buChar char="§"/>
            </a:pPr>
            <a:r>
              <a:rPr lang="en-US" dirty="0"/>
              <a:t>Apps in Django are like pieces of a website. You can create an entire website with one single app, but it is useful to break it up into different apps, each representing a clear function.</a:t>
            </a:r>
          </a:p>
          <a:p>
            <a:pPr>
              <a:buFont typeface="Wingdings" panose="05000000000000000000" pitchFamily="2" charset="2"/>
              <a:buChar char="§"/>
            </a:pPr>
            <a:r>
              <a:rPr lang="en-US" dirty="0"/>
              <a:t>Our movie review site will begin with one app. </a:t>
            </a:r>
          </a:p>
          <a:p>
            <a:pPr marL="0" indent="0">
              <a:buNone/>
            </a:pPr>
            <a:r>
              <a:rPr lang="en-US" b="1" dirty="0">
                <a:solidFill>
                  <a:srgbClr val="FF0000"/>
                </a:solidFill>
              </a:rPr>
              <a:t>python manage.py </a:t>
            </a:r>
            <a:r>
              <a:rPr lang="en-US" b="1" dirty="0" err="1">
                <a:solidFill>
                  <a:srgbClr val="FF0000"/>
                </a:solidFill>
              </a:rPr>
              <a:t>startapp</a:t>
            </a:r>
            <a:r>
              <a:rPr lang="en-US" b="1" dirty="0">
                <a:solidFill>
                  <a:srgbClr val="FF0000"/>
                </a:solidFill>
              </a:rPr>
              <a:t> movie</a:t>
            </a:r>
          </a:p>
          <a:p>
            <a:pPr marL="0" indent="0">
              <a:buNone/>
            </a:pPr>
            <a:r>
              <a:rPr lang="en-US" dirty="0"/>
              <a:t>A new folder, movie, will be added to the project.</a:t>
            </a:r>
            <a:endParaRPr lang="en-US" b="1" dirty="0">
              <a:solidFill>
                <a:srgbClr val="FF0000"/>
              </a:solidFill>
            </a:endParaRPr>
          </a:p>
          <a:p>
            <a:pPr>
              <a:buFont typeface="Wingdings" panose="05000000000000000000" pitchFamily="2" charset="2"/>
              <a:buChar char="§"/>
            </a:pPr>
            <a:endParaRPr sz="1800" b="1" dirty="0">
              <a:latin typeface="Calibri"/>
              <a:ea typeface="Calibri"/>
              <a:cs typeface="Calibri"/>
              <a:sym typeface="Calibri"/>
            </a:endParaRPr>
          </a:p>
          <a:p>
            <a:pPr marL="182880" lvl="0" indent="-85724" algn="l" rtl="0">
              <a:lnSpc>
                <a:spcPct val="107000"/>
              </a:lnSpc>
              <a:spcBef>
                <a:spcPts val="2000"/>
              </a:spcBef>
              <a:spcAft>
                <a:spcPts val="0"/>
              </a:spcAft>
              <a:buSzPts val="1530"/>
              <a:buNone/>
            </a:pPr>
            <a:endParaRPr sz="1800" b="1" dirty="0">
              <a:latin typeface="Calibri"/>
              <a:ea typeface="Calibri"/>
              <a:cs typeface="Calibri"/>
              <a:sym typeface="Calibri"/>
            </a:endParaRPr>
          </a:p>
          <a:p>
            <a:pPr marL="182880" lvl="0" indent="-85724" algn="l" rtl="0">
              <a:lnSpc>
                <a:spcPct val="107000"/>
              </a:lnSpc>
              <a:spcBef>
                <a:spcPts val="1200"/>
              </a:spcBef>
              <a:spcAft>
                <a:spcPts val="0"/>
              </a:spcAft>
              <a:buSzPts val="1530"/>
              <a:buNone/>
            </a:pPr>
            <a:endParaRPr sz="1800" b="1" dirty="0">
              <a:latin typeface="Calibri"/>
              <a:ea typeface="Calibri"/>
              <a:cs typeface="Calibri"/>
              <a:sym typeface="Calibri"/>
            </a:endParaRPr>
          </a:p>
          <a:p>
            <a:pPr marL="342900" lvl="0" indent="-245745" algn="l" rtl="0">
              <a:lnSpc>
                <a:spcPct val="107000"/>
              </a:lnSpc>
              <a:spcBef>
                <a:spcPts val="2000"/>
              </a:spcBef>
              <a:spcAft>
                <a:spcPts val="0"/>
              </a:spcAft>
              <a:buSzPts val="1530"/>
              <a:buFont typeface="Georgia"/>
              <a:buNone/>
            </a:pPr>
            <a:endParaRPr sz="1800" b="1" dirty="0">
              <a:latin typeface="Calibri"/>
              <a:ea typeface="Calibri"/>
              <a:cs typeface="Calibri"/>
              <a:sym typeface="Calibri"/>
            </a:endParaRPr>
          </a:p>
          <a:p>
            <a:pPr marL="182880" lvl="0" indent="-74929" algn="l" rtl="0">
              <a:lnSpc>
                <a:spcPct val="90000"/>
              </a:lnSpc>
              <a:spcBef>
                <a:spcPts val="2000"/>
              </a:spcBef>
              <a:spcAft>
                <a:spcPts val="0"/>
              </a:spcAft>
              <a:buSzPts val="1700"/>
              <a:buNone/>
            </a:pPr>
            <a:endParaRPr dirty="0"/>
          </a:p>
        </p:txBody>
      </p:sp>
      <p:pic>
        <p:nvPicPr>
          <p:cNvPr id="2" name="Picture 1">
            <a:extLst>
              <a:ext uri="{FF2B5EF4-FFF2-40B4-BE49-F238E27FC236}">
                <a16:creationId xmlns:a16="http://schemas.microsoft.com/office/drawing/2014/main" id="{34D57420-E905-414E-9347-9A7BF09D0E62}"/>
              </a:ext>
            </a:extLst>
          </p:cNvPr>
          <p:cNvPicPr>
            <a:picLocks noChangeAspect="1"/>
          </p:cNvPicPr>
          <p:nvPr/>
        </p:nvPicPr>
        <p:blipFill>
          <a:blip r:embed="rId3"/>
          <a:stretch>
            <a:fillRect/>
          </a:stretch>
        </p:blipFill>
        <p:spPr>
          <a:xfrm>
            <a:off x="6368479" y="3429000"/>
            <a:ext cx="2562225" cy="2757349"/>
          </a:xfrm>
          <a:prstGeom prst="rect">
            <a:avLst/>
          </a:prstGeom>
        </p:spPr>
      </p:pic>
      <p:sp>
        <p:nvSpPr>
          <p:cNvPr id="3" name="Arrow: Left 2">
            <a:extLst>
              <a:ext uri="{FF2B5EF4-FFF2-40B4-BE49-F238E27FC236}">
                <a16:creationId xmlns:a16="http://schemas.microsoft.com/office/drawing/2014/main" id="{01C3C68C-A321-4E8C-B789-652DF9C40420}"/>
              </a:ext>
            </a:extLst>
          </p:cNvPr>
          <p:cNvSpPr/>
          <p:nvPr/>
        </p:nvSpPr>
        <p:spPr>
          <a:xfrm>
            <a:off x="7625918" y="4474346"/>
            <a:ext cx="461639" cy="177553"/>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dirty="0"/>
              <a:t>Files created in movie</a:t>
            </a:r>
            <a:endParaRPr dirty="0"/>
          </a:p>
        </p:txBody>
      </p:sp>
      <p:sp>
        <p:nvSpPr>
          <p:cNvPr id="215" name="Google Shape;215;p1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lnSpc>
                <a:spcPct val="107000"/>
              </a:lnSpc>
              <a:spcBef>
                <a:spcPts val="0"/>
              </a:spcBef>
              <a:spcAft>
                <a:spcPts val="0"/>
              </a:spcAft>
              <a:buSzPts val="1700"/>
              <a:buFont typeface="Georgia"/>
              <a:buAutoNum type="arabicPeriod"/>
            </a:pPr>
            <a:r>
              <a:rPr lang="en-IN" dirty="0">
                <a:latin typeface="Calibri"/>
                <a:ea typeface="Calibri"/>
                <a:cs typeface="Calibri"/>
                <a:sym typeface="Calibri"/>
              </a:rPr>
              <a:t>Meanings of all the files in this folder:</a:t>
            </a:r>
            <a:endParaRPr dirty="0"/>
          </a:p>
          <a:p>
            <a:pPr marL="742950" lvl="1" indent="-285750" algn="l" rtl="0">
              <a:lnSpc>
                <a:spcPct val="107000"/>
              </a:lnSpc>
              <a:spcBef>
                <a:spcPts val="400"/>
              </a:spcBef>
              <a:spcAft>
                <a:spcPts val="0"/>
              </a:spcAft>
              <a:buSzPts val="1700"/>
              <a:buFont typeface="Georgia"/>
              <a:buAutoNum type="alphaLcPeriod"/>
            </a:pPr>
            <a:r>
              <a:rPr lang="en-IN" sz="2000" dirty="0">
                <a:latin typeface="Calibri"/>
                <a:ea typeface="Calibri"/>
                <a:cs typeface="Calibri"/>
                <a:sym typeface="Calibri"/>
              </a:rPr>
              <a:t>views.py: take care of things like </a:t>
            </a:r>
            <a:r>
              <a:rPr lang="en-IN" sz="2000" dirty="0" err="1">
                <a:latin typeface="Calibri"/>
                <a:ea typeface="Calibri"/>
                <a:cs typeface="Calibri"/>
                <a:sym typeface="Calibri"/>
              </a:rPr>
              <a:t>urls</a:t>
            </a:r>
            <a:r>
              <a:rPr lang="en-IN" sz="2000" dirty="0">
                <a:latin typeface="Calibri"/>
                <a:ea typeface="Calibri"/>
                <a:cs typeface="Calibri"/>
                <a:sym typeface="Calibri"/>
              </a:rPr>
              <a:t> and databases</a:t>
            </a:r>
            <a:endParaRPr dirty="0"/>
          </a:p>
          <a:p>
            <a:pPr marL="742950" lvl="1" indent="-285750" algn="l" rtl="0">
              <a:lnSpc>
                <a:spcPct val="107000"/>
              </a:lnSpc>
              <a:spcBef>
                <a:spcPts val="600"/>
              </a:spcBef>
              <a:spcAft>
                <a:spcPts val="0"/>
              </a:spcAft>
              <a:buSzPts val="1700"/>
              <a:buFont typeface="Georgia"/>
              <a:buAutoNum type="alphaLcPeriod"/>
            </a:pPr>
            <a:r>
              <a:rPr lang="en-IN" sz="2000" dirty="0">
                <a:latin typeface="Calibri"/>
                <a:ea typeface="Calibri"/>
                <a:cs typeface="Calibri"/>
                <a:sym typeface="Calibri"/>
              </a:rPr>
              <a:t>models.py: where we will configure the database</a:t>
            </a:r>
            <a:endParaRPr dirty="0"/>
          </a:p>
          <a:p>
            <a:pPr marL="742950" lvl="1" indent="-285750" algn="l" rtl="0">
              <a:lnSpc>
                <a:spcPct val="107000"/>
              </a:lnSpc>
              <a:spcBef>
                <a:spcPts val="600"/>
              </a:spcBef>
              <a:spcAft>
                <a:spcPts val="0"/>
              </a:spcAft>
              <a:buSzPts val="1700"/>
              <a:buFont typeface="Georgia"/>
              <a:buAutoNum type="alphaLcPeriod"/>
            </a:pPr>
            <a:r>
              <a:rPr lang="en-IN" sz="2000" dirty="0">
                <a:latin typeface="Calibri"/>
                <a:ea typeface="Calibri"/>
                <a:cs typeface="Calibri"/>
                <a:sym typeface="Calibri"/>
              </a:rPr>
              <a:t>admin.py: to run the admin panel</a:t>
            </a:r>
            <a:endParaRPr dirty="0"/>
          </a:p>
          <a:p>
            <a:pPr marL="742950" lvl="1" indent="-285750" algn="l" rtl="0">
              <a:lnSpc>
                <a:spcPct val="107000"/>
              </a:lnSpc>
              <a:spcBef>
                <a:spcPts val="600"/>
              </a:spcBef>
              <a:spcAft>
                <a:spcPts val="0"/>
              </a:spcAft>
              <a:buSzPts val="1700"/>
              <a:buFont typeface="Georgia"/>
              <a:buAutoNum type="alphaLcPeriod"/>
            </a:pPr>
            <a:r>
              <a:rPr lang="en-IN" sz="2000" dirty="0">
                <a:latin typeface="Calibri"/>
                <a:ea typeface="Calibri"/>
                <a:cs typeface="Calibri"/>
                <a:sym typeface="Calibri"/>
              </a:rPr>
              <a:t>apps.py: for core app integration</a:t>
            </a:r>
            <a:endParaRPr dirty="0"/>
          </a:p>
          <a:p>
            <a:pPr marL="742950" lvl="1" indent="-285750" algn="l" rtl="0">
              <a:lnSpc>
                <a:spcPct val="107000"/>
              </a:lnSpc>
              <a:spcBef>
                <a:spcPts val="600"/>
              </a:spcBef>
              <a:spcAft>
                <a:spcPts val="0"/>
              </a:spcAft>
              <a:buSzPts val="1700"/>
              <a:buFont typeface="Georgia"/>
              <a:buAutoNum type="alphaLcPeriod"/>
            </a:pPr>
            <a:r>
              <a:rPr lang="en-IN" sz="2000" dirty="0">
                <a:latin typeface="Calibri"/>
                <a:ea typeface="Calibri"/>
                <a:cs typeface="Calibri"/>
                <a:sym typeface="Calibri"/>
              </a:rPr>
              <a:t>tests.py: to run unit tests for our application</a:t>
            </a:r>
            <a:endParaRPr dirty="0"/>
          </a:p>
          <a:p>
            <a:pPr marL="182880" lvl="0" indent="-53339" algn="l" rtl="0">
              <a:lnSpc>
                <a:spcPct val="90000"/>
              </a:lnSpc>
              <a:spcBef>
                <a:spcPts val="2000"/>
              </a:spcBef>
              <a:spcAft>
                <a:spcPts val="0"/>
              </a:spcAft>
              <a:buSzPts val="2040"/>
              <a:buNone/>
            </a:pPr>
            <a:endParaRPr sz="2400" dirty="0"/>
          </a:p>
        </p:txBody>
      </p:sp>
      <p:pic>
        <p:nvPicPr>
          <p:cNvPr id="2" name="Picture 1">
            <a:extLst>
              <a:ext uri="{FF2B5EF4-FFF2-40B4-BE49-F238E27FC236}">
                <a16:creationId xmlns:a16="http://schemas.microsoft.com/office/drawing/2014/main" id="{D14F6520-150B-44ED-A517-A624F1F2C5F4}"/>
              </a:ext>
            </a:extLst>
          </p:cNvPr>
          <p:cNvPicPr>
            <a:picLocks noChangeAspect="1"/>
          </p:cNvPicPr>
          <p:nvPr/>
        </p:nvPicPr>
        <p:blipFill>
          <a:blip r:embed="rId3"/>
          <a:stretch>
            <a:fillRect/>
          </a:stretch>
        </p:blipFill>
        <p:spPr>
          <a:xfrm>
            <a:off x="8051584" y="1976226"/>
            <a:ext cx="3104096" cy="417046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dirty="0"/>
              <a:t>Add movie to settings.py</a:t>
            </a:r>
            <a:endParaRPr dirty="0"/>
          </a:p>
        </p:txBody>
      </p:sp>
      <p:sp>
        <p:nvSpPr>
          <p:cNvPr id="222" name="Google Shape;222;p1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IN" sz="2000" dirty="0">
                <a:latin typeface="Calibri"/>
                <a:ea typeface="Calibri"/>
                <a:cs typeface="Calibri"/>
                <a:sym typeface="Calibri"/>
              </a:rPr>
              <a:t>At this point, the project doesn’t know about the existence of the </a:t>
            </a:r>
            <a:r>
              <a:rPr lang="en-IN" dirty="0">
                <a:latin typeface="Calibri"/>
                <a:ea typeface="Calibri"/>
                <a:cs typeface="Calibri"/>
                <a:sym typeface="Calibri"/>
              </a:rPr>
              <a:t>movie</a:t>
            </a:r>
            <a:r>
              <a:rPr lang="en-IN" sz="2000" dirty="0">
                <a:latin typeface="Calibri"/>
                <a:ea typeface="Calibri"/>
                <a:cs typeface="Calibri"/>
                <a:sym typeface="Calibri"/>
              </a:rPr>
              <a:t>. So go to settings.py file in the project and add the app in the following way:</a:t>
            </a: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marL="182880" lvl="0" indent="-182880" algn="l" rtl="0">
              <a:lnSpc>
                <a:spcPct val="90000"/>
              </a:lnSpc>
              <a:spcBef>
                <a:spcPts val="0"/>
              </a:spcBef>
              <a:spcAft>
                <a:spcPts val="0"/>
              </a:spcAft>
              <a:buSzPts val="1700"/>
              <a:buChar char="▪"/>
            </a:pPr>
            <a:endParaRPr lang="en-IN" dirty="0">
              <a:latin typeface="Calibri"/>
              <a:cs typeface="Calibri"/>
              <a:sym typeface="Calibri"/>
            </a:endParaRPr>
          </a:p>
          <a:p>
            <a:pPr>
              <a:spcBef>
                <a:spcPts val="0"/>
              </a:spcBef>
              <a:spcAft>
                <a:spcPts val="0"/>
              </a:spcAft>
              <a:buSzPts val="1700"/>
              <a:buFont typeface="Wingdings" panose="05000000000000000000" pitchFamily="2" charset="2"/>
              <a:buChar char="§"/>
            </a:pPr>
            <a:r>
              <a:rPr lang="en-US" dirty="0"/>
              <a:t> Back in the Terminal, run the server:</a:t>
            </a:r>
          </a:p>
          <a:p>
            <a:pPr marL="0" indent="0">
              <a:spcBef>
                <a:spcPts val="0"/>
              </a:spcBef>
              <a:spcAft>
                <a:spcPts val="0"/>
              </a:spcAft>
              <a:buSzPts val="1700"/>
              <a:buNone/>
            </a:pPr>
            <a:r>
              <a:rPr lang="en-US" b="1" dirty="0"/>
              <a:t> </a:t>
            </a:r>
            <a:r>
              <a:rPr lang="en-US" b="1" dirty="0">
                <a:solidFill>
                  <a:srgbClr val="FF0000"/>
                </a:solidFill>
              </a:rPr>
              <a:t>python manage.py </a:t>
            </a:r>
            <a:r>
              <a:rPr lang="en-US" b="1" dirty="0" err="1">
                <a:solidFill>
                  <a:srgbClr val="FF0000"/>
                </a:solidFill>
              </a:rPr>
              <a:t>runserver</a:t>
            </a:r>
            <a:endParaRPr lang="en-US" b="1" dirty="0">
              <a:solidFill>
                <a:srgbClr val="FF0000"/>
              </a:solidFill>
            </a:endParaRPr>
          </a:p>
          <a:p>
            <a:pPr>
              <a:spcBef>
                <a:spcPts val="0"/>
              </a:spcBef>
              <a:spcAft>
                <a:spcPts val="0"/>
              </a:spcAft>
              <a:buSzPts val="1700"/>
              <a:buFont typeface="Wingdings" panose="05000000000000000000" pitchFamily="2" charset="2"/>
              <a:buChar char="§"/>
            </a:pPr>
            <a:endParaRPr lang="en-US" dirty="0"/>
          </a:p>
          <a:p>
            <a:pPr marL="0" lvl="0" indent="0" algn="l" rtl="0">
              <a:lnSpc>
                <a:spcPct val="90000"/>
              </a:lnSpc>
              <a:spcBef>
                <a:spcPts val="0"/>
              </a:spcBef>
              <a:spcAft>
                <a:spcPts val="0"/>
              </a:spcAft>
              <a:buSzPts val="1700"/>
              <a:buNone/>
            </a:pPr>
            <a:endParaRPr dirty="0"/>
          </a:p>
          <a:p>
            <a:pPr marL="182880" lvl="0" indent="-74929" algn="l" rtl="0">
              <a:lnSpc>
                <a:spcPct val="90000"/>
              </a:lnSpc>
              <a:spcBef>
                <a:spcPts val="1200"/>
              </a:spcBef>
              <a:spcAft>
                <a:spcPts val="0"/>
              </a:spcAft>
              <a:buSzPts val="1700"/>
              <a:buNone/>
            </a:pPr>
            <a:endParaRPr dirty="0"/>
          </a:p>
        </p:txBody>
      </p:sp>
      <p:pic>
        <p:nvPicPr>
          <p:cNvPr id="2" name="Picture 1">
            <a:extLst>
              <a:ext uri="{FF2B5EF4-FFF2-40B4-BE49-F238E27FC236}">
                <a16:creationId xmlns:a16="http://schemas.microsoft.com/office/drawing/2014/main" id="{6E541982-CB50-4C55-8436-80A1EB4F30C4}"/>
              </a:ext>
            </a:extLst>
          </p:cNvPr>
          <p:cNvPicPr>
            <a:picLocks noChangeAspect="1"/>
          </p:cNvPicPr>
          <p:nvPr/>
        </p:nvPicPr>
        <p:blipFill>
          <a:blip r:embed="rId3"/>
          <a:stretch>
            <a:fillRect/>
          </a:stretch>
        </p:blipFill>
        <p:spPr>
          <a:xfrm>
            <a:off x="2599724" y="2475298"/>
            <a:ext cx="4484657" cy="2425176"/>
          </a:xfrm>
          <a:prstGeom prst="rect">
            <a:avLst/>
          </a:prstGeom>
        </p:spPr>
      </p:pic>
      <p:sp>
        <p:nvSpPr>
          <p:cNvPr id="3" name="Arrow: Left 2">
            <a:extLst>
              <a:ext uri="{FF2B5EF4-FFF2-40B4-BE49-F238E27FC236}">
                <a16:creationId xmlns:a16="http://schemas.microsoft.com/office/drawing/2014/main" id="{C22105B4-C6B2-4866-9A45-8071C165E142}"/>
              </a:ext>
            </a:extLst>
          </p:cNvPr>
          <p:cNvSpPr/>
          <p:nvPr/>
        </p:nvSpPr>
        <p:spPr>
          <a:xfrm>
            <a:off x="4069693" y="4362896"/>
            <a:ext cx="440163" cy="387611"/>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b="1" dirty="0"/>
              <a:t>Managing Django URLs</a:t>
            </a:r>
            <a:endParaRPr sz="6600" dirty="0"/>
          </a:p>
        </p:txBody>
      </p:sp>
      <p:sp>
        <p:nvSpPr>
          <p:cNvPr id="229" name="Google Shape;229;p1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450851" lvl="0" indent="-342900">
              <a:spcBef>
                <a:spcPts val="0"/>
              </a:spcBef>
              <a:spcAft>
                <a:spcPts val="0"/>
              </a:spcAft>
              <a:buSzPts val="1700"/>
              <a:buFont typeface="Wingdings" panose="05000000000000000000" pitchFamily="2" charset="2"/>
              <a:buChar char="§"/>
            </a:pPr>
            <a:r>
              <a:rPr lang="en-US" dirty="0"/>
              <a:t>urls.py currently has the following code:</a:t>
            </a:r>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r>
              <a:rPr lang="en-US" dirty="0"/>
              <a:t>When a request passes through urls.py, it will try to match a path object in </a:t>
            </a:r>
            <a:r>
              <a:rPr lang="en-US" dirty="0" err="1"/>
              <a:t>url</a:t>
            </a:r>
            <a:r>
              <a:rPr lang="en-US" dirty="0"/>
              <a:t> patterns – for example, if a user enters </a:t>
            </a:r>
            <a:r>
              <a:rPr lang="en-US" b="1" dirty="0">
                <a:solidFill>
                  <a:srgbClr val="FF0000"/>
                </a:solidFill>
              </a:rPr>
              <a:t>http://localhost:8000/admin </a:t>
            </a:r>
            <a:r>
              <a:rPr lang="en-US" dirty="0"/>
              <a:t>into the browser, the URL will match the admin/ path. The server will then respond with the Django admin site, which we will explore later: </a:t>
            </a:r>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450851" lvl="0" indent="-342900">
              <a:spcBef>
                <a:spcPts val="0"/>
              </a:spcBef>
              <a:spcAft>
                <a:spcPts val="0"/>
              </a:spcAft>
              <a:buSzPts val="1700"/>
              <a:buFont typeface="Wingdings" panose="05000000000000000000" pitchFamily="2" charset="2"/>
              <a:buChar char="§"/>
            </a:pPr>
            <a:endParaRPr lang="en-US" dirty="0"/>
          </a:p>
          <a:p>
            <a:pPr marL="107951" lvl="0" indent="0">
              <a:spcBef>
                <a:spcPts val="0"/>
              </a:spcBef>
              <a:spcAft>
                <a:spcPts val="0"/>
              </a:spcAft>
              <a:buSzPts val="1700"/>
              <a:buNone/>
            </a:pPr>
            <a:endParaRPr dirty="0"/>
          </a:p>
        </p:txBody>
      </p:sp>
      <p:pic>
        <p:nvPicPr>
          <p:cNvPr id="2" name="Picture 1">
            <a:extLst>
              <a:ext uri="{FF2B5EF4-FFF2-40B4-BE49-F238E27FC236}">
                <a16:creationId xmlns:a16="http://schemas.microsoft.com/office/drawing/2014/main" id="{47115F06-5351-4E7F-894F-C7359A0ED061}"/>
              </a:ext>
            </a:extLst>
          </p:cNvPr>
          <p:cNvPicPr>
            <a:picLocks noChangeAspect="1"/>
          </p:cNvPicPr>
          <p:nvPr/>
        </p:nvPicPr>
        <p:blipFill>
          <a:blip r:embed="rId3"/>
          <a:stretch>
            <a:fillRect/>
          </a:stretch>
        </p:blipFill>
        <p:spPr>
          <a:xfrm>
            <a:off x="1492327" y="2296726"/>
            <a:ext cx="4127238" cy="1582815"/>
          </a:xfrm>
          <a:prstGeom prst="rect">
            <a:avLst/>
          </a:prstGeom>
        </p:spPr>
      </p:pic>
      <p:pic>
        <p:nvPicPr>
          <p:cNvPr id="3" name="Picture 2">
            <a:extLst>
              <a:ext uri="{FF2B5EF4-FFF2-40B4-BE49-F238E27FC236}">
                <a16:creationId xmlns:a16="http://schemas.microsoft.com/office/drawing/2014/main" id="{5473E099-0EF5-46D6-9914-71758FED9DAF}"/>
              </a:ext>
            </a:extLst>
          </p:cNvPr>
          <p:cNvPicPr>
            <a:picLocks noChangeAspect="1"/>
          </p:cNvPicPr>
          <p:nvPr/>
        </p:nvPicPr>
        <p:blipFill>
          <a:blip r:embed="rId4"/>
          <a:stretch>
            <a:fillRect/>
          </a:stretch>
        </p:blipFill>
        <p:spPr>
          <a:xfrm>
            <a:off x="3776709" y="5058512"/>
            <a:ext cx="5029200" cy="12035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ED5979-50D3-4948-B268-217A16C76A0F}"/>
              </a:ext>
            </a:extLst>
          </p:cNvPr>
          <p:cNvPicPr>
            <a:picLocks noChangeAspect="1"/>
          </p:cNvPicPr>
          <p:nvPr/>
        </p:nvPicPr>
        <p:blipFill>
          <a:blip r:embed="rId2"/>
          <a:stretch>
            <a:fillRect/>
          </a:stretch>
        </p:blipFill>
        <p:spPr>
          <a:xfrm>
            <a:off x="949912" y="1474363"/>
            <a:ext cx="9327242" cy="3909273"/>
          </a:xfrm>
          <a:prstGeom prst="rect">
            <a:avLst/>
          </a:prstGeom>
        </p:spPr>
      </p:pic>
    </p:spTree>
    <p:extLst>
      <p:ext uri="{BB962C8B-B14F-4D97-AF65-F5344CB8AC3E}">
        <p14:creationId xmlns:p14="http://schemas.microsoft.com/office/powerpoint/2010/main" val="3924656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1B8DF-FD01-43A9-9ECC-38A89F39C5C6}"/>
              </a:ext>
            </a:extLst>
          </p:cNvPr>
          <p:cNvSpPr>
            <a:spLocks noGrp="1"/>
          </p:cNvSpPr>
          <p:nvPr>
            <p:ph type="title"/>
          </p:nvPr>
        </p:nvSpPr>
        <p:spPr/>
        <p:txBody>
          <a:bodyPr/>
          <a:lstStyle/>
          <a:p>
            <a:r>
              <a:rPr lang="en-US" b="1" dirty="0"/>
              <a:t>Creating a custom path for a home page</a:t>
            </a:r>
            <a:endParaRPr lang="en-US" dirty="0"/>
          </a:p>
        </p:txBody>
      </p:sp>
      <p:sp>
        <p:nvSpPr>
          <p:cNvPr id="3" name="Content Placeholder 2">
            <a:extLst>
              <a:ext uri="{FF2B5EF4-FFF2-40B4-BE49-F238E27FC236}">
                <a16:creationId xmlns:a16="http://schemas.microsoft.com/office/drawing/2014/main" id="{1B916D86-6832-45AE-8511-824EDF39A84F}"/>
              </a:ext>
            </a:extLst>
          </p:cNvPr>
          <p:cNvSpPr>
            <a:spLocks noGrp="1"/>
          </p:cNvSpPr>
          <p:nvPr>
            <p:ph idx="1"/>
          </p:nvPr>
        </p:nvSpPr>
        <p:spPr>
          <a:xfrm>
            <a:off x="1097280" y="1845734"/>
            <a:ext cx="4657725" cy="4023360"/>
          </a:xfrm>
        </p:spPr>
        <p:txBody>
          <a:bodyPr/>
          <a:lstStyle/>
          <a:p>
            <a:pPr>
              <a:buFont typeface="Wingdings" panose="05000000000000000000" pitchFamily="2" charset="2"/>
              <a:buChar char="§"/>
            </a:pPr>
            <a:r>
              <a:rPr lang="en-US" dirty="0"/>
              <a:t>Add the following code in </a:t>
            </a:r>
            <a:r>
              <a:rPr lang="en-US" b="1" dirty="0"/>
              <a:t>bold into urls.py:</a:t>
            </a:r>
          </a:p>
          <a:p>
            <a:pPr>
              <a:buFont typeface="Wingdings" panose="05000000000000000000" pitchFamily="2" charset="2"/>
              <a:buChar char="§"/>
            </a:pPr>
            <a:endParaRPr lang="en-US" b="1" dirty="0"/>
          </a:p>
          <a:p>
            <a:pPr>
              <a:buFont typeface="Wingdings" panose="05000000000000000000" pitchFamily="2" charset="2"/>
              <a:buChar char="§"/>
            </a:pPr>
            <a:endParaRPr lang="en-US" b="1" dirty="0"/>
          </a:p>
          <a:p>
            <a:pPr>
              <a:buFont typeface="Wingdings" panose="05000000000000000000" pitchFamily="2" charset="2"/>
              <a:buChar char="§"/>
            </a:pPr>
            <a:endParaRPr lang="en-US" b="1" dirty="0"/>
          </a:p>
          <a:p>
            <a:pPr>
              <a:buFont typeface="Wingdings" panose="05000000000000000000" pitchFamily="2" charset="2"/>
              <a:buChar char="§"/>
            </a:pPr>
            <a:endParaRPr lang="en-US" b="1" dirty="0"/>
          </a:p>
          <a:p>
            <a:pPr>
              <a:buFont typeface="Wingdings" panose="05000000000000000000" pitchFamily="2" charset="2"/>
              <a:buChar char="§"/>
            </a:pPr>
            <a:endParaRPr lang="en-US" b="1" dirty="0"/>
          </a:p>
          <a:p>
            <a:pPr>
              <a:buFont typeface="Wingdings" panose="05000000000000000000" pitchFamily="2" charset="2"/>
              <a:buChar char="§"/>
            </a:pPr>
            <a:endParaRPr lang="en-US" b="1" dirty="0"/>
          </a:p>
          <a:p>
            <a:pPr>
              <a:buFont typeface="Wingdings" panose="05000000000000000000" pitchFamily="2" charset="2"/>
              <a:buChar char="§"/>
            </a:pPr>
            <a:endParaRPr lang="en-US" b="1" dirty="0"/>
          </a:p>
        </p:txBody>
      </p:sp>
      <p:pic>
        <p:nvPicPr>
          <p:cNvPr id="4" name="Picture 3">
            <a:extLst>
              <a:ext uri="{FF2B5EF4-FFF2-40B4-BE49-F238E27FC236}">
                <a16:creationId xmlns:a16="http://schemas.microsoft.com/office/drawing/2014/main" id="{E9B467D8-7259-498D-95CF-977FEDAA486E}"/>
              </a:ext>
            </a:extLst>
          </p:cNvPr>
          <p:cNvPicPr>
            <a:picLocks noChangeAspect="1"/>
          </p:cNvPicPr>
          <p:nvPr/>
        </p:nvPicPr>
        <p:blipFill>
          <a:blip r:embed="rId2"/>
          <a:stretch>
            <a:fillRect/>
          </a:stretch>
        </p:blipFill>
        <p:spPr>
          <a:xfrm>
            <a:off x="1097280" y="2450263"/>
            <a:ext cx="3743372" cy="2333625"/>
          </a:xfrm>
          <a:prstGeom prst="rect">
            <a:avLst/>
          </a:prstGeom>
        </p:spPr>
      </p:pic>
      <p:sp>
        <p:nvSpPr>
          <p:cNvPr id="5" name="TextBox 4">
            <a:extLst>
              <a:ext uri="{FF2B5EF4-FFF2-40B4-BE49-F238E27FC236}">
                <a16:creationId xmlns:a16="http://schemas.microsoft.com/office/drawing/2014/main" id="{52567A6E-FF0A-4F80-93C7-C7F90B1F93BF}"/>
              </a:ext>
            </a:extLst>
          </p:cNvPr>
          <p:cNvSpPr txBox="1"/>
          <p:nvPr/>
        </p:nvSpPr>
        <p:spPr>
          <a:xfrm>
            <a:off x="6347533" y="1845734"/>
            <a:ext cx="4338902" cy="923330"/>
          </a:xfrm>
          <a:prstGeom prst="rect">
            <a:avLst/>
          </a:prstGeom>
          <a:noFill/>
        </p:spPr>
        <p:txBody>
          <a:bodyPr wrap="square" rtlCol="0">
            <a:spAutoFit/>
          </a:bodyPr>
          <a:lstStyle/>
          <a:p>
            <a:r>
              <a:rPr lang="en-US" b="1" dirty="0"/>
              <a:t>/movie/views.py</a:t>
            </a:r>
          </a:p>
          <a:p>
            <a:r>
              <a:rPr lang="en-US" dirty="0"/>
              <a:t>In views.py, add the following in </a:t>
            </a:r>
            <a:r>
              <a:rPr lang="en-US" b="1" dirty="0"/>
              <a:t>bold:</a:t>
            </a:r>
          </a:p>
          <a:p>
            <a:endParaRPr lang="en-US" dirty="0"/>
          </a:p>
        </p:txBody>
      </p:sp>
      <p:pic>
        <p:nvPicPr>
          <p:cNvPr id="6" name="Picture 5">
            <a:extLst>
              <a:ext uri="{FF2B5EF4-FFF2-40B4-BE49-F238E27FC236}">
                <a16:creationId xmlns:a16="http://schemas.microsoft.com/office/drawing/2014/main" id="{30F6DDC5-FE27-4729-A629-3DE97E8301E6}"/>
              </a:ext>
            </a:extLst>
          </p:cNvPr>
          <p:cNvPicPr>
            <a:picLocks noChangeAspect="1"/>
          </p:cNvPicPr>
          <p:nvPr/>
        </p:nvPicPr>
        <p:blipFill>
          <a:blip r:embed="rId3"/>
          <a:stretch>
            <a:fillRect/>
          </a:stretch>
        </p:blipFill>
        <p:spPr>
          <a:xfrm>
            <a:off x="6347533" y="2621068"/>
            <a:ext cx="5161433" cy="1711235"/>
          </a:xfrm>
          <a:prstGeom prst="rect">
            <a:avLst/>
          </a:prstGeom>
        </p:spPr>
      </p:pic>
    </p:spTree>
    <p:extLst>
      <p:ext uri="{BB962C8B-B14F-4D97-AF65-F5344CB8AC3E}">
        <p14:creationId xmlns:p14="http://schemas.microsoft.com/office/powerpoint/2010/main" val="3169454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dirty="0"/>
              <a:t>Home page View</a:t>
            </a:r>
            <a:endParaRPr dirty="0"/>
          </a:p>
        </p:txBody>
      </p:sp>
      <p:pic>
        <p:nvPicPr>
          <p:cNvPr id="2" name="Picture 1">
            <a:extLst>
              <a:ext uri="{FF2B5EF4-FFF2-40B4-BE49-F238E27FC236}">
                <a16:creationId xmlns:a16="http://schemas.microsoft.com/office/drawing/2014/main" id="{50B26101-28B0-4FC4-9E17-5104ED73B711}"/>
              </a:ext>
            </a:extLst>
          </p:cNvPr>
          <p:cNvPicPr>
            <a:picLocks noChangeAspect="1"/>
          </p:cNvPicPr>
          <p:nvPr/>
        </p:nvPicPr>
        <p:blipFill>
          <a:blip r:embed="rId3"/>
          <a:stretch>
            <a:fillRect/>
          </a:stretch>
        </p:blipFill>
        <p:spPr>
          <a:xfrm>
            <a:off x="1170890" y="2797760"/>
            <a:ext cx="7006232" cy="1871894"/>
          </a:xfrm>
          <a:prstGeom prst="rect">
            <a:avLst/>
          </a:prstGeom>
        </p:spPr>
      </p:pic>
      <p:sp>
        <p:nvSpPr>
          <p:cNvPr id="8" name="Google Shape;243;p21">
            <a:extLst>
              <a:ext uri="{FF2B5EF4-FFF2-40B4-BE49-F238E27FC236}">
                <a16:creationId xmlns:a16="http://schemas.microsoft.com/office/drawing/2014/main" id="{6812569F-CC36-4269-A4E5-B6A8AE611E26}"/>
              </a:ext>
            </a:extLst>
          </p:cNvPr>
          <p:cNvSpPr txBox="1"/>
          <p:nvPr/>
        </p:nvSpPr>
        <p:spPr>
          <a:xfrm>
            <a:off x="1170890" y="2072153"/>
            <a:ext cx="62562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0" i="0" u="none" strike="noStrike" cap="none" dirty="0">
                <a:solidFill>
                  <a:schemeClr val="dk1"/>
                </a:solidFill>
                <a:latin typeface="Calibri"/>
                <a:ea typeface="Calibri"/>
                <a:cs typeface="Calibri"/>
                <a:sym typeface="Calibri"/>
              </a:rPr>
              <a:t>Now open this link on the browser: </a:t>
            </a:r>
            <a:r>
              <a:rPr lang="en-IN" u="sng" dirty="0">
                <a:solidFill>
                  <a:srgbClr val="0563C1"/>
                </a:solidFill>
                <a:latin typeface="Calibri"/>
                <a:ea typeface="Calibri"/>
                <a:cs typeface="Calibri"/>
                <a:sym typeface="Calibri"/>
              </a:rPr>
              <a:t>http://127.0.0.1:8000</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Trebuchet MS"/>
              <a:ea typeface="Trebuchet MS"/>
              <a:cs typeface="Trebuchet MS"/>
              <a:sym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b="1" dirty="0"/>
              <a:t>Creating a custom path for an about page</a:t>
            </a:r>
          </a:p>
        </p:txBody>
      </p:sp>
      <p:sp>
        <p:nvSpPr>
          <p:cNvPr id="4" name="Content Placeholder 3">
            <a:extLst>
              <a:ext uri="{FF2B5EF4-FFF2-40B4-BE49-F238E27FC236}">
                <a16:creationId xmlns:a16="http://schemas.microsoft.com/office/drawing/2014/main" id="{7943BB6E-8E32-498A-8538-93A80511E757}"/>
              </a:ext>
            </a:extLst>
          </p:cNvPr>
          <p:cNvSpPr>
            <a:spLocks noGrp="1"/>
          </p:cNvSpPr>
          <p:nvPr>
            <p:ph idx="1"/>
          </p:nvPr>
        </p:nvSpPr>
        <p:spPr>
          <a:xfrm>
            <a:off x="1066800" y="1958340"/>
            <a:ext cx="10058400" cy="4023360"/>
          </a:xfrm>
        </p:spPr>
        <p:txBody>
          <a:bodyPr/>
          <a:lstStyle/>
          <a:p>
            <a:r>
              <a:rPr lang="en-US" dirty="0">
                <a:solidFill>
                  <a:srgbClr val="FF0000"/>
                </a:solidFill>
              </a:rPr>
              <a:t>In /</a:t>
            </a:r>
            <a:r>
              <a:rPr lang="en-US" dirty="0" err="1">
                <a:solidFill>
                  <a:srgbClr val="FF0000"/>
                </a:solidFill>
              </a:rPr>
              <a:t>moviereviews</a:t>
            </a:r>
            <a:r>
              <a:rPr lang="en-US" dirty="0">
                <a:solidFill>
                  <a:srgbClr val="FF0000"/>
                </a:solidFill>
              </a:rPr>
              <a:t>/urls.py, </a:t>
            </a:r>
            <a:r>
              <a:rPr lang="en-US" dirty="0"/>
              <a:t>add the path in </a:t>
            </a:r>
            <a:r>
              <a:rPr lang="en-US" b="1" dirty="0"/>
              <a:t>bold:</a:t>
            </a:r>
            <a:endParaRPr lang="en-US" dirty="0"/>
          </a:p>
          <a:p>
            <a:endParaRPr lang="en-US" dirty="0"/>
          </a:p>
          <a:p>
            <a:endParaRPr lang="en-US" dirty="0"/>
          </a:p>
          <a:p>
            <a:endParaRPr lang="en-US" dirty="0"/>
          </a:p>
          <a:p>
            <a:r>
              <a:rPr lang="en-US" dirty="0"/>
              <a:t>if a URL matches the about/ path, it will return the about function. Let's create the </a:t>
            </a:r>
          </a:p>
          <a:p>
            <a:r>
              <a:rPr lang="en-US" dirty="0"/>
              <a:t>about function in </a:t>
            </a:r>
            <a:r>
              <a:rPr lang="en-US" dirty="0">
                <a:solidFill>
                  <a:srgbClr val="FF0000"/>
                </a:solidFill>
              </a:rPr>
              <a:t>/movie/views.py</a:t>
            </a:r>
            <a:r>
              <a:rPr lang="en-US" dirty="0"/>
              <a:t>:</a:t>
            </a:r>
          </a:p>
        </p:txBody>
      </p:sp>
      <p:pic>
        <p:nvPicPr>
          <p:cNvPr id="5" name="Picture 4">
            <a:extLst>
              <a:ext uri="{FF2B5EF4-FFF2-40B4-BE49-F238E27FC236}">
                <a16:creationId xmlns:a16="http://schemas.microsoft.com/office/drawing/2014/main" id="{C01CCD6C-F76D-47CE-9036-18D350B05928}"/>
              </a:ext>
            </a:extLst>
          </p:cNvPr>
          <p:cNvPicPr>
            <a:picLocks noChangeAspect="1"/>
          </p:cNvPicPr>
          <p:nvPr/>
        </p:nvPicPr>
        <p:blipFill>
          <a:blip r:embed="rId3"/>
          <a:stretch>
            <a:fillRect/>
          </a:stretch>
        </p:blipFill>
        <p:spPr>
          <a:xfrm>
            <a:off x="2380972" y="2324297"/>
            <a:ext cx="4081971" cy="1441537"/>
          </a:xfrm>
          <a:prstGeom prst="rect">
            <a:avLst/>
          </a:prstGeom>
        </p:spPr>
      </p:pic>
      <p:pic>
        <p:nvPicPr>
          <p:cNvPr id="7" name="Picture 6">
            <a:extLst>
              <a:ext uri="{FF2B5EF4-FFF2-40B4-BE49-F238E27FC236}">
                <a16:creationId xmlns:a16="http://schemas.microsoft.com/office/drawing/2014/main" id="{C5B5FDA2-A3BE-4F26-8908-E1077208C18A}"/>
              </a:ext>
            </a:extLst>
          </p:cNvPr>
          <p:cNvPicPr>
            <a:picLocks noChangeAspect="1"/>
          </p:cNvPicPr>
          <p:nvPr/>
        </p:nvPicPr>
        <p:blipFill>
          <a:blip r:embed="rId4"/>
          <a:stretch>
            <a:fillRect/>
          </a:stretch>
        </p:blipFill>
        <p:spPr>
          <a:xfrm>
            <a:off x="2447416" y="4556957"/>
            <a:ext cx="6657975" cy="1790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5C28-8B30-41DF-9E46-CC099197EBA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14BA1402-2BBB-4DCD-BFAF-2E83EA313574}"/>
              </a:ext>
            </a:extLst>
          </p:cNvPr>
          <p:cNvPicPr>
            <a:picLocks noGrp="1" noChangeAspect="1"/>
          </p:cNvPicPr>
          <p:nvPr>
            <p:ph idx="1"/>
          </p:nvPr>
        </p:nvPicPr>
        <p:blipFill>
          <a:blip r:embed="rId2"/>
          <a:stretch>
            <a:fillRect/>
          </a:stretch>
        </p:blipFill>
        <p:spPr>
          <a:xfrm>
            <a:off x="1367778" y="3161652"/>
            <a:ext cx="6302529" cy="2194763"/>
          </a:xfrm>
          <a:prstGeom prst="rect">
            <a:avLst/>
          </a:prstGeom>
        </p:spPr>
      </p:pic>
      <p:sp>
        <p:nvSpPr>
          <p:cNvPr id="5" name="Google Shape;243;p21">
            <a:extLst>
              <a:ext uri="{FF2B5EF4-FFF2-40B4-BE49-F238E27FC236}">
                <a16:creationId xmlns:a16="http://schemas.microsoft.com/office/drawing/2014/main" id="{B488C817-71D8-4EE8-9FF6-71C7F6A3240C}"/>
              </a:ext>
            </a:extLst>
          </p:cNvPr>
          <p:cNvSpPr txBox="1"/>
          <p:nvPr/>
        </p:nvSpPr>
        <p:spPr>
          <a:xfrm>
            <a:off x="1170890" y="2072153"/>
            <a:ext cx="62562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0" i="0" u="none" strike="noStrike" cap="none" dirty="0">
                <a:solidFill>
                  <a:schemeClr val="dk1"/>
                </a:solidFill>
                <a:latin typeface="Calibri"/>
                <a:ea typeface="Calibri"/>
                <a:cs typeface="Calibri"/>
                <a:sym typeface="Calibri"/>
              </a:rPr>
              <a:t>Now open this link on the browser: </a:t>
            </a:r>
            <a:r>
              <a:rPr lang="en-IN" u="sng" dirty="0">
                <a:solidFill>
                  <a:srgbClr val="0563C1"/>
                </a:solidFill>
                <a:latin typeface="Calibri"/>
                <a:ea typeface="Calibri"/>
                <a:cs typeface="Calibri"/>
                <a:sym typeface="Calibri"/>
              </a:rPr>
              <a:t>http://127.0.0.1:8000/about/</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1170338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dirty="0"/>
              <a:t>Create url.py in movie</a:t>
            </a:r>
            <a:endParaRPr dirty="0"/>
          </a:p>
        </p:txBody>
      </p:sp>
      <p:sp>
        <p:nvSpPr>
          <p:cNvPr id="249" name="Google Shape;249;p2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lnSpc>
                <a:spcPct val="107000"/>
              </a:lnSpc>
              <a:spcBef>
                <a:spcPts val="0"/>
              </a:spcBef>
              <a:spcAft>
                <a:spcPts val="0"/>
              </a:spcAft>
              <a:buSzPts val="1530"/>
              <a:buFont typeface="Georgia"/>
              <a:buAutoNum type="arabicPeriod"/>
            </a:pPr>
            <a:r>
              <a:rPr lang="en-IN" sz="1800" dirty="0">
                <a:latin typeface="Calibri"/>
                <a:ea typeface="Calibri"/>
                <a:cs typeface="Calibri"/>
                <a:sym typeface="Calibri"/>
              </a:rPr>
              <a:t>Ideally, for large project, it is not advisable to do the routing in this way. Every app should have its own urls.py file. So delete the changes you made to the urls.py file of </a:t>
            </a:r>
            <a:r>
              <a:rPr lang="en-IN" sz="1800">
                <a:latin typeface="Calibri"/>
                <a:ea typeface="Calibri"/>
                <a:cs typeface="Calibri"/>
                <a:sym typeface="Calibri"/>
              </a:rPr>
              <a:t>the moviereviews </a:t>
            </a:r>
            <a:r>
              <a:rPr lang="en-IN" sz="1800" dirty="0">
                <a:latin typeface="Calibri"/>
                <a:ea typeface="Calibri"/>
                <a:cs typeface="Calibri"/>
                <a:sym typeface="Calibri"/>
              </a:rPr>
              <a:t>and create a new file urls.py in the movie.</a:t>
            </a:r>
            <a:endParaRPr dirty="0"/>
          </a:p>
          <a:p>
            <a:pPr marL="342900" lvl="0" indent="-342900" algn="l" rtl="0">
              <a:lnSpc>
                <a:spcPct val="107000"/>
              </a:lnSpc>
              <a:spcBef>
                <a:spcPts val="1200"/>
              </a:spcBef>
              <a:spcAft>
                <a:spcPts val="0"/>
              </a:spcAft>
              <a:buSzPts val="1530"/>
              <a:buFont typeface="Georgia"/>
              <a:buAutoNum type="arabicPeriod"/>
            </a:pPr>
            <a:r>
              <a:rPr lang="en-IN" sz="1800" dirty="0">
                <a:latin typeface="Calibri"/>
                <a:ea typeface="Calibri"/>
                <a:cs typeface="Calibri"/>
                <a:sym typeface="Calibri"/>
              </a:rPr>
              <a:t>The </a:t>
            </a:r>
            <a:r>
              <a:rPr lang="en-IN" sz="1800" b="1" dirty="0">
                <a:solidFill>
                  <a:srgbClr val="FF0000"/>
                </a:solidFill>
                <a:latin typeface="Calibri"/>
                <a:ea typeface="Calibri"/>
                <a:cs typeface="Calibri"/>
                <a:sym typeface="Calibri"/>
              </a:rPr>
              <a:t>urls.py file in </a:t>
            </a:r>
            <a:r>
              <a:rPr lang="en-IN" sz="1800" b="1" dirty="0" err="1">
                <a:solidFill>
                  <a:srgbClr val="FF0000"/>
                </a:solidFill>
                <a:latin typeface="Calibri"/>
                <a:ea typeface="Calibri"/>
                <a:cs typeface="Calibri"/>
                <a:sym typeface="Calibri"/>
              </a:rPr>
              <a:t>moviereviews</a:t>
            </a:r>
            <a:r>
              <a:rPr lang="en-IN" sz="1800" b="1" dirty="0">
                <a:solidFill>
                  <a:srgbClr val="FF0000"/>
                </a:solidFill>
                <a:latin typeface="Calibri"/>
                <a:ea typeface="Calibri"/>
                <a:cs typeface="Calibri"/>
                <a:sym typeface="Calibri"/>
              </a:rPr>
              <a:t> </a:t>
            </a:r>
            <a:r>
              <a:rPr lang="en-IN" sz="1800" dirty="0">
                <a:latin typeface="Calibri"/>
                <a:ea typeface="Calibri"/>
                <a:cs typeface="Calibri"/>
                <a:sym typeface="Calibri"/>
              </a:rPr>
              <a:t>contains the following code now:</a:t>
            </a:r>
            <a:endParaRPr dirty="0"/>
          </a:p>
          <a:p>
            <a:pPr marL="182880" lvl="0" indent="-74929" algn="l" rtl="0">
              <a:lnSpc>
                <a:spcPct val="90000"/>
              </a:lnSpc>
              <a:spcBef>
                <a:spcPts val="2000"/>
              </a:spcBef>
              <a:spcAft>
                <a:spcPts val="0"/>
              </a:spcAft>
              <a:buSzPts val="1700"/>
              <a:buNone/>
            </a:pPr>
            <a:endParaRPr dirty="0"/>
          </a:p>
        </p:txBody>
      </p:sp>
      <p:pic>
        <p:nvPicPr>
          <p:cNvPr id="4" name="Picture 3">
            <a:extLst>
              <a:ext uri="{FF2B5EF4-FFF2-40B4-BE49-F238E27FC236}">
                <a16:creationId xmlns:a16="http://schemas.microsoft.com/office/drawing/2014/main" id="{7C71C2C8-8720-4CF5-8953-46E5F8E7354C}"/>
              </a:ext>
            </a:extLst>
          </p:cNvPr>
          <p:cNvPicPr>
            <a:picLocks noChangeAspect="1"/>
          </p:cNvPicPr>
          <p:nvPr/>
        </p:nvPicPr>
        <p:blipFill>
          <a:blip r:embed="rId3"/>
          <a:stretch>
            <a:fillRect/>
          </a:stretch>
        </p:blipFill>
        <p:spPr>
          <a:xfrm>
            <a:off x="1569913" y="3493502"/>
            <a:ext cx="5459694" cy="23755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800"/>
              <a:buFont typeface="Georgia"/>
              <a:buNone/>
            </a:pPr>
            <a:r>
              <a:rPr lang="en-IN" dirty="0"/>
              <a:t>Make following changes in urls.py in movie</a:t>
            </a:r>
            <a:endParaRPr dirty="0"/>
          </a:p>
        </p:txBody>
      </p:sp>
      <p:pic>
        <p:nvPicPr>
          <p:cNvPr id="4" name="Picture 3">
            <a:extLst>
              <a:ext uri="{FF2B5EF4-FFF2-40B4-BE49-F238E27FC236}">
                <a16:creationId xmlns:a16="http://schemas.microsoft.com/office/drawing/2014/main" id="{9BBACF7A-999E-4CF4-A98A-EDB4062B57B1}"/>
              </a:ext>
            </a:extLst>
          </p:cNvPr>
          <p:cNvPicPr>
            <a:picLocks noChangeAspect="1"/>
          </p:cNvPicPr>
          <p:nvPr/>
        </p:nvPicPr>
        <p:blipFill>
          <a:blip r:embed="rId3"/>
          <a:stretch>
            <a:fillRect/>
          </a:stretch>
        </p:blipFill>
        <p:spPr>
          <a:xfrm>
            <a:off x="1233811" y="1938522"/>
            <a:ext cx="4430142" cy="362813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b="1" dirty="0"/>
              <a:t>Generating HTML Pages with Templates</a:t>
            </a:r>
            <a:endParaRPr dirty="0"/>
          </a:p>
        </p:txBody>
      </p:sp>
      <p:sp>
        <p:nvSpPr>
          <p:cNvPr id="268" name="Google Shape;268;p2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0" lvl="0" indent="0">
              <a:lnSpc>
                <a:spcPct val="107000"/>
              </a:lnSpc>
              <a:spcBef>
                <a:spcPts val="0"/>
              </a:spcBef>
              <a:spcAft>
                <a:spcPts val="0"/>
              </a:spcAft>
              <a:buSzPts val="1530"/>
              <a:buNone/>
            </a:pPr>
            <a:r>
              <a:rPr lang="en-IN" sz="1800" dirty="0">
                <a:latin typeface="Calibri"/>
                <a:ea typeface="Calibri"/>
                <a:cs typeface="Calibri"/>
                <a:sym typeface="Calibri"/>
              </a:rPr>
              <a:t> </a:t>
            </a:r>
            <a:r>
              <a:rPr lang="en-US" dirty="0"/>
              <a:t> </a:t>
            </a:r>
            <a:r>
              <a:rPr lang="en-US" b="1" dirty="0">
                <a:solidFill>
                  <a:srgbClr val="FF0000"/>
                </a:solidFill>
              </a:rPr>
              <a:t>/movie/templates/ ,</a:t>
            </a:r>
            <a:r>
              <a:rPr lang="en-US" dirty="0"/>
              <a:t>create a new file, </a:t>
            </a:r>
            <a:r>
              <a:rPr lang="en-US" b="1" dirty="0">
                <a:solidFill>
                  <a:srgbClr val="FF0000"/>
                </a:solidFill>
              </a:rPr>
              <a:t>home.html</a:t>
            </a:r>
            <a:r>
              <a:rPr lang="en-US" dirty="0"/>
              <a:t>.</a:t>
            </a:r>
            <a:r>
              <a:rPr lang="en-IN" sz="1800" dirty="0">
                <a:latin typeface="Calibri"/>
                <a:ea typeface="Calibri"/>
                <a:cs typeface="Calibri"/>
                <a:sym typeface="Calibri"/>
              </a:rPr>
              <a:t>create a home.html file in it with the following code:</a:t>
            </a:r>
            <a:endParaRPr dirty="0"/>
          </a:p>
          <a:p>
            <a:pPr marL="182880" lvl="0" indent="-74929" algn="l" rtl="0">
              <a:lnSpc>
                <a:spcPct val="90000"/>
              </a:lnSpc>
              <a:spcBef>
                <a:spcPts val="2000"/>
              </a:spcBef>
              <a:spcAft>
                <a:spcPts val="0"/>
              </a:spcAft>
              <a:buSzPts val="1700"/>
              <a:buNone/>
            </a:pPr>
            <a:endParaRPr dirty="0"/>
          </a:p>
        </p:txBody>
      </p:sp>
      <p:pic>
        <p:nvPicPr>
          <p:cNvPr id="2" name="Picture 1">
            <a:extLst>
              <a:ext uri="{FF2B5EF4-FFF2-40B4-BE49-F238E27FC236}">
                <a16:creationId xmlns:a16="http://schemas.microsoft.com/office/drawing/2014/main" id="{B6DA0B70-195E-4DF5-BF58-9C1AFFE4C80F}"/>
              </a:ext>
            </a:extLst>
          </p:cNvPr>
          <p:cNvPicPr>
            <a:picLocks noChangeAspect="1"/>
          </p:cNvPicPr>
          <p:nvPr/>
        </p:nvPicPr>
        <p:blipFill>
          <a:blip r:embed="rId3"/>
          <a:stretch>
            <a:fillRect/>
          </a:stretch>
        </p:blipFill>
        <p:spPr>
          <a:xfrm>
            <a:off x="9037005" y="2260893"/>
            <a:ext cx="2682241" cy="4023361"/>
          </a:xfrm>
          <a:prstGeom prst="rect">
            <a:avLst/>
          </a:prstGeom>
        </p:spPr>
      </p:pic>
      <p:pic>
        <p:nvPicPr>
          <p:cNvPr id="3" name="Picture 2">
            <a:extLst>
              <a:ext uri="{FF2B5EF4-FFF2-40B4-BE49-F238E27FC236}">
                <a16:creationId xmlns:a16="http://schemas.microsoft.com/office/drawing/2014/main" id="{47BDADD4-E7AF-4B67-B5F9-1BB82CBA017E}"/>
              </a:ext>
            </a:extLst>
          </p:cNvPr>
          <p:cNvPicPr>
            <a:picLocks noChangeAspect="1"/>
          </p:cNvPicPr>
          <p:nvPr/>
        </p:nvPicPr>
        <p:blipFill>
          <a:blip r:embed="rId4"/>
          <a:stretch>
            <a:fillRect/>
          </a:stretch>
        </p:blipFill>
        <p:spPr>
          <a:xfrm>
            <a:off x="1271263" y="2796118"/>
            <a:ext cx="5086350" cy="31813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5D5E-8A64-4B7F-8ED1-095E704BE9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F60F32-24FD-4AE1-8F30-8FBE1B15FA1B}"/>
              </a:ext>
            </a:extLst>
          </p:cNvPr>
          <p:cNvSpPr>
            <a:spLocks noGrp="1"/>
          </p:cNvSpPr>
          <p:nvPr>
            <p:ph idx="1"/>
          </p:nvPr>
        </p:nvSpPr>
        <p:spPr/>
        <p:txBody>
          <a:bodyPr/>
          <a:lstStyle/>
          <a:p>
            <a:r>
              <a:rPr lang="en-US" b="1" dirty="0">
                <a:solidFill>
                  <a:srgbClr val="FF0000"/>
                </a:solidFill>
              </a:rPr>
              <a:t>/movie/views.py</a:t>
            </a:r>
            <a:r>
              <a:rPr lang="en-US" dirty="0"/>
              <a:t>, make the following change in </a:t>
            </a:r>
            <a:r>
              <a:rPr lang="en-US" b="1" dirty="0"/>
              <a:t>bold to the home function:</a:t>
            </a:r>
            <a:endParaRPr lang="en-US" dirty="0"/>
          </a:p>
        </p:txBody>
      </p:sp>
      <p:pic>
        <p:nvPicPr>
          <p:cNvPr id="4" name="Picture 3">
            <a:extLst>
              <a:ext uri="{FF2B5EF4-FFF2-40B4-BE49-F238E27FC236}">
                <a16:creationId xmlns:a16="http://schemas.microsoft.com/office/drawing/2014/main" id="{194BB80B-E6A6-4B3E-BAB9-388A1834B369}"/>
              </a:ext>
            </a:extLst>
          </p:cNvPr>
          <p:cNvPicPr>
            <a:picLocks noChangeAspect="1"/>
          </p:cNvPicPr>
          <p:nvPr/>
        </p:nvPicPr>
        <p:blipFill>
          <a:blip r:embed="rId2"/>
          <a:stretch>
            <a:fillRect/>
          </a:stretch>
        </p:blipFill>
        <p:spPr>
          <a:xfrm>
            <a:off x="1097280" y="2502439"/>
            <a:ext cx="5182715" cy="1652311"/>
          </a:xfrm>
          <a:prstGeom prst="rect">
            <a:avLst/>
          </a:prstGeom>
        </p:spPr>
      </p:pic>
    </p:spTree>
    <p:extLst>
      <p:ext uri="{BB962C8B-B14F-4D97-AF65-F5344CB8AC3E}">
        <p14:creationId xmlns:p14="http://schemas.microsoft.com/office/powerpoint/2010/main" val="2717514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42B9-F5B4-42C2-B832-8ECE7EA9B9E9}"/>
              </a:ext>
            </a:extLst>
          </p:cNvPr>
          <p:cNvSpPr>
            <a:spLocks noGrp="1"/>
          </p:cNvSpPr>
          <p:nvPr>
            <p:ph type="title"/>
          </p:nvPr>
        </p:nvSpPr>
        <p:spPr/>
        <p:txBody>
          <a:bodyPr/>
          <a:lstStyle/>
          <a:p>
            <a:r>
              <a:rPr lang="en-US" b="1" dirty="0"/>
              <a:t>Passing data into templates</a:t>
            </a:r>
            <a:endParaRPr lang="en-US" dirty="0"/>
          </a:p>
        </p:txBody>
      </p:sp>
      <p:sp>
        <p:nvSpPr>
          <p:cNvPr id="3" name="Content Placeholder 2">
            <a:extLst>
              <a:ext uri="{FF2B5EF4-FFF2-40B4-BE49-F238E27FC236}">
                <a16:creationId xmlns:a16="http://schemas.microsoft.com/office/drawing/2014/main" id="{28DB62EE-847B-4C91-9D2C-2033E4BE5657}"/>
              </a:ext>
            </a:extLst>
          </p:cNvPr>
          <p:cNvSpPr>
            <a:spLocks noGrp="1"/>
          </p:cNvSpPr>
          <p:nvPr>
            <p:ph idx="1"/>
          </p:nvPr>
        </p:nvSpPr>
        <p:spPr/>
        <p:txBody>
          <a:bodyPr>
            <a:normAutofit/>
          </a:bodyPr>
          <a:lstStyle/>
          <a:p>
            <a:pPr>
              <a:buFont typeface="Wingdings" panose="05000000000000000000" pitchFamily="2" charset="2"/>
              <a:buChar char="§"/>
            </a:pPr>
            <a:r>
              <a:rPr lang="en-US" dirty="0"/>
              <a:t>Add the following in bold to/</a:t>
            </a:r>
            <a:r>
              <a:rPr lang="en-US" b="1" dirty="0">
                <a:solidFill>
                  <a:srgbClr val="FF0000"/>
                </a:solidFill>
              </a:rPr>
              <a:t>movie/views.py</a:t>
            </a:r>
            <a:r>
              <a:rPr lang="en-US" dirty="0"/>
              <a:t>:</a:t>
            </a:r>
          </a:p>
          <a:p>
            <a:pPr>
              <a:buFont typeface="Wingdings" panose="05000000000000000000" pitchFamily="2" charset="2"/>
              <a:buChar char="§"/>
            </a:pPr>
            <a:endParaRPr lang="en-US" dirty="0"/>
          </a:p>
          <a:p>
            <a:r>
              <a:rPr lang="en-US" dirty="0"/>
              <a:t>def home(request):</a:t>
            </a:r>
          </a:p>
          <a:p>
            <a:r>
              <a:rPr lang="en-US" dirty="0"/>
              <a:t>    return render(request, 'home.html'</a:t>
            </a:r>
            <a:r>
              <a:rPr lang="en-US" b="1" dirty="0"/>
              <a:t>, {'</a:t>
            </a:r>
            <a:r>
              <a:rPr lang="en-US" b="1" dirty="0" err="1"/>
              <a:t>name':'Greg</a:t>
            </a:r>
            <a:r>
              <a:rPr lang="en-US" b="1" dirty="0"/>
              <a:t> Lim'})</a:t>
            </a:r>
          </a:p>
          <a:p>
            <a:pPr>
              <a:buFont typeface="Wingdings" panose="05000000000000000000" pitchFamily="2" charset="2"/>
              <a:buChar char="§"/>
            </a:pPr>
            <a:r>
              <a:rPr lang="en-US" dirty="0"/>
              <a:t>And in </a:t>
            </a:r>
            <a:r>
              <a:rPr lang="en-US" b="1" dirty="0">
                <a:solidFill>
                  <a:srgbClr val="FF0000"/>
                </a:solidFill>
              </a:rPr>
              <a:t>home.html,</a:t>
            </a:r>
          </a:p>
          <a:p>
            <a:r>
              <a:rPr lang="en-US" dirty="0"/>
              <a:t>&lt;body&gt;</a:t>
            </a:r>
          </a:p>
          <a:p>
            <a:r>
              <a:rPr lang="en-US" dirty="0"/>
              <a:t>    &lt;h1&gt;Welcome to Home Page</a:t>
            </a:r>
            <a:r>
              <a:rPr lang="en-US" b="1" dirty="0"/>
              <a:t>, {{ name }}&lt;/h1&gt;</a:t>
            </a:r>
          </a:p>
          <a:p>
            <a:r>
              <a:rPr lang="en-US" dirty="0"/>
              <a:t>    &lt;h2&gt;This is the full home page&lt;/h2&gt;</a:t>
            </a:r>
          </a:p>
          <a:p>
            <a:r>
              <a:rPr lang="en-US" dirty="0"/>
              <a:t>  &lt;/body&gt;</a:t>
            </a:r>
          </a:p>
          <a:p>
            <a:pPr marL="0" indent="0">
              <a:buNone/>
            </a:pPr>
            <a:endParaRPr lang="en-US" b="1" dirty="0">
              <a:solidFill>
                <a:srgbClr val="FF0000"/>
              </a:solidFill>
            </a:endParaRPr>
          </a:p>
        </p:txBody>
      </p:sp>
    </p:spTree>
    <p:extLst>
      <p:ext uri="{BB962C8B-B14F-4D97-AF65-F5344CB8AC3E}">
        <p14:creationId xmlns:p14="http://schemas.microsoft.com/office/powerpoint/2010/main" val="1401016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spcBef>
                <a:spcPts val="0"/>
              </a:spcBef>
            </a:pPr>
            <a:r>
              <a:rPr lang="en-US" sz="2800" dirty="0">
                <a:solidFill>
                  <a:schemeClr val="dk1"/>
                </a:solidFill>
                <a:latin typeface="Calibri"/>
                <a:ea typeface="Calibri"/>
                <a:cs typeface="Calibri"/>
                <a:sym typeface="Calibri"/>
              </a:rPr>
              <a:t>Now open this link on the browser: </a:t>
            </a:r>
            <a:r>
              <a:rPr lang="en-US" sz="2800" u="sng" dirty="0">
                <a:solidFill>
                  <a:srgbClr val="0563C1"/>
                </a:solidFill>
                <a:latin typeface="Calibri"/>
                <a:ea typeface="Calibri"/>
                <a:cs typeface="Calibri"/>
                <a:sym typeface="Calibri"/>
              </a:rPr>
              <a:t>http://127.0.0.1:8000</a:t>
            </a:r>
            <a:endParaRPr lang="en-US" sz="2800"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37641DB1-BA49-4655-A5A8-8FFA90859FD0}"/>
              </a:ext>
            </a:extLst>
          </p:cNvPr>
          <p:cNvPicPr>
            <a:picLocks noChangeAspect="1"/>
          </p:cNvPicPr>
          <p:nvPr/>
        </p:nvPicPr>
        <p:blipFill>
          <a:blip r:embed="rId3"/>
          <a:stretch>
            <a:fillRect/>
          </a:stretch>
        </p:blipFill>
        <p:spPr>
          <a:xfrm>
            <a:off x="1757780" y="1961303"/>
            <a:ext cx="6886158" cy="2329710"/>
          </a:xfrm>
          <a:prstGeom prst="rect">
            <a:avLst/>
          </a:prstGeom>
        </p:spPr>
      </p:pic>
      <p:sp>
        <p:nvSpPr>
          <p:cNvPr id="5" name="TextBox 4">
            <a:extLst>
              <a:ext uri="{FF2B5EF4-FFF2-40B4-BE49-F238E27FC236}">
                <a16:creationId xmlns:a16="http://schemas.microsoft.com/office/drawing/2014/main" id="{CF428A42-778A-47FB-B8CA-73D1EB3F9F8C}"/>
              </a:ext>
            </a:extLst>
          </p:cNvPr>
          <p:cNvSpPr txBox="1"/>
          <p:nvPr/>
        </p:nvSpPr>
        <p:spPr>
          <a:xfrm>
            <a:off x="1349406" y="4291013"/>
            <a:ext cx="7997382" cy="923330"/>
          </a:xfrm>
          <a:prstGeom prst="rect">
            <a:avLst/>
          </a:prstGeom>
          <a:noFill/>
        </p:spPr>
        <p:txBody>
          <a:bodyPr wrap="none" rtlCol="0">
            <a:spAutoFit/>
          </a:bodyPr>
          <a:lstStyle/>
          <a:p>
            <a:r>
              <a:rPr lang="en-US" dirty="0"/>
              <a:t>we used the variable syntax element from the </a:t>
            </a:r>
            <a:r>
              <a:rPr lang="en-US" b="1" dirty="0"/>
              <a:t>Django Template</a:t>
            </a:r>
          </a:p>
          <a:p>
            <a:r>
              <a:rPr lang="en-US" b="1" dirty="0"/>
              <a:t>Language (DTL). The DTL provides a set of elements and tags – for example, {{ … }}</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BDAE8-0418-4D6D-AA50-2498D5F77BC0}"/>
              </a:ext>
            </a:extLst>
          </p:cNvPr>
          <p:cNvSpPr>
            <a:spLocks noGrp="1"/>
          </p:cNvSpPr>
          <p:nvPr>
            <p:ph type="title"/>
          </p:nvPr>
        </p:nvSpPr>
        <p:spPr/>
        <p:txBody>
          <a:bodyPr/>
          <a:lstStyle/>
          <a:p>
            <a:r>
              <a:rPr lang="en-US" b="1" dirty="0"/>
              <a:t>Adding Bootstrap to our site</a:t>
            </a:r>
            <a:endParaRPr lang="en-US" dirty="0"/>
          </a:p>
        </p:txBody>
      </p:sp>
      <p:sp>
        <p:nvSpPr>
          <p:cNvPr id="3" name="Content Placeholder 2">
            <a:extLst>
              <a:ext uri="{FF2B5EF4-FFF2-40B4-BE49-F238E27FC236}">
                <a16:creationId xmlns:a16="http://schemas.microsoft.com/office/drawing/2014/main" id="{E380F3DE-33FE-4858-B019-C53D8955C882}"/>
              </a:ext>
            </a:extLst>
          </p:cNvPr>
          <p:cNvSpPr>
            <a:spLocks noGrp="1"/>
          </p:cNvSpPr>
          <p:nvPr>
            <p:ph idx="1"/>
          </p:nvPr>
        </p:nvSpPr>
        <p:spPr/>
        <p:txBody>
          <a:bodyPr/>
          <a:lstStyle/>
          <a:p>
            <a:r>
              <a:rPr lang="en-US" dirty="0"/>
              <a:t>Go to https://getbootstrap.com/ and go to </a:t>
            </a:r>
            <a:r>
              <a:rPr lang="en-US" b="1" dirty="0"/>
              <a:t>Get started, then </a:t>
            </a:r>
            <a:r>
              <a:rPr lang="en-US" dirty="0"/>
              <a:t>Copy the style sheet link (as shown in Figure 4.5) inside the &lt;head&gt; tag of the home.html template to load the Bootstrap CSS:</a:t>
            </a:r>
            <a:r>
              <a:rPr lang="en-US" b="1" dirty="0"/>
              <a:t> </a:t>
            </a:r>
            <a:endParaRPr lang="en-US" dirty="0"/>
          </a:p>
        </p:txBody>
      </p:sp>
      <p:pic>
        <p:nvPicPr>
          <p:cNvPr id="4" name="Picture 3">
            <a:extLst>
              <a:ext uri="{FF2B5EF4-FFF2-40B4-BE49-F238E27FC236}">
                <a16:creationId xmlns:a16="http://schemas.microsoft.com/office/drawing/2014/main" id="{21209530-56E0-4902-9F24-0F69A57EFE22}"/>
              </a:ext>
            </a:extLst>
          </p:cNvPr>
          <p:cNvPicPr>
            <a:picLocks noChangeAspect="1"/>
          </p:cNvPicPr>
          <p:nvPr/>
        </p:nvPicPr>
        <p:blipFill>
          <a:blip r:embed="rId2"/>
          <a:stretch>
            <a:fillRect/>
          </a:stretch>
        </p:blipFill>
        <p:spPr>
          <a:xfrm>
            <a:off x="1711402" y="2534363"/>
            <a:ext cx="7903114" cy="3697759"/>
          </a:xfrm>
          <a:prstGeom prst="rect">
            <a:avLst/>
          </a:prstGeom>
        </p:spPr>
      </p:pic>
    </p:spTree>
    <p:extLst>
      <p:ext uri="{BB962C8B-B14F-4D97-AF65-F5344CB8AC3E}">
        <p14:creationId xmlns:p14="http://schemas.microsoft.com/office/powerpoint/2010/main" val="2639357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3EC1B-4AC7-403C-9D06-245AB76E9ED2}"/>
              </a:ext>
            </a:extLst>
          </p:cNvPr>
          <p:cNvSpPr>
            <a:spLocks noGrp="1"/>
          </p:cNvSpPr>
          <p:nvPr>
            <p:ph type="title"/>
          </p:nvPr>
        </p:nvSpPr>
        <p:spPr/>
        <p:txBody>
          <a:bodyPr/>
          <a:lstStyle/>
          <a:p>
            <a:r>
              <a:rPr lang="en-US" dirty="0"/>
              <a:t>load the Bootstrap CSS link to </a:t>
            </a:r>
            <a:r>
              <a:rPr lang="en-US" dirty="0">
                <a:solidFill>
                  <a:srgbClr val="FF0000"/>
                </a:solidFill>
              </a:rPr>
              <a:t>home.html</a:t>
            </a:r>
          </a:p>
        </p:txBody>
      </p:sp>
      <p:pic>
        <p:nvPicPr>
          <p:cNvPr id="4" name="Content Placeholder 3">
            <a:extLst>
              <a:ext uri="{FF2B5EF4-FFF2-40B4-BE49-F238E27FC236}">
                <a16:creationId xmlns:a16="http://schemas.microsoft.com/office/drawing/2014/main" id="{D1684E35-1832-4C60-88E1-6004F1D2BE68}"/>
              </a:ext>
            </a:extLst>
          </p:cNvPr>
          <p:cNvPicPr>
            <a:picLocks noGrp="1" noChangeAspect="1"/>
          </p:cNvPicPr>
          <p:nvPr>
            <p:ph idx="1"/>
          </p:nvPr>
        </p:nvPicPr>
        <p:blipFill>
          <a:blip r:embed="rId2"/>
          <a:stretch>
            <a:fillRect/>
          </a:stretch>
        </p:blipFill>
        <p:spPr>
          <a:xfrm>
            <a:off x="1026258" y="1855064"/>
            <a:ext cx="5069741" cy="933450"/>
          </a:xfrm>
          <a:prstGeom prst="rect">
            <a:avLst/>
          </a:prstGeom>
        </p:spPr>
      </p:pic>
      <p:pic>
        <p:nvPicPr>
          <p:cNvPr id="5" name="Picture 4">
            <a:extLst>
              <a:ext uri="{FF2B5EF4-FFF2-40B4-BE49-F238E27FC236}">
                <a16:creationId xmlns:a16="http://schemas.microsoft.com/office/drawing/2014/main" id="{9EE1328C-A689-4E7B-A000-8CF56680E319}"/>
              </a:ext>
            </a:extLst>
          </p:cNvPr>
          <p:cNvPicPr>
            <a:picLocks noChangeAspect="1"/>
          </p:cNvPicPr>
          <p:nvPr/>
        </p:nvPicPr>
        <p:blipFill>
          <a:blip r:embed="rId3"/>
          <a:stretch>
            <a:fillRect/>
          </a:stretch>
        </p:blipFill>
        <p:spPr>
          <a:xfrm>
            <a:off x="1154430" y="2706765"/>
            <a:ext cx="4998720" cy="1398008"/>
          </a:xfrm>
          <a:prstGeom prst="rect">
            <a:avLst/>
          </a:prstGeom>
        </p:spPr>
      </p:pic>
      <p:sp>
        <p:nvSpPr>
          <p:cNvPr id="6" name="TextBox 5">
            <a:extLst>
              <a:ext uri="{FF2B5EF4-FFF2-40B4-BE49-F238E27FC236}">
                <a16:creationId xmlns:a16="http://schemas.microsoft.com/office/drawing/2014/main" id="{5B01510E-B828-464C-B824-D81B7312120A}"/>
              </a:ext>
            </a:extLst>
          </p:cNvPr>
          <p:cNvSpPr txBox="1"/>
          <p:nvPr/>
        </p:nvSpPr>
        <p:spPr>
          <a:xfrm>
            <a:off x="1097280" y="4104773"/>
            <a:ext cx="9840009" cy="646331"/>
          </a:xfrm>
          <a:prstGeom prst="rect">
            <a:avLst/>
          </a:prstGeom>
          <a:noFill/>
        </p:spPr>
        <p:txBody>
          <a:bodyPr wrap="square" rtlCol="0">
            <a:spAutoFit/>
          </a:bodyPr>
          <a:lstStyle/>
          <a:p>
            <a:pPr marL="285750" indent="-285750">
              <a:buFont typeface="Wingdings" panose="05000000000000000000" pitchFamily="2" charset="2"/>
              <a:buChar char="§"/>
            </a:pPr>
            <a:r>
              <a:rPr lang="en-US" dirty="0"/>
              <a:t>You c a n immediately see the styling applied if you go to </a:t>
            </a:r>
            <a:r>
              <a:rPr lang="en-US" dirty="0">
                <a:solidFill>
                  <a:srgbClr val="FF0000"/>
                </a:solidFill>
              </a:rPr>
              <a:t>localhost:8000</a:t>
            </a:r>
          </a:p>
          <a:p>
            <a:pPr marL="285750" indent="-285750">
              <a:buFont typeface="Wingdings" panose="05000000000000000000" pitchFamily="2" charset="2"/>
              <a:buChar char="§"/>
            </a:pPr>
            <a:r>
              <a:rPr lang="en-US" dirty="0"/>
              <a:t>To improve the padding of the site, let's wrap the home.html HTML header tags in a div container:</a:t>
            </a:r>
            <a:endParaRPr lang="en-US" dirty="0">
              <a:solidFill>
                <a:srgbClr val="FF0000"/>
              </a:solidFill>
            </a:endParaRPr>
          </a:p>
        </p:txBody>
      </p:sp>
      <p:pic>
        <p:nvPicPr>
          <p:cNvPr id="7" name="Picture 6">
            <a:extLst>
              <a:ext uri="{FF2B5EF4-FFF2-40B4-BE49-F238E27FC236}">
                <a16:creationId xmlns:a16="http://schemas.microsoft.com/office/drawing/2014/main" id="{0A36131E-1196-4215-BF84-A49ED66A1F80}"/>
              </a:ext>
            </a:extLst>
          </p:cNvPr>
          <p:cNvPicPr>
            <a:picLocks noChangeAspect="1"/>
          </p:cNvPicPr>
          <p:nvPr/>
        </p:nvPicPr>
        <p:blipFill>
          <a:blip r:embed="rId4"/>
          <a:stretch>
            <a:fillRect/>
          </a:stretch>
        </p:blipFill>
        <p:spPr>
          <a:xfrm>
            <a:off x="1154430" y="4731256"/>
            <a:ext cx="4837997" cy="1543050"/>
          </a:xfrm>
          <a:prstGeom prst="rect">
            <a:avLst/>
          </a:prstGeom>
        </p:spPr>
      </p:pic>
    </p:spTree>
    <p:extLst>
      <p:ext uri="{BB962C8B-B14F-4D97-AF65-F5344CB8AC3E}">
        <p14:creationId xmlns:p14="http://schemas.microsoft.com/office/powerpoint/2010/main" val="3717543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FB05-7202-452C-90A8-E2F3AE267B94}"/>
              </a:ext>
            </a:extLst>
          </p:cNvPr>
          <p:cNvSpPr>
            <a:spLocks noGrp="1"/>
          </p:cNvSpPr>
          <p:nvPr>
            <p:ph type="title"/>
          </p:nvPr>
        </p:nvSpPr>
        <p:spPr/>
        <p:txBody>
          <a:bodyPr>
            <a:normAutofit/>
          </a:bodyPr>
          <a:lstStyle/>
          <a:p>
            <a:r>
              <a:rPr lang="en-IN" sz="2800" dirty="0">
                <a:solidFill>
                  <a:schemeClr val="dk1"/>
                </a:solidFill>
                <a:latin typeface="Calibri"/>
                <a:ea typeface="Calibri"/>
                <a:cs typeface="Calibri"/>
                <a:sym typeface="Calibri"/>
              </a:rPr>
              <a:t>open this link on the browser: </a:t>
            </a:r>
            <a:r>
              <a:rPr lang="en-IN" sz="2800" u="sng" dirty="0">
                <a:solidFill>
                  <a:srgbClr val="0563C1"/>
                </a:solidFill>
                <a:latin typeface="Calibri"/>
                <a:ea typeface="Calibri"/>
                <a:cs typeface="Calibri"/>
                <a:sym typeface="Calibri"/>
              </a:rPr>
              <a:t>http://127.0.0.1:8000</a:t>
            </a:r>
            <a:endParaRPr lang="en-US" sz="2800" dirty="0"/>
          </a:p>
        </p:txBody>
      </p:sp>
      <p:pic>
        <p:nvPicPr>
          <p:cNvPr id="4" name="Content Placeholder 3">
            <a:extLst>
              <a:ext uri="{FF2B5EF4-FFF2-40B4-BE49-F238E27FC236}">
                <a16:creationId xmlns:a16="http://schemas.microsoft.com/office/drawing/2014/main" id="{D61E32EF-5C2C-450D-9393-BE672619B8B3}"/>
              </a:ext>
            </a:extLst>
          </p:cNvPr>
          <p:cNvPicPr>
            <a:picLocks noGrp="1" noChangeAspect="1"/>
          </p:cNvPicPr>
          <p:nvPr>
            <p:ph idx="1"/>
          </p:nvPr>
        </p:nvPicPr>
        <p:blipFill>
          <a:blip r:embed="rId2"/>
          <a:stretch>
            <a:fillRect/>
          </a:stretch>
        </p:blipFill>
        <p:spPr>
          <a:xfrm>
            <a:off x="1217181" y="2192322"/>
            <a:ext cx="8610600" cy="1981200"/>
          </a:xfrm>
          <a:prstGeom prst="rect">
            <a:avLst/>
          </a:prstGeom>
        </p:spPr>
      </p:pic>
    </p:spTree>
    <p:extLst>
      <p:ext uri="{BB962C8B-B14F-4D97-AF65-F5344CB8AC3E}">
        <p14:creationId xmlns:p14="http://schemas.microsoft.com/office/powerpoint/2010/main" val="1344842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11E39-DE0E-4D68-A45C-2AE1B8E71AA3}"/>
              </a:ext>
            </a:extLst>
          </p:cNvPr>
          <p:cNvSpPr>
            <a:spLocks noGrp="1"/>
          </p:cNvSpPr>
          <p:nvPr>
            <p:ph type="title"/>
          </p:nvPr>
        </p:nvSpPr>
        <p:spPr/>
        <p:txBody>
          <a:bodyPr>
            <a:normAutofit/>
          </a:bodyPr>
          <a:lstStyle/>
          <a:p>
            <a:r>
              <a:rPr lang="en-US" sz="2800" b="1" dirty="0"/>
              <a:t>Make following updates in </a:t>
            </a:r>
            <a:r>
              <a:rPr lang="en-US" sz="2800" b="1" dirty="0">
                <a:solidFill>
                  <a:srgbClr val="FF0000"/>
                </a:solidFill>
              </a:rPr>
              <a:t>movie/views.py</a:t>
            </a:r>
          </a:p>
        </p:txBody>
      </p:sp>
      <p:sp>
        <p:nvSpPr>
          <p:cNvPr id="3" name="Content Placeholder 2">
            <a:extLst>
              <a:ext uri="{FF2B5EF4-FFF2-40B4-BE49-F238E27FC236}">
                <a16:creationId xmlns:a16="http://schemas.microsoft.com/office/drawing/2014/main" id="{C2E5AF5F-E03A-4B5B-85A2-3F848FC5F4BA}"/>
              </a:ext>
            </a:extLst>
          </p:cNvPr>
          <p:cNvSpPr>
            <a:spLocks noGrp="1"/>
          </p:cNvSpPr>
          <p:nvPr>
            <p:ph idx="1"/>
          </p:nvPr>
        </p:nvSpPr>
        <p:spPr/>
        <p:txBody>
          <a:bodyPr>
            <a:normAutofit fontScale="92500" lnSpcReduction="20000"/>
          </a:bodyPr>
          <a:lstStyle/>
          <a:p>
            <a:r>
              <a:rPr lang="en-US" dirty="0"/>
              <a:t>from </a:t>
            </a:r>
            <a:r>
              <a:rPr lang="en-US" dirty="0" err="1"/>
              <a:t>django.shortcuts</a:t>
            </a:r>
            <a:r>
              <a:rPr lang="en-US" dirty="0"/>
              <a:t> import render</a:t>
            </a:r>
          </a:p>
          <a:p>
            <a:r>
              <a:rPr lang="en-US" dirty="0"/>
              <a:t>from </a:t>
            </a:r>
            <a:r>
              <a:rPr lang="en-US" dirty="0" err="1"/>
              <a:t>django.http</a:t>
            </a:r>
            <a:r>
              <a:rPr lang="en-US" dirty="0"/>
              <a:t> import </a:t>
            </a:r>
            <a:r>
              <a:rPr lang="en-US" dirty="0" err="1"/>
              <a:t>HttpResponse</a:t>
            </a:r>
            <a:endParaRPr lang="en-US" dirty="0"/>
          </a:p>
          <a:p>
            <a:br>
              <a:rPr lang="en-US" dirty="0"/>
            </a:br>
            <a:r>
              <a:rPr lang="en-US" b="1" dirty="0" err="1">
                <a:solidFill>
                  <a:srgbClr val="FF0000"/>
                </a:solidFill>
              </a:rPr>
              <a:t>movie_list</a:t>
            </a:r>
            <a:r>
              <a:rPr lang="en-US" b="1" dirty="0">
                <a:solidFill>
                  <a:srgbClr val="FF0000"/>
                </a:solidFill>
              </a:rPr>
              <a:t>=[</a:t>
            </a:r>
          </a:p>
          <a:p>
            <a:r>
              <a:rPr lang="en-US" b="1" dirty="0">
                <a:solidFill>
                  <a:srgbClr val="FF0000"/>
                </a:solidFill>
              </a:rPr>
              <a:t>    {'id':1,'name': 'Hetty potter'},</a:t>
            </a:r>
          </a:p>
          <a:p>
            <a:r>
              <a:rPr lang="en-US" b="1" dirty="0">
                <a:solidFill>
                  <a:srgbClr val="FF0000"/>
                </a:solidFill>
              </a:rPr>
              <a:t>    {'id':2,'name':'Gladiator'},</a:t>
            </a:r>
          </a:p>
          <a:p>
            <a:r>
              <a:rPr lang="en-US" b="1" dirty="0">
                <a:solidFill>
                  <a:srgbClr val="FF0000"/>
                </a:solidFill>
              </a:rPr>
              <a:t>    {'id':3,'name':'Misson Impossible'}]</a:t>
            </a:r>
          </a:p>
          <a:p>
            <a:r>
              <a:rPr lang="en-US" dirty="0"/>
              <a:t>def home(request):</a:t>
            </a:r>
          </a:p>
          <a:p>
            <a:r>
              <a:rPr lang="en-US" dirty="0"/>
              <a:t>    </a:t>
            </a:r>
            <a:r>
              <a:rPr lang="en-US" b="1" dirty="0">
                <a:solidFill>
                  <a:srgbClr val="FF0000"/>
                </a:solidFill>
              </a:rPr>
              <a:t>return render(request, 'home.html',{'name’: 'Greg Lim','</a:t>
            </a:r>
            <a:r>
              <a:rPr lang="en-US" b="1" dirty="0" err="1">
                <a:solidFill>
                  <a:srgbClr val="FF0000"/>
                </a:solidFill>
              </a:rPr>
              <a:t>movie_list</a:t>
            </a:r>
            <a:r>
              <a:rPr lang="en-US" b="1" dirty="0">
                <a:solidFill>
                  <a:srgbClr val="FF0000"/>
                </a:solidFill>
              </a:rPr>
              <a:t>’: </a:t>
            </a:r>
            <a:r>
              <a:rPr lang="en-US" b="1" dirty="0" err="1">
                <a:solidFill>
                  <a:srgbClr val="FF0000"/>
                </a:solidFill>
              </a:rPr>
              <a:t>movie_list</a:t>
            </a:r>
            <a:r>
              <a:rPr lang="en-US" b="1" dirty="0">
                <a:solidFill>
                  <a:srgbClr val="FF0000"/>
                </a:solidFill>
              </a:rPr>
              <a:t>})</a:t>
            </a:r>
          </a:p>
          <a:p>
            <a:r>
              <a:rPr lang="en-US" dirty="0"/>
              <a:t>def about(request):</a:t>
            </a:r>
          </a:p>
          <a:p>
            <a:r>
              <a:rPr lang="en-US" dirty="0"/>
              <a:t>    return render(request, 'about.html')</a:t>
            </a:r>
          </a:p>
          <a:p>
            <a:endParaRPr lang="en-US" dirty="0"/>
          </a:p>
        </p:txBody>
      </p:sp>
    </p:spTree>
    <p:extLst>
      <p:ext uri="{BB962C8B-B14F-4D97-AF65-F5344CB8AC3E}">
        <p14:creationId xmlns:p14="http://schemas.microsoft.com/office/powerpoint/2010/main" val="12635800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4A782-9D52-4954-BEF9-826868ED0D93}"/>
              </a:ext>
            </a:extLst>
          </p:cNvPr>
          <p:cNvSpPr>
            <a:spLocks noGrp="1"/>
          </p:cNvSpPr>
          <p:nvPr>
            <p:ph type="title"/>
          </p:nvPr>
        </p:nvSpPr>
        <p:spPr/>
        <p:txBody>
          <a:bodyPr>
            <a:normAutofit/>
          </a:bodyPr>
          <a:lstStyle/>
          <a:p>
            <a:r>
              <a:rPr lang="en-US" sz="3200" b="1" dirty="0"/>
              <a:t>Make following updates in </a:t>
            </a:r>
            <a:r>
              <a:rPr lang="en-US" sz="3200" b="1" dirty="0">
                <a:solidFill>
                  <a:srgbClr val="FF0000"/>
                </a:solidFill>
              </a:rPr>
              <a:t>movie/templates/home.html</a:t>
            </a:r>
            <a:endParaRPr lang="en-US" sz="3200" dirty="0"/>
          </a:p>
        </p:txBody>
      </p:sp>
      <p:pic>
        <p:nvPicPr>
          <p:cNvPr id="4" name="Content Placeholder 3">
            <a:extLst>
              <a:ext uri="{FF2B5EF4-FFF2-40B4-BE49-F238E27FC236}">
                <a16:creationId xmlns:a16="http://schemas.microsoft.com/office/drawing/2014/main" id="{2E14272D-1DB6-4444-BD6B-E2BF062EB935}"/>
              </a:ext>
            </a:extLst>
          </p:cNvPr>
          <p:cNvPicPr>
            <a:picLocks noGrp="1" noChangeAspect="1"/>
          </p:cNvPicPr>
          <p:nvPr>
            <p:ph idx="1"/>
          </p:nvPr>
        </p:nvPicPr>
        <p:blipFill>
          <a:blip r:embed="rId2"/>
          <a:stretch>
            <a:fillRect/>
          </a:stretch>
        </p:blipFill>
        <p:spPr>
          <a:xfrm>
            <a:off x="1097280" y="1737360"/>
            <a:ext cx="5090456" cy="4663440"/>
          </a:xfrm>
          <a:prstGeom prst="rect">
            <a:avLst/>
          </a:prstGeom>
        </p:spPr>
      </p:pic>
      <p:pic>
        <p:nvPicPr>
          <p:cNvPr id="5" name="Picture 4">
            <a:extLst>
              <a:ext uri="{FF2B5EF4-FFF2-40B4-BE49-F238E27FC236}">
                <a16:creationId xmlns:a16="http://schemas.microsoft.com/office/drawing/2014/main" id="{531E228E-2A81-4D02-B06F-BB8552D508AB}"/>
              </a:ext>
            </a:extLst>
          </p:cNvPr>
          <p:cNvPicPr>
            <a:picLocks noChangeAspect="1"/>
          </p:cNvPicPr>
          <p:nvPr/>
        </p:nvPicPr>
        <p:blipFill>
          <a:blip r:embed="rId3"/>
          <a:stretch>
            <a:fillRect/>
          </a:stretch>
        </p:blipFill>
        <p:spPr>
          <a:xfrm>
            <a:off x="6616296" y="1737360"/>
            <a:ext cx="5029466" cy="4663440"/>
          </a:xfrm>
          <a:prstGeom prst="rect">
            <a:avLst/>
          </a:prstGeom>
        </p:spPr>
      </p:pic>
    </p:spTree>
    <p:extLst>
      <p:ext uri="{BB962C8B-B14F-4D97-AF65-F5344CB8AC3E}">
        <p14:creationId xmlns:p14="http://schemas.microsoft.com/office/powerpoint/2010/main" val="3413197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FB05-7202-452C-90A8-E2F3AE267B94}"/>
              </a:ext>
            </a:extLst>
          </p:cNvPr>
          <p:cNvSpPr>
            <a:spLocks noGrp="1"/>
          </p:cNvSpPr>
          <p:nvPr>
            <p:ph type="title"/>
          </p:nvPr>
        </p:nvSpPr>
        <p:spPr>
          <a:xfrm>
            <a:off x="1198717" y="322113"/>
            <a:ext cx="10058400" cy="1450757"/>
          </a:xfrm>
        </p:spPr>
        <p:txBody>
          <a:bodyPr>
            <a:normAutofit/>
          </a:bodyPr>
          <a:lstStyle/>
          <a:p>
            <a:r>
              <a:rPr lang="en-IN" sz="2800" dirty="0">
                <a:solidFill>
                  <a:schemeClr val="dk1"/>
                </a:solidFill>
                <a:latin typeface="Calibri"/>
                <a:ea typeface="Calibri"/>
                <a:cs typeface="Calibri"/>
                <a:sym typeface="Calibri"/>
              </a:rPr>
              <a:t>open this link on the browser: </a:t>
            </a:r>
            <a:r>
              <a:rPr lang="en-IN" sz="2800" u="sng" dirty="0">
                <a:solidFill>
                  <a:srgbClr val="0563C1"/>
                </a:solidFill>
                <a:latin typeface="Calibri"/>
                <a:ea typeface="Calibri"/>
                <a:cs typeface="Calibri"/>
                <a:sym typeface="Calibri"/>
              </a:rPr>
              <a:t>http://127.0.0.1:8000</a:t>
            </a:r>
            <a:endParaRPr lang="en-US" sz="2800" dirty="0"/>
          </a:p>
        </p:txBody>
      </p:sp>
      <p:pic>
        <p:nvPicPr>
          <p:cNvPr id="3" name="Picture 2">
            <a:extLst>
              <a:ext uri="{FF2B5EF4-FFF2-40B4-BE49-F238E27FC236}">
                <a16:creationId xmlns:a16="http://schemas.microsoft.com/office/drawing/2014/main" id="{B72806CC-5D5D-40F8-A668-A0A103C905FC}"/>
              </a:ext>
            </a:extLst>
          </p:cNvPr>
          <p:cNvPicPr>
            <a:picLocks noChangeAspect="1"/>
          </p:cNvPicPr>
          <p:nvPr/>
        </p:nvPicPr>
        <p:blipFill>
          <a:blip r:embed="rId2"/>
          <a:stretch>
            <a:fillRect/>
          </a:stretch>
        </p:blipFill>
        <p:spPr>
          <a:xfrm>
            <a:off x="1198717" y="1977131"/>
            <a:ext cx="8658225" cy="3276600"/>
          </a:xfrm>
          <a:prstGeom prst="rect">
            <a:avLst/>
          </a:prstGeom>
        </p:spPr>
      </p:pic>
    </p:spTree>
    <p:extLst>
      <p:ext uri="{BB962C8B-B14F-4D97-AF65-F5344CB8AC3E}">
        <p14:creationId xmlns:p14="http://schemas.microsoft.com/office/powerpoint/2010/main" val="2943220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CBE4B-297F-47C1-A1B5-0B2FED042C08}"/>
              </a:ext>
            </a:extLst>
          </p:cNvPr>
          <p:cNvSpPr>
            <a:spLocks noGrp="1"/>
          </p:cNvSpPr>
          <p:nvPr>
            <p:ph type="title"/>
          </p:nvPr>
        </p:nvSpPr>
        <p:spPr/>
        <p:txBody>
          <a:bodyPr/>
          <a:lstStyle/>
          <a:p>
            <a:r>
              <a:rPr lang="en-US" b="1" dirty="0"/>
              <a:t>Adding a search form</a:t>
            </a:r>
            <a:endParaRPr lang="en-US" dirty="0"/>
          </a:p>
        </p:txBody>
      </p:sp>
      <p:sp>
        <p:nvSpPr>
          <p:cNvPr id="3" name="Content Placeholder 2">
            <a:extLst>
              <a:ext uri="{FF2B5EF4-FFF2-40B4-BE49-F238E27FC236}">
                <a16:creationId xmlns:a16="http://schemas.microsoft.com/office/drawing/2014/main" id="{683BE21A-547A-45A7-8651-414C71229C30}"/>
              </a:ext>
            </a:extLst>
          </p:cNvPr>
          <p:cNvSpPr>
            <a:spLocks noGrp="1"/>
          </p:cNvSpPr>
          <p:nvPr>
            <p:ph idx="1"/>
          </p:nvPr>
        </p:nvSpPr>
        <p:spPr/>
        <p:txBody>
          <a:bodyPr/>
          <a:lstStyle/>
          <a:p>
            <a:r>
              <a:rPr lang="en-US" dirty="0"/>
              <a:t>At</a:t>
            </a:r>
          </a:p>
          <a:p>
            <a:r>
              <a:rPr lang="en-US" dirty="0"/>
              <a:t> https://getbootstrap.com, under </a:t>
            </a:r>
          </a:p>
          <a:p>
            <a:r>
              <a:rPr lang="en-US" b="1" dirty="0"/>
              <a:t>Docs, go to Forms | Overview </a:t>
            </a:r>
            <a:endParaRPr lang="en-US" dirty="0"/>
          </a:p>
        </p:txBody>
      </p:sp>
      <p:pic>
        <p:nvPicPr>
          <p:cNvPr id="4" name="Picture 3">
            <a:extLst>
              <a:ext uri="{FF2B5EF4-FFF2-40B4-BE49-F238E27FC236}">
                <a16:creationId xmlns:a16="http://schemas.microsoft.com/office/drawing/2014/main" id="{6E44D293-D587-45D0-B457-56AB1558024E}"/>
              </a:ext>
            </a:extLst>
          </p:cNvPr>
          <p:cNvPicPr>
            <a:picLocks noChangeAspect="1"/>
          </p:cNvPicPr>
          <p:nvPr/>
        </p:nvPicPr>
        <p:blipFill>
          <a:blip r:embed="rId2"/>
          <a:stretch>
            <a:fillRect/>
          </a:stretch>
        </p:blipFill>
        <p:spPr>
          <a:xfrm>
            <a:off x="5344631" y="1737360"/>
            <a:ext cx="4997854" cy="4600228"/>
          </a:xfrm>
          <a:prstGeom prst="rect">
            <a:avLst/>
          </a:prstGeom>
        </p:spPr>
      </p:pic>
      <p:pic>
        <p:nvPicPr>
          <p:cNvPr id="5" name="Picture 4">
            <a:extLst>
              <a:ext uri="{FF2B5EF4-FFF2-40B4-BE49-F238E27FC236}">
                <a16:creationId xmlns:a16="http://schemas.microsoft.com/office/drawing/2014/main" id="{891265DF-A8EF-4CB5-8810-6F8CA17B8E84}"/>
              </a:ext>
            </a:extLst>
          </p:cNvPr>
          <p:cNvPicPr>
            <a:picLocks noChangeAspect="1"/>
          </p:cNvPicPr>
          <p:nvPr/>
        </p:nvPicPr>
        <p:blipFill>
          <a:blip r:embed="rId3"/>
          <a:stretch>
            <a:fillRect/>
          </a:stretch>
        </p:blipFill>
        <p:spPr>
          <a:xfrm>
            <a:off x="1097280" y="3617316"/>
            <a:ext cx="3972965" cy="2251778"/>
          </a:xfrm>
          <a:prstGeom prst="rect">
            <a:avLst/>
          </a:prstGeom>
        </p:spPr>
      </p:pic>
    </p:spTree>
    <p:extLst>
      <p:ext uri="{BB962C8B-B14F-4D97-AF65-F5344CB8AC3E}">
        <p14:creationId xmlns:p14="http://schemas.microsoft.com/office/powerpoint/2010/main" val="20934000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EDD8-B826-4508-96D1-117BC9FE68F6}"/>
              </a:ext>
            </a:extLst>
          </p:cNvPr>
          <p:cNvSpPr>
            <a:spLocks noGrp="1"/>
          </p:cNvSpPr>
          <p:nvPr>
            <p:ph type="title"/>
          </p:nvPr>
        </p:nvSpPr>
        <p:spPr/>
        <p:txBody>
          <a:bodyPr>
            <a:normAutofit/>
          </a:bodyPr>
          <a:lstStyle/>
          <a:p>
            <a:r>
              <a:rPr lang="en-US" sz="3200" dirty="0"/>
              <a:t>Add the following in bold to the </a:t>
            </a:r>
            <a:r>
              <a:rPr lang="en-US" sz="3200" b="1" dirty="0">
                <a:solidFill>
                  <a:srgbClr val="FF0000"/>
                </a:solidFill>
              </a:rPr>
              <a:t>home.html </a:t>
            </a:r>
          </a:p>
        </p:txBody>
      </p:sp>
      <p:pic>
        <p:nvPicPr>
          <p:cNvPr id="4" name="Content Placeholder 3">
            <a:extLst>
              <a:ext uri="{FF2B5EF4-FFF2-40B4-BE49-F238E27FC236}">
                <a16:creationId xmlns:a16="http://schemas.microsoft.com/office/drawing/2014/main" id="{8563FADF-01C3-426F-935E-DA004EB4FAB7}"/>
              </a:ext>
            </a:extLst>
          </p:cNvPr>
          <p:cNvPicPr>
            <a:picLocks noGrp="1" noChangeAspect="1"/>
          </p:cNvPicPr>
          <p:nvPr>
            <p:ph idx="1"/>
          </p:nvPr>
        </p:nvPicPr>
        <p:blipFill>
          <a:blip r:embed="rId2"/>
          <a:stretch>
            <a:fillRect/>
          </a:stretch>
        </p:blipFill>
        <p:spPr>
          <a:xfrm>
            <a:off x="1163267" y="1992991"/>
            <a:ext cx="6702347" cy="3710686"/>
          </a:xfrm>
          <a:prstGeom prst="rect">
            <a:avLst/>
          </a:prstGeom>
        </p:spPr>
      </p:pic>
    </p:spTree>
    <p:extLst>
      <p:ext uri="{BB962C8B-B14F-4D97-AF65-F5344CB8AC3E}">
        <p14:creationId xmlns:p14="http://schemas.microsoft.com/office/powerpoint/2010/main" val="3922269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7D3D-CE99-450E-9C47-35BF8C00629D}"/>
              </a:ext>
            </a:extLst>
          </p:cNvPr>
          <p:cNvSpPr>
            <a:spLocks noGrp="1"/>
          </p:cNvSpPr>
          <p:nvPr>
            <p:ph type="title"/>
          </p:nvPr>
        </p:nvSpPr>
        <p:spPr/>
        <p:txBody>
          <a:bodyPr>
            <a:normAutofit/>
          </a:bodyPr>
          <a:lstStyle/>
          <a:p>
            <a:r>
              <a:rPr lang="en-US" sz="2800" b="1" dirty="0">
                <a:solidFill>
                  <a:srgbClr val="FF0000"/>
                </a:solidFill>
              </a:rPr>
              <a:t>movie/views.py</a:t>
            </a:r>
            <a:endParaRPr lang="en-US" sz="2800" dirty="0">
              <a:solidFill>
                <a:srgbClr val="FF0000"/>
              </a:solidFill>
            </a:endParaRPr>
          </a:p>
        </p:txBody>
      </p:sp>
      <p:pic>
        <p:nvPicPr>
          <p:cNvPr id="4" name="Content Placeholder 3">
            <a:extLst>
              <a:ext uri="{FF2B5EF4-FFF2-40B4-BE49-F238E27FC236}">
                <a16:creationId xmlns:a16="http://schemas.microsoft.com/office/drawing/2014/main" id="{C3FC3CBF-BF33-4585-AD63-098DA1ECC60C}"/>
              </a:ext>
            </a:extLst>
          </p:cNvPr>
          <p:cNvPicPr>
            <a:picLocks noGrp="1" noChangeAspect="1"/>
          </p:cNvPicPr>
          <p:nvPr>
            <p:ph idx="1"/>
          </p:nvPr>
        </p:nvPicPr>
        <p:blipFill>
          <a:blip r:embed="rId2"/>
          <a:stretch>
            <a:fillRect/>
          </a:stretch>
        </p:blipFill>
        <p:spPr>
          <a:xfrm>
            <a:off x="1312524" y="2222931"/>
            <a:ext cx="5940532" cy="1309963"/>
          </a:xfrm>
          <a:prstGeom prst="rect">
            <a:avLst/>
          </a:prstGeom>
        </p:spPr>
      </p:pic>
      <p:sp>
        <p:nvSpPr>
          <p:cNvPr id="5" name="Rectangle 4">
            <a:extLst>
              <a:ext uri="{FF2B5EF4-FFF2-40B4-BE49-F238E27FC236}">
                <a16:creationId xmlns:a16="http://schemas.microsoft.com/office/drawing/2014/main" id="{68DFA7D0-5CF2-4A9F-BADA-20C769943759}"/>
              </a:ext>
            </a:extLst>
          </p:cNvPr>
          <p:cNvSpPr/>
          <p:nvPr/>
        </p:nvSpPr>
        <p:spPr>
          <a:xfrm>
            <a:off x="1097279" y="3695880"/>
            <a:ext cx="10541345" cy="769441"/>
          </a:xfrm>
          <a:prstGeom prst="rect">
            <a:avLst/>
          </a:prstGeom>
        </p:spPr>
        <p:txBody>
          <a:bodyPr wrap="square">
            <a:spAutoFit/>
          </a:bodyPr>
          <a:lstStyle/>
          <a:p>
            <a:r>
              <a:rPr lang="en-US" sz="1600" b="1" dirty="0">
                <a:solidFill>
                  <a:srgbClr val="FF0000"/>
                </a:solidFill>
                <a:latin typeface="Cambria" panose="02040503050406030204" pitchFamily="18" charset="0"/>
              </a:rPr>
              <a:t>movie/templates/home.html</a:t>
            </a:r>
          </a:p>
          <a:p>
            <a:r>
              <a:rPr lang="en-US" sz="1400" dirty="0">
                <a:solidFill>
                  <a:srgbClr val="000000"/>
                </a:solidFill>
                <a:latin typeface="Lucida Fax" panose="02060602050505020204" pitchFamily="18" charset="0"/>
              </a:rPr>
              <a:t>We then pass </a:t>
            </a:r>
            <a:r>
              <a:rPr lang="en-US" sz="1400" b="1" dirty="0" err="1">
                <a:solidFill>
                  <a:srgbClr val="0000FF"/>
                </a:solidFill>
                <a:latin typeface="Courier New" panose="02070309020205020404" pitchFamily="49" charset="0"/>
              </a:rPr>
              <a:t>searchTerm</a:t>
            </a:r>
            <a:r>
              <a:rPr lang="en-US" sz="1400" dirty="0">
                <a:solidFill>
                  <a:srgbClr val="000000"/>
                </a:solidFill>
                <a:latin typeface="Lucida Fax" panose="02060602050505020204" pitchFamily="18" charset="0"/>
              </a:rPr>
              <a:t> into </a:t>
            </a:r>
            <a:r>
              <a:rPr lang="en-US" sz="1400" b="1" dirty="0">
                <a:solidFill>
                  <a:srgbClr val="0000FF"/>
                </a:solidFill>
                <a:latin typeface="Courier New" panose="02070309020205020404" pitchFamily="49" charset="0"/>
              </a:rPr>
              <a:t>home.html</a:t>
            </a:r>
            <a:r>
              <a:rPr lang="en-US" sz="1400" b="1" dirty="0">
                <a:solidFill>
                  <a:srgbClr val="0000FF"/>
                </a:solidFill>
                <a:latin typeface="Lucida Fax" panose="02060602050505020204" pitchFamily="18" charset="0"/>
              </a:rPr>
              <a:t> </a:t>
            </a:r>
            <a:r>
              <a:rPr lang="en-US" sz="1400" dirty="0">
                <a:solidFill>
                  <a:srgbClr val="000000"/>
                </a:solidFill>
                <a:latin typeface="Lucida Fax" panose="02060602050505020204" pitchFamily="18" charset="0"/>
              </a:rPr>
              <a:t>in the render function with </a:t>
            </a:r>
          </a:p>
          <a:p>
            <a:r>
              <a:rPr lang="en-US" sz="1400" dirty="0">
                <a:solidFill>
                  <a:srgbClr val="000000"/>
                </a:solidFill>
                <a:latin typeface="Courier New" panose="02070309020205020404" pitchFamily="49" charset="0"/>
              </a:rPr>
              <a:t>{'</a:t>
            </a:r>
            <a:r>
              <a:rPr lang="en-US" sz="1400" dirty="0" err="1">
                <a:solidFill>
                  <a:srgbClr val="000000"/>
                </a:solidFill>
                <a:latin typeface="Courier New" panose="02070309020205020404" pitchFamily="49" charset="0"/>
              </a:rPr>
              <a:t>searchTerm</a:t>
            </a:r>
            <a:r>
              <a:rPr lang="en-US" sz="1400" dirty="0">
                <a:solidFill>
                  <a:srgbClr val="000000"/>
                </a:solidFill>
                <a:latin typeface="Courier New" panose="02070309020205020404" pitchFamily="49" charset="0"/>
              </a:rPr>
              <a:t>':</a:t>
            </a:r>
            <a:r>
              <a:rPr lang="en-US" sz="1400" dirty="0" err="1">
                <a:solidFill>
                  <a:srgbClr val="000000"/>
                </a:solidFill>
                <a:latin typeface="Courier New" panose="02070309020205020404" pitchFamily="49" charset="0"/>
              </a:rPr>
              <a:t>searchTerm</a:t>
            </a:r>
            <a:r>
              <a:rPr lang="en-US" sz="1400" dirty="0">
                <a:solidFill>
                  <a:srgbClr val="000000"/>
                </a:solidFill>
                <a:latin typeface="Courier New" panose="02070309020205020404" pitchFamily="49" charset="0"/>
              </a:rPr>
              <a:t>}</a:t>
            </a:r>
            <a:r>
              <a:rPr lang="en-US" sz="1400" dirty="0">
                <a:solidFill>
                  <a:srgbClr val="000000"/>
                </a:solidFill>
                <a:latin typeface="Lucida Fax" panose="02060602050505020204" pitchFamily="18" charset="0"/>
              </a:rPr>
              <a:t>. Add the following code in bold to </a:t>
            </a:r>
            <a:r>
              <a:rPr lang="en-US" sz="1400" dirty="0">
                <a:solidFill>
                  <a:srgbClr val="000000"/>
                </a:solidFill>
                <a:latin typeface="Courier New" panose="02070309020205020404" pitchFamily="49" charset="0"/>
              </a:rPr>
              <a:t>home.html</a:t>
            </a:r>
            <a:r>
              <a:rPr lang="en-US" sz="1400" dirty="0">
                <a:solidFill>
                  <a:srgbClr val="000000"/>
                </a:solidFill>
                <a:latin typeface="Lucida Fax" panose="02060602050505020204" pitchFamily="18" charset="0"/>
              </a:rPr>
              <a:t>:</a:t>
            </a:r>
            <a:endParaRPr lang="en-US" sz="1400" dirty="0"/>
          </a:p>
        </p:txBody>
      </p:sp>
      <p:pic>
        <p:nvPicPr>
          <p:cNvPr id="6" name="Picture 5">
            <a:extLst>
              <a:ext uri="{FF2B5EF4-FFF2-40B4-BE49-F238E27FC236}">
                <a16:creationId xmlns:a16="http://schemas.microsoft.com/office/drawing/2014/main" id="{B6CAA985-C912-427B-9B55-5AFE3D1F6BB5}"/>
              </a:ext>
            </a:extLst>
          </p:cNvPr>
          <p:cNvPicPr>
            <a:picLocks noChangeAspect="1"/>
          </p:cNvPicPr>
          <p:nvPr/>
        </p:nvPicPr>
        <p:blipFill>
          <a:blip r:embed="rId3"/>
          <a:stretch>
            <a:fillRect/>
          </a:stretch>
        </p:blipFill>
        <p:spPr>
          <a:xfrm>
            <a:off x="1312524" y="4628307"/>
            <a:ext cx="4783476" cy="1723994"/>
          </a:xfrm>
          <a:prstGeom prst="rect">
            <a:avLst/>
          </a:prstGeom>
        </p:spPr>
      </p:pic>
    </p:spTree>
    <p:extLst>
      <p:ext uri="{BB962C8B-B14F-4D97-AF65-F5344CB8AC3E}">
        <p14:creationId xmlns:p14="http://schemas.microsoft.com/office/powerpoint/2010/main" val="25190455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AC62C6E-7D7D-4F24-AAD9-335DF6127DC6}"/>
              </a:ext>
            </a:extLst>
          </p:cNvPr>
          <p:cNvPicPr>
            <a:picLocks noGrp="1" noChangeAspect="1"/>
          </p:cNvPicPr>
          <p:nvPr>
            <p:ph idx="1"/>
          </p:nvPr>
        </p:nvPicPr>
        <p:blipFill>
          <a:blip r:embed="rId2"/>
          <a:stretch>
            <a:fillRect/>
          </a:stretch>
        </p:blipFill>
        <p:spPr>
          <a:xfrm>
            <a:off x="1538533" y="2332469"/>
            <a:ext cx="6815353" cy="3206485"/>
          </a:xfrm>
          <a:prstGeom prst="rect">
            <a:avLst/>
          </a:prstGeom>
        </p:spPr>
      </p:pic>
      <p:sp>
        <p:nvSpPr>
          <p:cNvPr id="5" name="Title 1">
            <a:extLst>
              <a:ext uri="{FF2B5EF4-FFF2-40B4-BE49-F238E27FC236}">
                <a16:creationId xmlns:a16="http://schemas.microsoft.com/office/drawing/2014/main" id="{BFF781D2-C275-4280-9ED1-E7CDA8585DB7}"/>
              </a:ext>
            </a:extLst>
          </p:cNvPr>
          <p:cNvSpPr>
            <a:spLocks noGrp="1"/>
          </p:cNvSpPr>
          <p:nvPr>
            <p:ph type="title"/>
          </p:nvPr>
        </p:nvSpPr>
        <p:spPr>
          <a:xfrm>
            <a:off x="1096963" y="287338"/>
            <a:ext cx="10058400" cy="1449387"/>
          </a:xfrm>
        </p:spPr>
        <p:txBody>
          <a:bodyPr>
            <a:normAutofit/>
          </a:bodyPr>
          <a:lstStyle/>
          <a:p>
            <a:r>
              <a:rPr lang="en-IN" sz="2800" dirty="0">
                <a:solidFill>
                  <a:schemeClr val="dk1"/>
                </a:solidFill>
                <a:latin typeface="Calibri"/>
                <a:ea typeface="Calibri"/>
                <a:cs typeface="Calibri"/>
                <a:sym typeface="Calibri"/>
              </a:rPr>
              <a:t>open this link on the browser: </a:t>
            </a:r>
            <a:r>
              <a:rPr lang="en-IN" sz="2800" u="sng" dirty="0">
                <a:solidFill>
                  <a:srgbClr val="0563C1"/>
                </a:solidFill>
                <a:latin typeface="Calibri"/>
                <a:ea typeface="Calibri"/>
                <a:cs typeface="Calibri"/>
                <a:sym typeface="Calibri"/>
              </a:rPr>
              <a:t>http://127.0.0.1:8000</a:t>
            </a:r>
            <a:endParaRPr lang="en-US" sz="2800" dirty="0"/>
          </a:p>
        </p:txBody>
      </p:sp>
    </p:spTree>
    <p:extLst>
      <p:ext uri="{BB962C8B-B14F-4D97-AF65-F5344CB8AC3E}">
        <p14:creationId xmlns:p14="http://schemas.microsoft.com/office/powerpoint/2010/main" val="4148654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7F676-51C0-407B-A99B-E84F118E570A}"/>
              </a:ext>
            </a:extLst>
          </p:cNvPr>
          <p:cNvSpPr>
            <a:spLocks noGrp="1"/>
          </p:cNvSpPr>
          <p:nvPr>
            <p:ph type="title"/>
          </p:nvPr>
        </p:nvSpPr>
        <p:spPr/>
        <p:txBody>
          <a:bodyPr/>
          <a:lstStyle/>
          <a:p>
            <a:r>
              <a:rPr lang="en-US" b="1" dirty="0"/>
              <a:t>Sending a form to another page</a:t>
            </a:r>
            <a:r>
              <a:rPr lang="en-US" sz="3600" b="1" dirty="0">
                <a:solidFill>
                  <a:srgbClr val="FF0000"/>
                </a:solidFill>
              </a:rPr>
              <a:t>(home.html)</a:t>
            </a:r>
            <a:endParaRPr lang="en-US" dirty="0">
              <a:solidFill>
                <a:srgbClr val="FF0000"/>
              </a:solidFill>
            </a:endParaRPr>
          </a:p>
        </p:txBody>
      </p:sp>
      <p:pic>
        <p:nvPicPr>
          <p:cNvPr id="4" name="Content Placeholder 3">
            <a:extLst>
              <a:ext uri="{FF2B5EF4-FFF2-40B4-BE49-F238E27FC236}">
                <a16:creationId xmlns:a16="http://schemas.microsoft.com/office/drawing/2014/main" id="{259994EC-A8E1-47E9-840E-A0930151BE75}"/>
              </a:ext>
            </a:extLst>
          </p:cNvPr>
          <p:cNvPicPr>
            <a:picLocks noGrp="1" noChangeAspect="1"/>
          </p:cNvPicPr>
          <p:nvPr>
            <p:ph idx="1"/>
          </p:nvPr>
        </p:nvPicPr>
        <p:blipFill>
          <a:blip r:embed="rId2"/>
          <a:stretch>
            <a:fillRect/>
          </a:stretch>
        </p:blipFill>
        <p:spPr>
          <a:xfrm>
            <a:off x="1097280" y="1864018"/>
            <a:ext cx="5493380" cy="4993982"/>
          </a:xfrm>
          <a:prstGeom prst="rect">
            <a:avLst/>
          </a:prstGeom>
        </p:spPr>
      </p:pic>
      <p:sp>
        <p:nvSpPr>
          <p:cNvPr id="5" name="TextBox 4">
            <a:extLst>
              <a:ext uri="{FF2B5EF4-FFF2-40B4-BE49-F238E27FC236}">
                <a16:creationId xmlns:a16="http://schemas.microsoft.com/office/drawing/2014/main" id="{7BC75991-D7E6-4220-9FF5-390F8D78532F}"/>
              </a:ext>
            </a:extLst>
          </p:cNvPr>
          <p:cNvSpPr txBox="1"/>
          <p:nvPr/>
        </p:nvSpPr>
        <p:spPr>
          <a:xfrm>
            <a:off x="7315201" y="2130640"/>
            <a:ext cx="3956364" cy="2585323"/>
          </a:xfrm>
          <a:prstGeom prst="rect">
            <a:avLst/>
          </a:prstGeom>
          <a:noFill/>
        </p:spPr>
        <p:txBody>
          <a:bodyPr wrap="square" rtlCol="0">
            <a:spAutoFit/>
          </a:bodyPr>
          <a:lstStyle/>
          <a:p>
            <a:r>
              <a:rPr lang="en-US" dirty="0"/>
              <a:t>The signup form is similar to the search form. We have an email input and a Sign Up button. What is different is in the &lt;form&gt; tag, </a:t>
            </a:r>
          </a:p>
          <a:p>
            <a:r>
              <a:rPr lang="en-US" b="1" dirty="0">
                <a:solidFill>
                  <a:srgbClr val="FF0000"/>
                </a:solidFill>
              </a:rPr>
              <a:t>&lt;form action="{% </a:t>
            </a:r>
            <a:r>
              <a:rPr lang="en-US" b="1" dirty="0" err="1">
                <a:solidFill>
                  <a:srgbClr val="FF0000"/>
                </a:solidFill>
              </a:rPr>
              <a:t>url</a:t>
            </a:r>
            <a:r>
              <a:rPr lang="en-US" b="1" dirty="0">
                <a:solidFill>
                  <a:srgbClr val="FF0000"/>
                </a:solidFill>
              </a:rPr>
              <a:t> 'signup' %}"&gt;. </a:t>
            </a:r>
          </a:p>
          <a:p>
            <a:endParaRPr lang="en-US" dirty="0"/>
          </a:p>
          <a:p>
            <a:r>
              <a:rPr lang="en-US" dirty="0"/>
              <a:t>The </a:t>
            </a:r>
            <a:r>
              <a:rPr lang="en-US" dirty="0" err="1"/>
              <a:t>url</a:t>
            </a:r>
            <a:r>
              <a:rPr lang="en-US" dirty="0"/>
              <a:t> template tag </a:t>
            </a:r>
            <a:r>
              <a:rPr lang="en-US" b="1" dirty="0">
                <a:solidFill>
                  <a:srgbClr val="FF0000"/>
                </a:solidFill>
              </a:rPr>
              <a:t>{% </a:t>
            </a:r>
            <a:r>
              <a:rPr lang="en-US" b="1" dirty="0" err="1">
                <a:solidFill>
                  <a:srgbClr val="FF0000"/>
                </a:solidFill>
              </a:rPr>
              <a:t>url</a:t>
            </a:r>
            <a:r>
              <a:rPr lang="en-US" b="1" dirty="0">
                <a:solidFill>
                  <a:srgbClr val="FF0000"/>
                </a:solidFill>
              </a:rPr>
              <a:t> 'signup' %} </a:t>
            </a:r>
            <a:r>
              <a:rPr lang="en-US" dirty="0"/>
              <a:t>takes a URL pattern name – for example </a:t>
            </a:r>
          </a:p>
          <a:p>
            <a:r>
              <a:rPr lang="en-US" dirty="0"/>
              <a:t>'signup' – and returns a URL link. </a:t>
            </a:r>
          </a:p>
        </p:txBody>
      </p:sp>
    </p:spTree>
    <p:extLst>
      <p:ext uri="{BB962C8B-B14F-4D97-AF65-F5344CB8AC3E}">
        <p14:creationId xmlns:p14="http://schemas.microsoft.com/office/powerpoint/2010/main" val="15470489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D932-0BD6-4B77-A300-961A10AF2C0C}"/>
              </a:ext>
            </a:extLst>
          </p:cNvPr>
          <p:cNvSpPr>
            <a:spLocks noGrp="1"/>
          </p:cNvSpPr>
          <p:nvPr>
            <p:ph type="title"/>
          </p:nvPr>
        </p:nvSpPr>
        <p:spPr>
          <a:xfrm>
            <a:off x="1097280" y="286603"/>
            <a:ext cx="3945237" cy="1450757"/>
          </a:xfrm>
        </p:spPr>
        <p:txBody>
          <a:bodyPr>
            <a:normAutofit/>
          </a:bodyPr>
          <a:lstStyle/>
          <a:p>
            <a:r>
              <a:rPr lang="en-US" sz="1800" dirty="0">
                <a:solidFill>
                  <a:schemeClr val="tx1"/>
                </a:solidFill>
                <a:latin typeface="+mn-lt"/>
                <a:ea typeface="+mn-ea"/>
                <a:cs typeface="+mn-cs"/>
              </a:rPr>
              <a:t>now add the 'signup' route to </a:t>
            </a:r>
            <a:r>
              <a:rPr lang="en-US" sz="1800" dirty="0" err="1">
                <a:solidFill>
                  <a:schemeClr val="tx1"/>
                </a:solidFill>
                <a:latin typeface="+mn-lt"/>
                <a:ea typeface="+mn-ea"/>
                <a:cs typeface="+mn-cs"/>
              </a:rPr>
              <a:t>urlpatterns</a:t>
            </a:r>
            <a:r>
              <a:rPr lang="en-US" sz="1800" dirty="0">
                <a:solidFill>
                  <a:schemeClr val="tx1"/>
                </a:solidFill>
                <a:latin typeface="+mn-lt"/>
                <a:ea typeface="+mn-ea"/>
                <a:cs typeface="+mn-cs"/>
              </a:rPr>
              <a:t> in </a:t>
            </a:r>
            <a:r>
              <a:rPr lang="en-US" sz="1800" b="1" dirty="0">
                <a:solidFill>
                  <a:srgbClr val="FF0000"/>
                </a:solidFill>
                <a:latin typeface="+mn-lt"/>
                <a:ea typeface="+mn-ea"/>
                <a:cs typeface="+mn-cs"/>
              </a:rPr>
              <a:t>/movie/urls.py:</a:t>
            </a:r>
          </a:p>
        </p:txBody>
      </p:sp>
      <p:sp>
        <p:nvSpPr>
          <p:cNvPr id="5" name="TextBox 4">
            <a:extLst>
              <a:ext uri="{FF2B5EF4-FFF2-40B4-BE49-F238E27FC236}">
                <a16:creationId xmlns:a16="http://schemas.microsoft.com/office/drawing/2014/main" id="{8DD4334A-42C4-435D-9185-2A0D3A362BED}"/>
              </a:ext>
            </a:extLst>
          </p:cNvPr>
          <p:cNvSpPr txBox="1"/>
          <p:nvPr/>
        </p:nvSpPr>
        <p:spPr>
          <a:xfrm>
            <a:off x="6417362" y="688815"/>
            <a:ext cx="3516751" cy="923330"/>
          </a:xfrm>
          <a:prstGeom prst="rect">
            <a:avLst/>
          </a:prstGeom>
          <a:noFill/>
        </p:spPr>
        <p:txBody>
          <a:bodyPr wrap="square" rtlCol="0">
            <a:spAutoFit/>
          </a:bodyPr>
          <a:lstStyle/>
          <a:p>
            <a:r>
              <a:rPr lang="en-US" b="1" dirty="0">
                <a:solidFill>
                  <a:srgbClr val="FF0000"/>
                </a:solidFill>
              </a:rPr>
              <a:t>/movie/views.py</a:t>
            </a:r>
          </a:p>
          <a:p>
            <a:r>
              <a:rPr lang="en-US" dirty="0"/>
              <a:t>Next, in movie/views.py, add the signup function (similar to home):</a:t>
            </a:r>
          </a:p>
        </p:txBody>
      </p:sp>
      <p:pic>
        <p:nvPicPr>
          <p:cNvPr id="6" name="Picture 5">
            <a:extLst>
              <a:ext uri="{FF2B5EF4-FFF2-40B4-BE49-F238E27FC236}">
                <a16:creationId xmlns:a16="http://schemas.microsoft.com/office/drawing/2014/main" id="{E5D9EF5C-B5CE-47D5-BDF6-7D6AC65D8700}"/>
              </a:ext>
            </a:extLst>
          </p:cNvPr>
          <p:cNvPicPr>
            <a:picLocks noChangeAspect="1"/>
          </p:cNvPicPr>
          <p:nvPr/>
        </p:nvPicPr>
        <p:blipFill>
          <a:blip r:embed="rId2"/>
          <a:stretch>
            <a:fillRect/>
          </a:stretch>
        </p:blipFill>
        <p:spPr>
          <a:xfrm>
            <a:off x="5548544" y="1920998"/>
            <a:ext cx="6214369" cy="1878645"/>
          </a:xfrm>
          <a:prstGeom prst="rect">
            <a:avLst/>
          </a:prstGeom>
        </p:spPr>
      </p:pic>
      <p:sp>
        <p:nvSpPr>
          <p:cNvPr id="7" name="Rectangle 6">
            <a:extLst>
              <a:ext uri="{FF2B5EF4-FFF2-40B4-BE49-F238E27FC236}">
                <a16:creationId xmlns:a16="http://schemas.microsoft.com/office/drawing/2014/main" id="{C6684412-311D-406D-A99D-B69E27145300}"/>
              </a:ext>
            </a:extLst>
          </p:cNvPr>
          <p:cNvSpPr/>
          <p:nvPr/>
        </p:nvSpPr>
        <p:spPr>
          <a:xfrm>
            <a:off x="3293616" y="3187083"/>
            <a:ext cx="559293" cy="1331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C5C5D6CC-F307-4F69-A261-15DB73040F54}"/>
              </a:ext>
            </a:extLst>
          </p:cNvPr>
          <p:cNvSpPr>
            <a:spLocks noGrp="1"/>
          </p:cNvSpPr>
          <p:nvPr>
            <p:ph idx="1"/>
          </p:nvPr>
        </p:nvSpPr>
        <p:spPr>
          <a:xfrm>
            <a:off x="1097280" y="1845734"/>
            <a:ext cx="5063823" cy="4023360"/>
          </a:xfrm>
        </p:spPr>
        <p:txBody>
          <a:bodyPr>
            <a:normAutofit/>
          </a:bodyPr>
          <a:lstStyle/>
          <a:p>
            <a:r>
              <a:rPr lang="en-US" dirty="0"/>
              <a:t>from </a:t>
            </a:r>
            <a:r>
              <a:rPr lang="en-US" dirty="0" err="1"/>
              <a:t>django.contrib</a:t>
            </a:r>
            <a:r>
              <a:rPr lang="en-US" dirty="0"/>
              <a:t> import admin</a:t>
            </a:r>
          </a:p>
          <a:p>
            <a:r>
              <a:rPr lang="en-US" dirty="0"/>
              <a:t>from </a:t>
            </a:r>
            <a:r>
              <a:rPr lang="en-US" dirty="0" err="1"/>
              <a:t>django.urls</a:t>
            </a:r>
            <a:r>
              <a:rPr lang="en-US" dirty="0"/>
              <a:t> import path</a:t>
            </a:r>
          </a:p>
          <a:p>
            <a:r>
              <a:rPr lang="en-US" dirty="0"/>
              <a:t>from movie import views </a:t>
            </a:r>
          </a:p>
          <a:p>
            <a:br>
              <a:rPr lang="en-US" dirty="0"/>
            </a:br>
            <a:r>
              <a:rPr lang="en-US" dirty="0" err="1"/>
              <a:t>urlpatterns</a:t>
            </a:r>
            <a:r>
              <a:rPr lang="en-US" dirty="0"/>
              <a:t> = [</a:t>
            </a:r>
          </a:p>
          <a:p>
            <a:r>
              <a:rPr lang="en-US" dirty="0"/>
              <a:t>    path('', </a:t>
            </a:r>
            <a:r>
              <a:rPr lang="en-US" dirty="0" err="1"/>
              <a:t>views.home</a:t>
            </a:r>
            <a:r>
              <a:rPr lang="en-US" dirty="0"/>
              <a:t>),</a:t>
            </a:r>
          </a:p>
          <a:p>
            <a:r>
              <a:rPr lang="en-US" dirty="0"/>
              <a:t>    path('about/',</a:t>
            </a:r>
            <a:r>
              <a:rPr lang="en-US" dirty="0" err="1"/>
              <a:t>views.about</a:t>
            </a:r>
            <a:r>
              <a:rPr lang="en-US" dirty="0"/>
              <a:t>),</a:t>
            </a:r>
          </a:p>
          <a:p>
            <a:r>
              <a:rPr lang="en-US" dirty="0"/>
              <a:t>    </a:t>
            </a:r>
            <a:r>
              <a:rPr lang="en-US" b="1" dirty="0">
                <a:solidFill>
                  <a:srgbClr val="FF0000"/>
                </a:solidFill>
              </a:rPr>
              <a:t>path('signup/', </a:t>
            </a:r>
            <a:r>
              <a:rPr lang="en-US" b="1" dirty="0" err="1">
                <a:solidFill>
                  <a:srgbClr val="FF0000"/>
                </a:solidFill>
              </a:rPr>
              <a:t>views.signup,name</a:t>
            </a:r>
            <a:r>
              <a:rPr lang="en-US" b="1" dirty="0">
                <a:solidFill>
                  <a:srgbClr val="FF0000"/>
                </a:solidFill>
              </a:rPr>
              <a:t>='signup'),</a:t>
            </a:r>
          </a:p>
          <a:p>
            <a:r>
              <a:rPr lang="en-US" dirty="0"/>
              <a:t>]</a:t>
            </a:r>
          </a:p>
          <a:p>
            <a:endParaRPr lang="en-US" dirty="0"/>
          </a:p>
        </p:txBody>
      </p:sp>
    </p:spTree>
    <p:extLst>
      <p:ext uri="{BB962C8B-B14F-4D97-AF65-F5344CB8AC3E}">
        <p14:creationId xmlns:p14="http://schemas.microsoft.com/office/powerpoint/2010/main" val="1280982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AE48-10D4-4137-8E4F-564147C59EA7}"/>
              </a:ext>
            </a:extLst>
          </p:cNvPr>
          <p:cNvSpPr>
            <a:spLocks noGrp="1"/>
          </p:cNvSpPr>
          <p:nvPr>
            <p:ph type="title"/>
          </p:nvPr>
        </p:nvSpPr>
        <p:spPr/>
        <p:txBody>
          <a:bodyPr>
            <a:normAutofit/>
          </a:bodyPr>
          <a:lstStyle/>
          <a:p>
            <a:r>
              <a:rPr lang="en-US" sz="2000" dirty="0"/>
              <a:t>In </a:t>
            </a:r>
            <a:r>
              <a:rPr lang="en-US" sz="2000" b="1" dirty="0">
                <a:solidFill>
                  <a:srgbClr val="FF0000"/>
                </a:solidFill>
              </a:rPr>
              <a:t>movie/templates/, </a:t>
            </a:r>
            <a:r>
              <a:rPr lang="en-US" sz="2000" dirty="0"/>
              <a:t>create a new file, </a:t>
            </a:r>
            <a:r>
              <a:rPr lang="en-US" sz="2000" b="1" dirty="0">
                <a:solidFill>
                  <a:srgbClr val="FF0000"/>
                </a:solidFill>
              </a:rPr>
              <a:t>signup.html</a:t>
            </a:r>
            <a:r>
              <a:rPr lang="en-US" sz="2000" dirty="0"/>
              <a:t>, with the following markup:</a:t>
            </a:r>
          </a:p>
        </p:txBody>
      </p:sp>
      <p:pic>
        <p:nvPicPr>
          <p:cNvPr id="4" name="Content Placeholder 3">
            <a:extLst>
              <a:ext uri="{FF2B5EF4-FFF2-40B4-BE49-F238E27FC236}">
                <a16:creationId xmlns:a16="http://schemas.microsoft.com/office/drawing/2014/main" id="{2E8554DF-C924-4EB1-807A-869663E69A2D}"/>
              </a:ext>
            </a:extLst>
          </p:cNvPr>
          <p:cNvPicPr>
            <a:picLocks noGrp="1" noChangeAspect="1"/>
          </p:cNvPicPr>
          <p:nvPr>
            <p:ph idx="1"/>
          </p:nvPr>
        </p:nvPicPr>
        <p:blipFill>
          <a:blip r:embed="rId2"/>
          <a:stretch>
            <a:fillRect/>
          </a:stretch>
        </p:blipFill>
        <p:spPr>
          <a:xfrm>
            <a:off x="1173024" y="1981616"/>
            <a:ext cx="5103489" cy="1790530"/>
          </a:xfrm>
          <a:prstGeom prst="rect">
            <a:avLst/>
          </a:prstGeom>
        </p:spPr>
      </p:pic>
      <p:pic>
        <p:nvPicPr>
          <p:cNvPr id="5" name="Picture 4">
            <a:extLst>
              <a:ext uri="{FF2B5EF4-FFF2-40B4-BE49-F238E27FC236}">
                <a16:creationId xmlns:a16="http://schemas.microsoft.com/office/drawing/2014/main" id="{0B902792-B5A2-4C79-8131-59B390030156}"/>
              </a:ext>
            </a:extLst>
          </p:cNvPr>
          <p:cNvPicPr>
            <a:picLocks noChangeAspect="1"/>
          </p:cNvPicPr>
          <p:nvPr/>
        </p:nvPicPr>
        <p:blipFill>
          <a:blip r:embed="rId3"/>
          <a:stretch>
            <a:fillRect/>
          </a:stretch>
        </p:blipFill>
        <p:spPr>
          <a:xfrm>
            <a:off x="1218738" y="3895123"/>
            <a:ext cx="8060150" cy="2079549"/>
          </a:xfrm>
          <a:prstGeom prst="rect">
            <a:avLst/>
          </a:prstGeom>
        </p:spPr>
      </p:pic>
    </p:spTree>
    <p:extLst>
      <p:ext uri="{BB962C8B-B14F-4D97-AF65-F5344CB8AC3E}">
        <p14:creationId xmlns:p14="http://schemas.microsoft.com/office/powerpoint/2010/main" val="32089051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C110C-59BC-4E6B-997C-EA654325F7C9}"/>
              </a:ext>
            </a:extLst>
          </p:cNvPr>
          <p:cNvSpPr>
            <a:spLocks noGrp="1"/>
          </p:cNvSpPr>
          <p:nvPr>
            <p:ph type="title"/>
          </p:nvPr>
        </p:nvSpPr>
        <p:spPr/>
        <p:txBody>
          <a:bodyPr>
            <a:normAutofit/>
          </a:bodyPr>
          <a:lstStyle/>
          <a:p>
            <a:r>
              <a:rPr lang="en-IN" sz="2400" dirty="0">
                <a:solidFill>
                  <a:schemeClr val="dk1"/>
                </a:solidFill>
                <a:latin typeface="Calibri"/>
                <a:ea typeface="Calibri"/>
                <a:cs typeface="Calibri"/>
                <a:sym typeface="Calibri"/>
              </a:rPr>
              <a:t>open this link on the browser: </a:t>
            </a:r>
            <a:r>
              <a:rPr lang="en-IN" sz="2400" u="sng" dirty="0">
                <a:solidFill>
                  <a:srgbClr val="0563C1"/>
                </a:solidFill>
                <a:latin typeface="Calibri"/>
                <a:ea typeface="Calibri"/>
                <a:cs typeface="Calibri"/>
                <a:sym typeface="Calibri"/>
              </a:rPr>
              <a:t>http://127.0.0.1:8000</a:t>
            </a:r>
            <a:endParaRPr lang="en-US" sz="2400" dirty="0"/>
          </a:p>
        </p:txBody>
      </p:sp>
      <p:pic>
        <p:nvPicPr>
          <p:cNvPr id="4" name="Content Placeholder 3">
            <a:extLst>
              <a:ext uri="{FF2B5EF4-FFF2-40B4-BE49-F238E27FC236}">
                <a16:creationId xmlns:a16="http://schemas.microsoft.com/office/drawing/2014/main" id="{F3F921DB-01C3-44E4-B20D-0101F86C37E2}"/>
              </a:ext>
            </a:extLst>
          </p:cNvPr>
          <p:cNvPicPr>
            <a:picLocks noGrp="1" noChangeAspect="1"/>
          </p:cNvPicPr>
          <p:nvPr>
            <p:ph idx="1"/>
          </p:nvPr>
        </p:nvPicPr>
        <p:blipFill>
          <a:blip r:embed="rId2"/>
          <a:stretch>
            <a:fillRect/>
          </a:stretch>
        </p:blipFill>
        <p:spPr>
          <a:xfrm>
            <a:off x="1295645" y="1881774"/>
            <a:ext cx="4465963" cy="3356052"/>
          </a:xfrm>
          <a:prstGeom prst="rect">
            <a:avLst/>
          </a:prstGeom>
        </p:spPr>
      </p:pic>
      <p:pic>
        <p:nvPicPr>
          <p:cNvPr id="5" name="Picture 4">
            <a:extLst>
              <a:ext uri="{FF2B5EF4-FFF2-40B4-BE49-F238E27FC236}">
                <a16:creationId xmlns:a16="http://schemas.microsoft.com/office/drawing/2014/main" id="{9DB8DF50-5070-41CD-BCAF-34C0F3E1D7D1}"/>
              </a:ext>
            </a:extLst>
          </p:cNvPr>
          <p:cNvPicPr>
            <a:picLocks noChangeAspect="1"/>
          </p:cNvPicPr>
          <p:nvPr/>
        </p:nvPicPr>
        <p:blipFill>
          <a:blip r:embed="rId3"/>
          <a:stretch>
            <a:fillRect/>
          </a:stretch>
        </p:blipFill>
        <p:spPr>
          <a:xfrm>
            <a:off x="6096000" y="2140397"/>
            <a:ext cx="5165324" cy="926650"/>
          </a:xfrm>
          <a:prstGeom prst="rect">
            <a:avLst/>
          </a:prstGeom>
        </p:spPr>
      </p:pic>
    </p:spTree>
    <p:extLst>
      <p:ext uri="{BB962C8B-B14F-4D97-AF65-F5344CB8AC3E}">
        <p14:creationId xmlns:p14="http://schemas.microsoft.com/office/powerpoint/2010/main" val="18738423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3BA35-0453-4A04-BCF9-2756E7B1D34F}"/>
              </a:ext>
            </a:extLst>
          </p:cNvPr>
          <p:cNvSpPr>
            <a:spLocks noGrp="1"/>
          </p:cNvSpPr>
          <p:nvPr>
            <p:ph type="title"/>
          </p:nvPr>
        </p:nvSpPr>
        <p:spPr/>
        <p:txBody>
          <a:bodyPr/>
          <a:lstStyle/>
          <a:p>
            <a:r>
              <a:rPr lang="en-US" b="1" dirty="0"/>
              <a:t>Creating a back link</a:t>
            </a:r>
            <a:endParaRPr lang="en-US" dirty="0"/>
          </a:p>
        </p:txBody>
      </p:sp>
      <p:sp>
        <p:nvSpPr>
          <p:cNvPr id="3" name="Content Placeholder 2">
            <a:extLst>
              <a:ext uri="{FF2B5EF4-FFF2-40B4-BE49-F238E27FC236}">
                <a16:creationId xmlns:a16="http://schemas.microsoft.com/office/drawing/2014/main" id="{B2AC456F-0DC5-4D12-A1B9-4A654B419039}"/>
              </a:ext>
            </a:extLst>
          </p:cNvPr>
          <p:cNvSpPr>
            <a:spLocks noGrp="1"/>
          </p:cNvSpPr>
          <p:nvPr>
            <p:ph idx="1"/>
          </p:nvPr>
        </p:nvSpPr>
        <p:spPr>
          <a:xfrm>
            <a:off x="1097280" y="1845734"/>
            <a:ext cx="4371365" cy="4023360"/>
          </a:xfrm>
        </p:spPr>
        <p:txBody>
          <a:bodyPr/>
          <a:lstStyle/>
          <a:p>
            <a:r>
              <a:rPr lang="en-US" dirty="0"/>
              <a:t>we want to create a link from signup.html back to home.html. We can do so using the &lt;a&gt; tag. In </a:t>
            </a:r>
            <a:r>
              <a:rPr lang="en-US" b="1" dirty="0">
                <a:solidFill>
                  <a:srgbClr val="FF0000"/>
                </a:solidFill>
              </a:rPr>
              <a:t>signup.html</a:t>
            </a:r>
            <a:r>
              <a:rPr lang="en-US" dirty="0"/>
              <a:t>, add the line in bold:</a:t>
            </a:r>
          </a:p>
          <a:p>
            <a:endParaRPr lang="en-US" dirty="0"/>
          </a:p>
        </p:txBody>
      </p:sp>
      <p:pic>
        <p:nvPicPr>
          <p:cNvPr id="4" name="Picture 3">
            <a:extLst>
              <a:ext uri="{FF2B5EF4-FFF2-40B4-BE49-F238E27FC236}">
                <a16:creationId xmlns:a16="http://schemas.microsoft.com/office/drawing/2014/main" id="{46A5DCD2-02FE-45AA-89EB-7CA0BAFB9BBF}"/>
              </a:ext>
            </a:extLst>
          </p:cNvPr>
          <p:cNvPicPr>
            <a:picLocks noChangeAspect="1"/>
          </p:cNvPicPr>
          <p:nvPr/>
        </p:nvPicPr>
        <p:blipFill>
          <a:blip r:embed="rId2"/>
          <a:stretch>
            <a:fillRect/>
          </a:stretch>
        </p:blipFill>
        <p:spPr>
          <a:xfrm>
            <a:off x="1097280" y="3429000"/>
            <a:ext cx="5151001" cy="1567696"/>
          </a:xfrm>
          <a:prstGeom prst="rect">
            <a:avLst/>
          </a:prstGeom>
        </p:spPr>
      </p:pic>
      <p:sp>
        <p:nvSpPr>
          <p:cNvPr id="5" name="TextBox 4">
            <a:extLst>
              <a:ext uri="{FF2B5EF4-FFF2-40B4-BE49-F238E27FC236}">
                <a16:creationId xmlns:a16="http://schemas.microsoft.com/office/drawing/2014/main" id="{7677A52A-4615-4F90-BA51-6E1EF0B2924A}"/>
              </a:ext>
            </a:extLst>
          </p:cNvPr>
          <p:cNvSpPr txBox="1"/>
          <p:nvPr/>
        </p:nvSpPr>
        <p:spPr>
          <a:xfrm>
            <a:off x="6960094" y="3133817"/>
            <a:ext cx="4621265" cy="2862322"/>
          </a:xfrm>
          <a:prstGeom prst="rect">
            <a:avLst/>
          </a:prstGeom>
          <a:noFill/>
        </p:spPr>
        <p:txBody>
          <a:bodyPr wrap="none" rtlCol="0">
            <a:spAutoFit/>
          </a:bodyPr>
          <a:lstStyle/>
          <a:p>
            <a:r>
              <a:rPr lang="en-US" dirty="0"/>
              <a:t>from </a:t>
            </a:r>
            <a:r>
              <a:rPr lang="en-US" dirty="0" err="1"/>
              <a:t>django.contrib</a:t>
            </a:r>
            <a:r>
              <a:rPr lang="en-US" dirty="0"/>
              <a:t> import admin</a:t>
            </a:r>
          </a:p>
          <a:p>
            <a:r>
              <a:rPr lang="en-US" dirty="0"/>
              <a:t>from </a:t>
            </a:r>
            <a:r>
              <a:rPr lang="en-US" dirty="0" err="1"/>
              <a:t>django.urls</a:t>
            </a:r>
            <a:r>
              <a:rPr lang="en-US" dirty="0"/>
              <a:t> import path</a:t>
            </a:r>
          </a:p>
          <a:p>
            <a:r>
              <a:rPr lang="en-US" dirty="0"/>
              <a:t>from movie import views </a:t>
            </a:r>
          </a:p>
          <a:p>
            <a:br>
              <a:rPr lang="en-US" dirty="0"/>
            </a:br>
            <a:r>
              <a:rPr lang="en-US" dirty="0" err="1"/>
              <a:t>urlpatterns</a:t>
            </a:r>
            <a:r>
              <a:rPr lang="en-US" dirty="0"/>
              <a:t> = [</a:t>
            </a:r>
          </a:p>
          <a:p>
            <a:r>
              <a:rPr lang="en-US" dirty="0"/>
              <a:t>    path('', </a:t>
            </a:r>
            <a:r>
              <a:rPr lang="en-US" dirty="0" err="1"/>
              <a:t>views.home,</a:t>
            </a:r>
            <a:r>
              <a:rPr lang="en-US" b="1" dirty="0" err="1">
                <a:solidFill>
                  <a:srgbClr val="FF0000"/>
                </a:solidFill>
              </a:rPr>
              <a:t>name</a:t>
            </a:r>
            <a:r>
              <a:rPr lang="en-US" b="1" dirty="0">
                <a:solidFill>
                  <a:srgbClr val="FF0000"/>
                </a:solidFill>
              </a:rPr>
              <a:t>='home'</a:t>
            </a:r>
            <a:r>
              <a:rPr lang="en-US" dirty="0"/>
              <a:t>),</a:t>
            </a:r>
          </a:p>
          <a:p>
            <a:r>
              <a:rPr lang="en-US" dirty="0"/>
              <a:t>    path('about/',</a:t>
            </a:r>
            <a:r>
              <a:rPr lang="en-US" dirty="0" err="1"/>
              <a:t>views.about,</a:t>
            </a:r>
            <a:r>
              <a:rPr lang="en-US" b="1" dirty="0" err="1">
                <a:solidFill>
                  <a:srgbClr val="FF0000"/>
                </a:solidFill>
              </a:rPr>
              <a:t>name</a:t>
            </a:r>
            <a:r>
              <a:rPr lang="en-US" b="1" dirty="0">
                <a:solidFill>
                  <a:srgbClr val="FF0000"/>
                </a:solidFill>
              </a:rPr>
              <a:t>='about'</a:t>
            </a:r>
            <a:r>
              <a:rPr lang="en-US" dirty="0"/>
              <a:t>),</a:t>
            </a:r>
          </a:p>
          <a:p>
            <a:r>
              <a:rPr lang="en-US" dirty="0"/>
              <a:t>    path('signup/', </a:t>
            </a:r>
            <a:r>
              <a:rPr lang="en-US" dirty="0" err="1"/>
              <a:t>views.signup</a:t>
            </a:r>
            <a:r>
              <a:rPr lang="en-US" dirty="0"/>
              <a:t>, name='signup'),</a:t>
            </a:r>
          </a:p>
          <a:p>
            <a:r>
              <a:rPr lang="en-US" dirty="0"/>
              <a:t>]</a:t>
            </a:r>
          </a:p>
          <a:p>
            <a:endParaRPr lang="en-US" dirty="0"/>
          </a:p>
        </p:txBody>
      </p:sp>
      <p:sp>
        <p:nvSpPr>
          <p:cNvPr id="6" name="TextBox 5">
            <a:extLst>
              <a:ext uri="{FF2B5EF4-FFF2-40B4-BE49-F238E27FC236}">
                <a16:creationId xmlns:a16="http://schemas.microsoft.com/office/drawing/2014/main" id="{02ABB09F-BF28-4DF9-B571-B027A4A9D2D8}"/>
              </a:ext>
            </a:extLst>
          </p:cNvPr>
          <p:cNvSpPr txBox="1"/>
          <p:nvPr/>
        </p:nvSpPr>
        <p:spPr>
          <a:xfrm>
            <a:off x="7164280" y="2029182"/>
            <a:ext cx="3339889" cy="923330"/>
          </a:xfrm>
          <a:prstGeom prst="rect">
            <a:avLst/>
          </a:prstGeom>
          <a:noFill/>
        </p:spPr>
        <p:txBody>
          <a:bodyPr wrap="none" rtlCol="0">
            <a:spAutoFit/>
          </a:bodyPr>
          <a:lstStyle/>
          <a:p>
            <a:r>
              <a:rPr lang="en-US" dirty="0"/>
              <a:t>Do following highlighted changes </a:t>
            </a:r>
          </a:p>
          <a:p>
            <a:r>
              <a:rPr lang="en-US" dirty="0"/>
              <a:t>in </a:t>
            </a:r>
            <a:r>
              <a:rPr lang="en-US" b="1" dirty="0">
                <a:solidFill>
                  <a:srgbClr val="FF0000"/>
                </a:solidFill>
              </a:rPr>
              <a:t>/movie/urls.py:</a:t>
            </a:r>
          </a:p>
          <a:p>
            <a:endParaRPr lang="en-US" dirty="0"/>
          </a:p>
        </p:txBody>
      </p:sp>
    </p:spTree>
    <p:extLst>
      <p:ext uri="{BB962C8B-B14F-4D97-AF65-F5344CB8AC3E}">
        <p14:creationId xmlns:p14="http://schemas.microsoft.com/office/powerpoint/2010/main" val="4084004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16044-3A31-45FB-A7C6-7EB0D5945C2F}"/>
              </a:ext>
            </a:extLst>
          </p:cNvPr>
          <p:cNvSpPr>
            <a:spLocks noGrp="1"/>
          </p:cNvSpPr>
          <p:nvPr>
            <p:ph type="title"/>
          </p:nvPr>
        </p:nvSpPr>
        <p:spPr/>
        <p:txBody>
          <a:bodyPr>
            <a:normAutofit/>
          </a:bodyPr>
          <a:lstStyle/>
          <a:p>
            <a:r>
              <a:rPr lang="en-US" sz="2800" dirty="0"/>
              <a:t>If you go to signup.html, you will see the following:</a:t>
            </a:r>
          </a:p>
        </p:txBody>
      </p:sp>
      <p:pic>
        <p:nvPicPr>
          <p:cNvPr id="4" name="Content Placeholder 3">
            <a:extLst>
              <a:ext uri="{FF2B5EF4-FFF2-40B4-BE49-F238E27FC236}">
                <a16:creationId xmlns:a16="http://schemas.microsoft.com/office/drawing/2014/main" id="{E176C9D3-1FF2-4645-A878-7F0C9F420CD2}"/>
              </a:ext>
            </a:extLst>
          </p:cNvPr>
          <p:cNvPicPr>
            <a:picLocks noGrp="1" noChangeAspect="1"/>
          </p:cNvPicPr>
          <p:nvPr>
            <p:ph idx="1"/>
          </p:nvPr>
        </p:nvPicPr>
        <p:blipFill>
          <a:blip r:embed="rId2"/>
          <a:stretch>
            <a:fillRect/>
          </a:stretch>
        </p:blipFill>
        <p:spPr>
          <a:xfrm>
            <a:off x="1097280" y="2281284"/>
            <a:ext cx="8486775" cy="1714500"/>
          </a:xfrm>
          <a:prstGeom prst="rect">
            <a:avLst/>
          </a:prstGeom>
        </p:spPr>
      </p:pic>
    </p:spTree>
    <p:extLst>
      <p:ext uri="{BB962C8B-B14F-4D97-AF65-F5344CB8AC3E}">
        <p14:creationId xmlns:p14="http://schemas.microsoft.com/office/powerpoint/2010/main" val="9568714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27A6BF-E5DA-46EB-B8D6-32E6427B4FAD}"/>
              </a:ext>
            </a:extLst>
          </p:cNvPr>
          <p:cNvSpPr/>
          <p:nvPr/>
        </p:nvSpPr>
        <p:spPr>
          <a:xfrm>
            <a:off x="2256342" y="3153767"/>
            <a:ext cx="7358175" cy="923330"/>
          </a:xfrm>
          <a:prstGeom prst="rect">
            <a:avLst/>
          </a:prstGeom>
          <a:noFill/>
        </p:spPr>
        <p:txBody>
          <a:bodyPr wrap="square" lIns="91440" tIns="45720" rIns="91440" bIns="45720">
            <a:spAutoFit/>
          </a:bodyPr>
          <a:lstStyle/>
          <a:p>
            <a:pPr algn="ctr"/>
            <a:r>
              <a:rPr lang="en-US" sz="5400" b="1" i="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69837937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595</TotalTime>
  <Words>1854</Words>
  <Application>Microsoft Office PowerPoint</Application>
  <PresentationFormat>Widescreen</PresentationFormat>
  <Paragraphs>217</Paragraphs>
  <Slides>46</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Courier New</vt:lpstr>
      <vt:lpstr>Calibri</vt:lpstr>
      <vt:lpstr>Arial</vt:lpstr>
      <vt:lpstr>Wingdings</vt:lpstr>
      <vt:lpstr>Trebuchet MS</vt:lpstr>
      <vt:lpstr>Georgia</vt:lpstr>
      <vt:lpstr>Lucida Fax</vt:lpstr>
      <vt:lpstr>Calibri Light</vt:lpstr>
      <vt:lpstr>IBM Plex Sans</vt:lpstr>
      <vt:lpstr>Cambria</vt:lpstr>
      <vt:lpstr>Retrospect</vt:lpstr>
      <vt:lpstr>Getting started with Django Framework</vt:lpstr>
      <vt:lpstr>Web Framework</vt:lpstr>
      <vt:lpstr>What is Django???</vt:lpstr>
      <vt:lpstr>Examples of Companies Using Django </vt:lpstr>
      <vt:lpstr>Django Work Flow</vt:lpstr>
      <vt:lpstr>Django flow</vt:lpstr>
      <vt:lpstr>Understanding the app we will be building</vt:lpstr>
      <vt:lpstr>Users will also be able to log in and post reviews of any movies they may have watched, as shown in figure</vt:lpstr>
      <vt:lpstr>PowerPoint Presentation</vt:lpstr>
      <vt:lpstr>To create a new project</vt:lpstr>
      <vt:lpstr>Copy the url (http://127.0.0.1:8000/ )and open it in the browser. If you see the below screen, that means everything was successful.</vt:lpstr>
      <vt:lpstr>PowerPoint Presentation</vt:lpstr>
      <vt:lpstr>all the files created by default</vt:lpstr>
      <vt:lpstr>settings.py</vt:lpstr>
      <vt:lpstr>Creating our first app</vt:lpstr>
      <vt:lpstr>Files created in movie</vt:lpstr>
      <vt:lpstr>Add movie to settings.py</vt:lpstr>
      <vt:lpstr>Managing Django URLs</vt:lpstr>
      <vt:lpstr>PowerPoint Presentation</vt:lpstr>
      <vt:lpstr>Creating a custom path for a home page</vt:lpstr>
      <vt:lpstr>Home page View</vt:lpstr>
      <vt:lpstr>Creating a custom path for an about page</vt:lpstr>
      <vt:lpstr>PowerPoint Presentation</vt:lpstr>
      <vt:lpstr>Create url.py in movie</vt:lpstr>
      <vt:lpstr>Make following changes in urls.py in movie</vt:lpstr>
      <vt:lpstr>Generating HTML Pages with Templates</vt:lpstr>
      <vt:lpstr>PowerPoint Presentation</vt:lpstr>
      <vt:lpstr>Passing data into templates</vt:lpstr>
      <vt:lpstr>Now open this link on the browser: http://127.0.0.1:8000</vt:lpstr>
      <vt:lpstr>Adding Bootstrap to our site</vt:lpstr>
      <vt:lpstr>load the Bootstrap CSS link to home.html</vt:lpstr>
      <vt:lpstr>open this link on the browser: http://127.0.0.1:8000</vt:lpstr>
      <vt:lpstr>Make following updates in movie/views.py</vt:lpstr>
      <vt:lpstr>Make following updates in movie/templates/home.html</vt:lpstr>
      <vt:lpstr>open this link on the browser: http://127.0.0.1:8000</vt:lpstr>
      <vt:lpstr>Adding a search form</vt:lpstr>
      <vt:lpstr>Add the following in bold to the home.html </vt:lpstr>
      <vt:lpstr>movie/views.py</vt:lpstr>
      <vt:lpstr>open this link on the browser: http://127.0.0.1:8000</vt:lpstr>
      <vt:lpstr>Sending a form to another page(home.html)</vt:lpstr>
      <vt:lpstr>now add the 'signup' route to urlpatterns in /movie/urls.py:</vt:lpstr>
      <vt:lpstr>In movie/templates/, create a new file, signup.html, with the following markup:</vt:lpstr>
      <vt:lpstr>open this link on the browser: http://127.0.0.1:8000</vt:lpstr>
      <vt:lpstr>Creating a back link</vt:lpstr>
      <vt:lpstr>If you go to signup.html, you will see the following: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Django Framework</dc:title>
  <dc:creator>Ami Patel</dc:creator>
  <cp:lastModifiedBy>Ami Patel</cp:lastModifiedBy>
  <cp:revision>73</cp:revision>
  <dcterms:created xsi:type="dcterms:W3CDTF">2023-08-21T10:35:54Z</dcterms:created>
  <dcterms:modified xsi:type="dcterms:W3CDTF">2024-08-13T04:08:31Z</dcterms:modified>
</cp:coreProperties>
</file>