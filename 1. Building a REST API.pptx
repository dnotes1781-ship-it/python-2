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8" r:id="rId5"/>
    <p:sldId id="260" r:id="rId6"/>
    <p:sldId id="261" r:id="rId7"/>
    <p:sldId id="262" r:id="rId8"/>
    <p:sldId id="279" r:id="rId9"/>
    <p:sldId id="264" r:id="rId10"/>
    <p:sldId id="280" r:id="rId11"/>
    <p:sldId id="265" r:id="rId12"/>
    <p:sldId id="281" r:id="rId13"/>
    <p:sldId id="282" r:id="rId14"/>
    <p:sldId id="273" r:id="rId15"/>
    <p:sldId id="277" r:id="rId16"/>
    <p:sldId id="283" r:id="rId17"/>
    <p:sldId id="284" r:id="rId18"/>
    <p:sldId id="28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767CF3-5CD7-4157-AE03-B29BA452ABB6}"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608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67CF3-5CD7-4157-AE03-B29BA452ABB6}"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3985902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67CF3-5CD7-4157-AE03-B29BA452ABB6}"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255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767CF3-5CD7-4157-AE03-B29BA452ABB6}"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3887990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767CF3-5CD7-4157-AE03-B29BA452ABB6}" type="datetimeFigureOut">
              <a:rPr lang="en-IN" smtClean="0"/>
              <a:t>01-07-2026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1834348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767CF3-5CD7-4157-AE03-B29BA452ABB6}" type="datetimeFigureOut">
              <a:rPr lang="en-IN" smtClean="0"/>
              <a:t>01-07-2026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2038239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E767CF3-5CD7-4157-AE03-B29BA452ABB6}" type="datetimeFigureOut">
              <a:rPr lang="en-IN" smtClean="0"/>
              <a:t>01-07-2026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2051901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E767CF3-5CD7-4157-AE03-B29BA452ABB6}" type="datetimeFigureOut">
              <a:rPr lang="en-IN" smtClean="0"/>
              <a:t>01-07-2026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3A6A317-51E8-4121-9584-6C9C86577AD0}" type="slidenum">
              <a:rPr lang="en-IN" smtClean="0"/>
              <a:t>‹#›</a:t>
            </a:fld>
            <a:endParaRPr lang="en-IN"/>
          </a:p>
        </p:txBody>
      </p:sp>
    </p:spTree>
    <p:extLst>
      <p:ext uri="{BB962C8B-B14F-4D97-AF65-F5344CB8AC3E}">
        <p14:creationId xmlns:p14="http://schemas.microsoft.com/office/powerpoint/2010/main" val="1806614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767CF3-5CD7-4157-AE03-B29BA452ABB6}"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50861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67CF3-5CD7-4157-AE03-B29BA452ABB6}"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3767327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67CF3-5CD7-4157-AE03-B29BA452ABB6}"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6A317-51E8-4121-9584-6C9C86577AD0}" type="slidenum">
              <a:rPr lang="en-IN" smtClean="0"/>
              <a:t>‹#›</a:t>
            </a:fld>
            <a:endParaRPr lang="en-IN"/>
          </a:p>
        </p:txBody>
      </p:sp>
    </p:spTree>
    <p:extLst>
      <p:ext uri="{BB962C8B-B14F-4D97-AF65-F5344CB8AC3E}">
        <p14:creationId xmlns:p14="http://schemas.microsoft.com/office/powerpoint/2010/main" val="1956465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E767CF3-5CD7-4157-AE03-B29BA452ABB6}" type="datetimeFigureOut">
              <a:rPr lang="en-IN" smtClean="0"/>
              <a:t>01-07-2026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3A6A317-51E8-4121-9584-6C9C86577AD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5621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BD3B1-D4EF-42A1-8D2F-9B537759E9C6}"/>
              </a:ext>
            </a:extLst>
          </p:cNvPr>
          <p:cNvSpPr>
            <a:spLocks noGrp="1"/>
          </p:cNvSpPr>
          <p:nvPr>
            <p:ph type="ctrTitle"/>
          </p:nvPr>
        </p:nvSpPr>
        <p:spPr/>
        <p:txBody>
          <a:bodyPr/>
          <a:lstStyle/>
          <a:p>
            <a:r>
              <a:rPr lang="en-IN" dirty="0"/>
              <a:t>Building a REST API</a:t>
            </a:r>
            <a:br>
              <a:rPr lang="en-IN" dirty="0"/>
            </a:br>
            <a:endParaRPr lang="en-IN" dirty="0"/>
          </a:p>
        </p:txBody>
      </p:sp>
      <p:sp>
        <p:nvSpPr>
          <p:cNvPr id="3" name="Subtitle 2">
            <a:extLst>
              <a:ext uri="{FF2B5EF4-FFF2-40B4-BE49-F238E27FC236}">
                <a16:creationId xmlns:a16="http://schemas.microsoft.com/office/drawing/2014/main" id="{C22CEDE6-61C9-4394-A425-6A7AF58A1D63}"/>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064921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270C5-1335-4BE4-A7FF-123CDB2695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E172B4-BAEA-4698-9C2A-9BF57CC624A6}"/>
              </a:ext>
            </a:extLst>
          </p:cNvPr>
          <p:cNvSpPr>
            <a:spLocks noGrp="1"/>
          </p:cNvSpPr>
          <p:nvPr>
            <p:ph idx="1"/>
          </p:nvPr>
        </p:nvSpPr>
        <p:spPr/>
        <p:txBody>
          <a:bodyPr/>
          <a:lstStyle/>
          <a:p>
            <a:pPr marL="342900" lvl="0" indent="-342900">
              <a:lnSpc>
                <a:spcPct val="107000"/>
              </a:lnSpc>
              <a:spcAft>
                <a:spcPts val="800"/>
              </a:spcAft>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Serializer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serializers.Serializer</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ModelSerializer</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serializers.ModelSerializer</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ViewSets</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ModelViewSet</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Routers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DefaultRouter</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617514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4B3A6-5854-46A8-A418-40F27EB32294}"/>
              </a:ext>
            </a:extLst>
          </p:cNvPr>
          <p:cNvSpPr>
            <a:spLocks noGrp="1"/>
          </p:cNvSpPr>
          <p:nvPr>
            <p:ph type="title"/>
          </p:nvPr>
        </p:nvSpPr>
        <p:spPr/>
        <p:txBody>
          <a:bodyPr/>
          <a:lstStyle/>
          <a:p>
            <a:r>
              <a:rPr lang="en-US" dirty="0"/>
              <a:t>DRF</a:t>
            </a:r>
            <a:endParaRPr lang="en-IN" dirty="0"/>
          </a:p>
        </p:txBody>
      </p:sp>
      <p:sp>
        <p:nvSpPr>
          <p:cNvPr id="3" name="Content Placeholder 2">
            <a:extLst>
              <a:ext uri="{FF2B5EF4-FFF2-40B4-BE49-F238E27FC236}">
                <a16:creationId xmlns:a16="http://schemas.microsoft.com/office/drawing/2014/main" id="{F39AC942-8B0B-4718-A502-380C3D1858B8}"/>
              </a:ext>
            </a:extLst>
          </p:cNvPr>
          <p:cNvSpPr>
            <a:spLocks noGrp="1"/>
          </p:cNvSpPr>
          <p:nvPr>
            <p:ph idx="1"/>
          </p:nvPr>
        </p:nvSpPr>
        <p:spPr/>
        <p:txBody>
          <a:bodyPr>
            <a:normAutofit/>
          </a:bodyPr>
          <a:lstStyle/>
          <a:p>
            <a:r>
              <a:rPr lang="en-US" dirty="0"/>
              <a:t>DRF is an open source Python library that can be used to develop REST APIs for a Django project. DRF has most of the necessary functionality built in to help develop APIs for any Django project.</a:t>
            </a:r>
          </a:p>
          <a:p>
            <a:r>
              <a:rPr lang="en-IN" b="1" dirty="0">
                <a:solidFill>
                  <a:srgbClr val="FF0000"/>
                </a:solidFill>
              </a:rPr>
              <a:t>pip install </a:t>
            </a:r>
            <a:r>
              <a:rPr lang="en-IN" b="1" dirty="0" err="1">
                <a:solidFill>
                  <a:srgbClr val="FF0000"/>
                </a:solidFill>
              </a:rPr>
              <a:t>djangorestframework</a:t>
            </a:r>
            <a:endParaRPr lang="en-IN" b="1" dirty="0">
              <a:solidFill>
                <a:srgbClr val="FF0000"/>
              </a:solidFill>
            </a:endParaRPr>
          </a:p>
          <a:p>
            <a:r>
              <a:rPr lang="en-IN" b="1" dirty="0">
                <a:solidFill>
                  <a:srgbClr val="FF0000"/>
                </a:solidFill>
              </a:rPr>
              <a:t>Project: company</a:t>
            </a:r>
          </a:p>
          <a:p>
            <a:r>
              <a:rPr lang="en-IN" b="1" dirty="0">
                <a:solidFill>
                  <a:srgbClr val="FF0000"/>
                </a:solidFill>
              </a:rPr>
              <a:t>App name: </a:t>
            </a:r>
            <a:r>
              <a:rPr lang="en-IN" b="1" dirty="0" err="1">
                <a:solidFill>
                  <a:srgbClr val="FF0000"/>
                </a:solidFill>
              </a:rPr>
              <a:t>companyapp</a:t>
            </a:r>
            <a:endParaRPr lang="en-IN" b="1" dirty="0">
              <a:solidFill>
                <a:srgbClr val="FF0000"/>
              </a:solidFill>
            </a:endParaRPr>
          </a:p>
          <a:p>
            <a:r>
              <a:rPr lang="en-IN" b="1" dirty="0">
                <a:solidFill>
                  <a:srgbClr val="FF0000"/>
                </a:solidFill>
              </a:rPr>
              <a:t>INSTALLED_APPS = ['</a:t>
            </a:r>
            <a:r>
              <a:rPr lang="en-IN" b="1" dirty="0" err="1">
                <a:solidFill>
                  <a:srgbClr val="FF0000"/>
                </a:solidFill>
              </a:rPr>
              <a:t>rest_framework</a:t>
            </a:r>
            <a:r>
              <a:rPr lang="en-IN" b="1" dirty="0">
                <a:solidFill>
                  <a:srgbClr val="FF0000"/>
                </a:solidFill>
              </a:rPr>
              <a:t>’,]</a:t>
            </a:r>
          </a:p>
        </p:txBody>
      </p:sp>
    </p:spTree>
    <p:extLst>
      <p:ext uri="{BB962C8B-B14F-4D97-AF65-F5344CB8AC3E}">
        <p14:creationId xmlns:p14="http://schemas.microsoft.com/office/powerpoint/2010/main" val="4021874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A5ED-3216-47E6-9A15-F6722D065AA2}"/>
              </a:ext>
            </a:extLst>
          </p:cNvPr>
          <p:cNvSpPr>
            <a:spLocks noGrp="1"/>
          </p:cNvSpPr>
          <p:nvPr>
            <p:ph type="title"/>
          </p:nvPr>
        </p:nvSpPr>
        <p:spPr/>
        <p:txBody>
          <a:bodyPr/>
          <a:lstStyle/>
          <a:p>
            <a:r>
              <a:rPr lang="en-US" dirty="0"/>
              <a:t>models.py</a:t>
            </a:r>
            <a:endParaRPr lang="en-IN" dirty="0"/>
          </a:p>
        </p:txBody>
      </p:sp>
      <p:sp>
        <p:nvSpPr>
          <p:cNvPr id="3" name="Content Placeholder 2">
            <a:extLst>
              <a:ext uri="{FF2B5EF4-FFF2-40B4-BE49-F238E27FC236}">
                <a16:creationId xmlns:a16="http://schemas.microsoft.com/office/drawing/2014/main" id="{1AA030E4-5457-4963-AE42-A9527F70088E}"/>
              </a:ext>
            </a:extLst>
          </p:cNvPr>
          <p:cNvSpPr>
            <a:spLocks noGrp="1"/>
          </p:cNvSpPr>
          <p:nvPr>
            <p:ph idx="1"/>
          </p:nvPr>
        </p:nvSpPr>
        <p:spPr>
          <a:xfrm>
            <a:off x="220133" y="1845734"/>
            <a:ext cx="5875867" cy="4023360"/>
          </a:xfrm>
        </p:spPr>
        <p:txBody>
          <a:bodyPr>
            <a:normAutofit fontScale="85000" lnSpcReduction="20000"/>
          </a:bodyPr>
          <a:lstStyle/>
          <a:p>
            <a:r>
              <a:rPr lang="en-IN" b="0" dirty="0">
                <a:solidFill>
                  <a:schemeClr val="tx1"/>
                </a:solidFill>
                <a:effectLst/>
                <a:latin typeface="Consolas" panose="020B0609020204030204" pitchFamily="49" charset="0"/>
              </a:rPr>
              <a:t>from </a:t>
            </a:r>
            <a:r>
              <a:rPr lang="en-IN" b="0" dirty="0" err="1">
                <a:solidFill>
                  <a:schemeClr val="tx1"/>
                </a:solidFill>
                <a:effectLst/>
                <a:latin typeface="Consolas" panose="020B0609020204030204" pitchFamily="49" charset="0"/>
              </a:rPr>
              <a:t>django.db</a:t>
            </a:r>
            <a:r>
              <a:rPr lang="en-IN" b="0" dirty="0">
                <a:solidFill>
                  <a:schemeClr val="tx1"/>
                </a:solidFill>
                <a:effectLst/>
                <a:latin typeface="Consolas" panose="020B0609020204030204" pitchFamily="49" charset="0"/>
              </a:rPr>
              <a:t> import models</a:t>
            </a:r>
          </a:p>
          <a:p>
            <a:br>
              <a:rPr lang="en-IN" b="0" dirty="0">
                <a:solidFill>
                  <a:schemeClr val="tx1"/>
                </a:solidFill>
                <a:effectLst/>
                <a:latin typeface="Consolas" panose="020B0609020204030204" pitchFamily="49" charset="0"/>
              </a:rPr>
            </a:br>
            <a:r>
              <a:rPr lang="en-IN" b="0" dirty="0">
                <a:solidFill>
                  <a:schemeClr val="tx1"/>
                </a:solidFill>
                <a:effectLst/>
                <a:latin typeface="Consolas" panose="020B0609020204030204" pitchFamily="49" charset="0"/>
              </a:rPr>
              <a:t>from </a:t>
            </a:r>
            <a:r>
              <a:rPr lang="en-IN" b="0" dirty="0" err="1">
                <a:solidFill>
                  <a:schemeClr val="tx1"/>
                </a:solidFill>
                <a:effectLst/>
                <a:latin typeface="Consolas" panose="020B0609020204030204" pitchFamily="49" charset="0"/>
              </a:rPr>
              <a:t>django.db</a:t>
            </a:r>
            <a:r>
              <a:rPr lang="en-IN" b="0" dirty="0">
                <a:solidFill>
                  <a:schemeClr val="tx1"/>
                </a:solidFill>
                <a:effectLst/>
                <a:latin typeface="Consolas" panose="020B0609020204030204" pitchFamily="49" charset="0"/>
              </a:rPr>
              <a:t> import models</a:t>
            </a:r>
          </a:p>
          <a:p>
            <a:r>
              <a:rPr lang="en-IN" b="0" dirty="0">
                <a:solidFill>
                  <a:schemeClr val="tx1"/>
                </a:solidFill>
                <a:effectLst/>
                <a:latin typeface="Consolas" panose="020B0609020204030204" pitchFamily="49" charset="0"/>
              </a:rPr>
              <a:t>class Company(</a:t>
            </a:r>
            <a:r>
              <a:rPr lang="en-IN" b="0" dirty="0" err="1">
                <a:solidFill>
                  <a:schemeClr val="tx1"/>
                </a:solidFill>
                <a:effectLst/>
                <a:latin typeface="Consolas" panose="020B0609020204030204" pitchFamily="49" charset="0"/>
              </a:rPr>
              <a:t>models.Model</a:t>
            </a:r>
            <a:r>
              <a:rPr lang="en-IN" b="0" dirty="0">
                <a:solidFill>
                  <a:schemeClr val="tx1"/>
                </a:solidFill>
                <a:effectLst/>
                <a:latin typeface="Consolas" panose="020B0609020204030204" pitchFamily="49" charset="0"/>
              </a:rPr>
              <a:t>):</a:t>
            </a:r>
          </a:p>
          <a:p>
            <a:r>
              <a:rPr lang="en-IN" b="0" dirty="0">
                <a:solidFill>
                  <a:schemeClr val="tx1"/>
                </a:solidFill>
                <a:effectLst/>
                <a:latin typeface="Consolas" panose="020B0609020204030204" pitchFamily="49" charset="0"/>
              </a:rPr>
              <a:t>    name = </a:t>
            </a:r>
            <a:r>
              <a:rPr lang="en-IN" b="0" dirty="0" err="1">
                <a:solidFill>
                  <a:schemeClr val="tx1"/>
                </a:solidFill>
                <a:effectLst/>
                <a:latin typeface="Consolas" panose="020B0609020204030204" pitchFamily="49" charset="0"/>
              </a:rPr>
              <a:t>models.CharField</a:t>
            </a:r>
            <a:r>
              <a:rPr lang="en-IN" b="0" dirty="0">
                <a:solidFill>
                  <a:schemeClr val="tx1"/>
                </a:solidFill>
                <a:effectLst/>
                <a:latin typeface="Consolas" panose="020B0609020204030204" pitchFamily="49" charset="0"/>
              </a:rPr>
              <a:t>(</a:t>
            </a:r>
            <a:r>
              <a:rPr lang="en-IN" b="0" dirty="0" err="1">
                <a:solidFill>
                  <a:schemeClr val="tx1"/>
                </a:solidFill>
                <a:effectLst/>
                <a:latin typeface="Consolas" panose="020B0609020204030204" pitchFamily="49" charset="0"/>
              </a:rPr>
              <a:t>max_length</a:t>
            </a:r>
            <a:r>
              <a:rPr lang="en-IN" b="0" dirty="0">
                <a:solidFill>
                  <a:schemeClr val="tx1"/>
                </a:solidFill>
                <a:effectLst/>
                <a:latin typeface="Consolas" panose="020B0609020204030204" pitchFamily="49" charset="0"/>
              </a:rPr>
              <a:t>=100)</a:t>
            </a:r>
          </a:p>
          <a:p>
            <a:r>
              <a:rPr lang="en-IN" b="0" dirty="0">
                <a:solidFill>
                  <a:schemeClr val="tx1"/>
                </a:solidFill>
                <a:effectLst/>
                <a:latin typeface="Consolas" panose="020B0609020204030204" pitchFamily="49" charset="0"/>
              </a:rPr>
              <a:t>    location = </a:t>
            </a:r>
            <a:r>
              <a:rPr lang="en-IN" b="0" dirty="0" err="1">
                <a:solidFill>
                  <a:schemeClr val="tx1"/>
                </a:solidFill>
                <a:effectLst/>
                <a:latin typeface="Consolas" panose="020B0609020204030204" pitchFamily="49" charset="0"/>
              </a:rPr>
              <a:t>models.CharField</a:t>
            </a:r>
            <a:r>
              <a:rPr lang="en-IN" b="0" dirty="0">
                <a:solidFill>
                  <a:schemeClr val="tx1"/>
                </a:solidFill>
                <a:effectLst/>
                <a:latin typeface="Consolas" panose="020B0609020204030204" pitchFamily="49" charset="0"/>
              </a:rPr>
              <a:t>(</a:t>
            </a:r>
            <a:r>
              <a:rPr lang="en-IN" b="0" dirty="0" err="1">
                <a:solidFill>
                  <a:schemeClr val="tx1"/>
                </a:solidFill>
                <a:effectLst/>
                <a:latin typeface="Consolas" panose="020B0609020204030204" pitchFamily="49" charset="0"/>
              </a:rPr>
              <a:t>max_length</a:t>
            </a:r>
            <a:r>
              <a:rPr lang="en-IN" b="0" dirty="0">
                <a:solidFill>
                  <a:schemeClr val="tx1"/>
                </a:solidFill>
                <a:effectLst/>
                <a:latin typeface="Consolas" panose="020B0609020204030204" pitchFamily="49" charset="0"/>
              </a:rPr>
              <a:t>=100)</a:t>
            </a:r>
          </a:p>
          <a:p>
            <a:r>
              <a:rPr lang="en-IN" b="0" dirty="0">
                <a:solidFill>
                  <a:schemeClr val="tx1"/>
                </a:solidFill>
                <a:effectLst/>
                <a:latin typeface="Consolas" panose="020B0609020204030204" pitchFamily="49" charset="0"/>
              </a:rPr>
              <a:t>    </a:t>
            </a:r>
            <a:r>
              <a:rPr lang="en-IN" b="0" dirty="0" err="1">
                <a:solidFill>
                  <a:schemeClr val="tx1"/>
                </a:solidFill>
                <a:effectLst/>
                <a:latin typeface="Consolas" panose="020B0609020204030204" pitchFamily="49" charset="0"/>
              </a:rPr>
              <a:t>founded_year</a:t>
            </a:r>
            <a:r>
              <a:rPr lang="en-IN" b="0" dirty="0">
                <a:solidFill>
                  <a:schemeClr val="tx1"/>
                </a:solidFill>
                <a:effectLst/>
                <a:latin typeface="Consolas" panose="020B0609020204030204" pitchFamily="49" charset="0"/>
              </a:rPr>
              <a:t> = </a:t>
            </a:r>
            <a:r>
              <a:rPr lang="en-IN" b="0" dirty="0" err="1">
                <a:solidFill>
                  <a:schemeClr val="tx1"/>
                </a:solidFill>
                <a:effectLst/>
                <a:latin typeface="Consolas" panose="020B0609020204030204" pitchFamily="49" charset="0"/>
              </a:rPr>
              <a:t>models.IntegerField</a:t>
            </a:r>
            <a:r>
              <a:rPr lang="en-IN" b="0" dirty="0">
                <a:solidFill>
                  <a:schemeClr val="tx1"/>
                </a:solidFill>
                <a:effectLst/>
                <a:latin typeface="Consolas" panose="020B0609020204030204" pitchFamily="49" charset="0"/>
              </a:rPr>
              <a:t>()</a:t>
            </a:r>
          </a:p>
          <a:p>
            <a:r>
              <a:rPr lang="en-IN" b="0" dirty="0">
                <a:solidFill>
                  <a:schemeClr val="tx1"/>
                </a:solidFill>
                <a:effectLst/>
                <a:latin typeface="Consolas" panose="020B0609020204030204" pitchFamily="49" charset="0"/>
              </a:rPr>
              <a:t>    def __str__(self):</a:t>
            </a:r>
          </a:p>
          <a:p>
            <a:r>
              <a:rPr lang="en-IN" b="0" dirty="0">
                <a:solidFill>
                  <a:schemeClr val="tx1"/>
                </a:solidFill>
                <a:effectLst/>
                <a:latin typeface="Consolas" panose="020B0609020204030204" pitchFamily="49" charset="0"/>
              </a:rPr>
              <a:t>        return self.name</a:t>
            </a:r>
          </a:p>
          <a:p>
            <a:br>
              <a:rPr lang="en-IN" b="0" dirty="0">
                <a:solidFill>
                  <a:schemeClr val="tx1"/>
                </a:solidFill>
                <a:effectLst/>
                <a:latin typeface="Consolas" panose="020B0609020204030204" pitchFamily="49" charset="0"/>
              </a:rPr>
            </a:br>
            <a:br>
              <a:rPr lang="en-IN" b="0" dirty="0">
                <a:solidFill>
                  <a:schemeClr val="tx1"/>
                </a:solidFill>
                <a:effectLst/>
                <a:latin typeface="Consolas" panose="020B0609020204030204" pitchFamily="49" charset="0"/>
              </a:rPr>
            </a:br>
            <a:endParaRPr lang="en-IN" b="0" dirty="0">
              <a:solidFill>
                <a:schemeClr val="tx1"/>
              </a:solidFill>
              <a:effectLst/>
              <a:latin typeface="Consolas" panose="020B0609020204030204" pitchFamily="49" charset="0"/>
            </a:endParaRPr>
          </a:p>
          <a:p>
            <a:endParaRPr lang="en-IN" dirty="0"/>
          </a:p>
        </p:txBody>
      </p:sp>
      <p:sp>
        <p:nvSpPr>
          <p:cNvPr id="4" name="TextBox 3">
            <a:extLst>
              <a:ext uri="{FF2B5EF4-FFF2-40B4-BE49-F238E27FC236}">
                <a16:creationId xmlns:a16="http://schemas.microsoft.com/office/drawing/2014/main" id="{C69EE32B-FB56-4A18-8289-729AB8EC2591}"/>
              </a:ext>
            </a:extLst>
          </p:cNvPr>
          <p:cNvSpPr txBox="1"/>
          <p:nvPr/>
        </p:nvSpPr>
        <p:spPr>
          <a:xfrm>
            <a:off x="6197601" y="1667933"/>
            <a:ext cx="5220448" cy="2739211"/>
          </a:xfrm>
          <a:prstGeom prst="rect">
            <a:avLst/>
          </a:prstGeom>
          <a:noFill/>
        </p:spPr>
        <p:txBody>
          <a:bodyPr wrap="square" rtlCol="0">
            <a:spAutoFit/>
          </a:bodyPr>
          <a:lstStyle/>
          <a:p>
            <a:r>
              <a:rPr lang="en-IN" sz="1400" b="0" dirty="0">
                <a:effectLst/>
                <a:latin typeface="Consolas" panose="020B0609020204030204" pitchFamily="49" charset="0"/>
              </a:rPr>
              <a:t>class Employee(</a:t>
            </a:r>
            <a:r>
              <a:rPr lang="en-IN" sz="1400" b="0" dirty="0" err="1">
                <a:effectLst/>
                <a:latin typeface="Consolas" panose="020B0609020204030204" pitchFamily="49" charset="0"/>
              </a:rPr>
              <a:t>models.Model</a:t>
            </a:r>
            <a:r>
              <a:rPr lang="en-IN" sz="1400" b="0" dirty="0">
                <a:effectLst/>
                <a:latin typeface="Consolas" panose="020B0609020204030204" pitchFamily="49" charset="0"/>
              </a:rPr>
              <a:t>):</a:t>
            </a:r>
          </a:p>
          <a:p>
            <a:r>
              <a:rPr lang="en-IN" sz="1400" b="0" dirty="0">
                <a:effectLst/>
                <a:latin typeface="Consolas" panose="020B0609020204030204" pitchFamily="49" charset="0"/>
              </a:rPr>
              <a:t>    company = </a:t>
            </a:r>
            <a:r>
              <a:rPr lang="en-IN" sz="1400" b="0" dirty="0" err="1">
                <a:effectLst/>
                <a:latin typeface="Consolas" panose="020B0609020204030204" pitchFamily="49" charset="0"/>
              </a:rPr>
              <a:t>models.ForeignKey</a:t>
            </a:r>
            <a:r>
              <a:rPr lang="en-IN" sz="1400" b="0" dirty="0">
                <a:effectLst/>
                <a:latin typeface="Consolas" panose="020B0609020204030204" pitchFamily="49" charset="0"/>
              </a:rPr>
              <a:t>(</a:t>
            </a:r>
            <a:r>
              <a:rPr lang="en-IN" sz="1400" b="0" dirty="0" err="1">
                <a:effectLst/>
                <a:latin typeface="Consolas" panose="020B0609020204030204" pitchFamily="49" charset="0"/>
              </a:rPr>
              <a:t>Company,on_delete</a:t>
            </a:r>
            <a:r>
              <a:rPr lang="en-IN" sz="1400" b="0" dirty="0">
                <a:effectLst/>
                <a:latin typeface="Consolas" panose="020B0609020204030204" pitchFamily="49" charset="0"/>
              </a:rPr>
              <a:t>=</a:t>
            </a:r>
            <a:r>
              <a:rPr lang="en-IN" sz="1400" b="0" dirty="0" err="1">
                <a:effectLst/>
                <a:latin typeface="Consolas" panose="020B0609020204030204" pitchFamily="49" charset="0"/>
              </a:rPr>
              <a:t>models.CASCADE</a:t>
            </a:r>
            <a:r>
              <a:rPr lang="en-IN" sz="1400" b="0" dirty="0">
                <a:effectLst/>
                <a:latin typeface="Consolas" panose="020B0609020204030204" pitchFamily="49" charset="0"/>
              </a:rPr>
              <a:t>)</a:t>
            </a:r>
          </a:p>
          <a:p>
            <a:r>
              <a:rPr lang="en-IN" sz="1400" b="0" dirty="0">
                <a:effectLst/>
                <a:latin typeface="Consolas" panose="020B0609020204030204" pitchFamily="49" charset="0"/>
              </a:rPr>
              <a:t>    name = </a:t>
            </a:r>
            <a:r>
              <a:rPr lang="en-IN" sz="1400" b="0" dirty="0" err="1">
                <a:effectLst/>
                <a:latin typeface="Consolas" panose="020B0609020204030204" pitchFamily="49" charset="0"/>
              </a:rPr>
              <a:t>models.CharField</a:t>
            </a:r>
            <a:r>
              <a:rPr lang="en-IN" sz="1400" b="0" dirty="0">
                <a:effectLst/>
                <a:latin typeface="Consolas" panose="020B0609020204030204" pitchFamily="49" charset="0"/>
              </a:rPr>
              <a:t>(</a:t>
            </a:r>
            <a:r>
              <a:rPr lang="en-IN" sz="1400" b="0" dirty="0" err="1">
                <a:effectLst/>
                <a:latin typeface="Consolas" panose="020B0609020204030204" pitchFamily="49" charset="0"/>
              </a:rPr>
              <a:t>max_length</a:t>
            </a:r>
            <a:r>
              <a:rPr lang="en-IN" sz="1400" b="0" dirty="0">
                <a:effectLst/>
                <a:latin typeface="Consolas" panose="020B0609020204030204" pitchFamily="49" charset="0"/>
              </a:rPr>
              <a:t>=100)</a:t>
            </a:r>
          </a:p>
          <a:p>
            <a:r>
              <a:rPr lang="en-IN" sz="1400" b="0" dirty="0">
                <a:effectLst/>
                <a:latin typeface="Consolas" panose="020B0609020204030204" pitchFamily="49" charset="0"/>
              </a:rPr>
              <a:t>    email = </a:t>
            </a:r>
            <a:r>
              <a:rPr lang="en-IN" sz="1400" b="0" dirty="0" err="1">
                <a:effectLst/>
                <a:latin typeface="Consolas" panose="020B0609020204030204" pitchFamily="49" charset="0"/>
              </a:rPr>
              <a:t>models.EmailField</a:t>
            </a:r>
            <a:r>
              <a:rPr lang="en-IN" sz="1400" b="0" dirty="0">
                <a:effectLst/>
                <a:latin typeface="Consolas" panose="020B0609020204030204" pitchFamily="49" charset="0"/>
              </a:rPr>
              <a:t>()</a:t>
            </a:r>
          </a:p>
          <a:p>
            <a:r>
              <a:rPr lang="en-IN" sz="1400" b="0" dirty="0">
                <a:effectLst/>
                <a:latin typeface="Consolas" panose="020B0609020204030204" pitchFamily="49" charset="0"/>
              </a:rPr>
              <a:t>    salary = </a:t>
            </a:r>
            <a:r>
              <a:rPr lang="en-IN" sz="1400" b="0" dirty="0" err="1">
                <a:effectLst/>
                <a:latin typeface="Consolas" panose="020B0609020204030204" pitchFamily="49" charset="0"/>
              </a:rPr>
              <a:t>models.DecimalField</a:t>
            </a:r>
            <a:r>
              <a:rPr lang="en-IN" sz="1400" b="0" dirty="0">
                <a:effectLst/>
                <a:latin typeface="Consolas" panose="020B0609020204030204" pitchFamily="49" charset="0"/>
              </a:rPr>
              <a:t>(</a:t>
            </a:r>
            <a:r>
              <a:rPr lang="en-IN" sz="1400" b="0" dirty="0" err="1">
                <a:effectLst/>
                <a:latin typeface="Consolas" panose="020B0609020204030204" pitchFamily="49" charset="0"/>
              </a:rPr>
              <a:t>max_digits</a:t>
            </a:r>
            <a:r>
              <a:rPr lang="en-IN" sz="1400" b="0" dirty="0">
                <a:effectLst/>
                <a:latin typeface="Consolas" panose="020B0609020204030204" pitchFamily="49" charset="0"/>
              </a:rPr>
              <a:t>=10,decimal_places=2)</a:t>
            </a:r>
          </a:p>
          <a:p>
            <a:r>
              <a:rPr lang="en-IN" sz="1400" b="0" dirty="0">
                <a:effectLst/>
                <a:latin typeface="Consolas" panose="020B0609020204030204" pitchFamily="49" charset="0"/>
              </a:rPr>
              <a:t>    designation = </a:t>
            </a:r>
            <a:r>
              <a:rPr lang="en-IN" sz="1400" b="0" dirty="0" err="1">
                <a:effectLst/>
                <a:latin typeface="Consolas" panose="020B0609020204030204" pitchFamily="49" charset="0"/>
              </a:rPr>
              <a:t>models.CharField</a:t>
            </a:r>
            <a:r>
              <a:rPr lang="en-IN" sz="1400" b="0" dirty="0">
                <a:effectLst/>
                <a:latin typeface="Consolas" panose="020B0609020204030204" pitchFamily="49" charset="0"/>
              </a:rPr>
              <a:t>(</a:t>
            </a:r>
            <a:r>
              <a:rPr lang="en-IN" sz="1400" b="0" dirty="0" err="1">
                <a:effectLst/>
                <a:latin typeface="Consolas" panose="020B0609020204030204" pitchFamily="49" charset="0"/>
              </a:rPr>
              <a:t>max_length</a:t>
            </a:r>
            <a:r>
              <a:rPr lang="en-IN" sz="1400" b="0" dirty="0">
                <a:effectLst/>
                <a:latin typeface="Consolas" panose="020B0609020204030204" pitchFamily="49" charset="0"/>
              </a:rPr>
              <a:t>=100)</a:t>
            </a:r>
          </a:p>
          <a:p>
            <a:br>
              <a:rPr lang="en-IN" sz="1400" b="0" dirty="0">
                <a:effectLst/>
                <a:latin typeface="Consolas" panose="020B0609020204030204" pitchFamily="49" charset="0"/>
              </a:rPr>
            </a:br>
            <a:r>
              <a:rPr lang="en-IN" sz="1400" b="0" dirty="0">
                <a:effectLst/>
                <a:latin typeface="Consolas" panose="020B0609020204030204" pitchFamily="49" charset="0"/>
              </a:rPr>
              <a:t>    def __str__(self):</a:t>
            </a:r>
          </a:p>
          <a:p>
            <a:r>
              <a:rPr lang="en-IN" sz="1400" b="0" dirty="0">
                <a:effectLst/>
                <a:latin typeface="Consolas" panose="020B0609020204030204" pitchFamily="49" charset="0"/>
              </a:rPr>
              <a:t>        return self.name</a:t>
            </a:r>
          </a:p>
          <a:p>
            <a:endParaRPr lang="en-IN" dirty="0"/>
          </a:p>
        </p:txBody>
      </p:sp>
    </p:spTree>
    <p:extLst>
      <p:ext uri="{BB962C8B-B14F-4D97-AF65-F5344CB8AC3E}">
        <p14:creationId xmlns:p14="http://schemas.microsoft.com/office/powerpoint/2010/main" val="4068612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FF0A8-8467-40AE-A8D4-DA0BF59CE34B}"/>
              </a:ext>
            </a:extLst>
          </p:cNvPr>
          <p:cNvSpPr>
            <a:spLocks noGrp="1"/>
          </p:cNvSpPr>
          <p:nvPr>
            <p:ph type="title"/>
          </p:nvPr>
        </p:nvSpPr>
        <p:spPr/>
        <p:txBody>
          <a:bodyPr/>
          <a:lstStyle/>
          <a:p>
            <a:r>
              <a:rPr lang="en-US" dirty="0"/>
              <a:t>Views.py</a:t>
            </a:r>
            <a:endParaRPr lang="en-IN" dirty="0"/>
          </a:p>
        </p:txBody>
      </p:sp>
      <p:sp>
        <p:nvSpPr>
          <p:cNvPr id="3" name="Content Placeholder 2">
            <a:extLst>
              <a:ext uri="{FF2B5EF4-FFF2-40B4-BE49-F238E27FC236}">
                <a16:creationId xmlns:a16="http://schemas.microsoft.com/office/drawing/2014/main" id="{66D1A323-5C90-41ED-9C61-B77550DB2660}"/>
              </a:ext>
            </a:extLst>
          </p:cNvPr>
          <p:cNvSpPr>
            <a:spLocks noGrp="1"/>
          </p:cNvSpPr>
          <p:nvPr>
            <p:ph idx="1"/>
          </p:nvPr>
        </p:nvSpPr>
        <p:spPr/>
        <p:txBody>
          <a:bodyPr>
            <a:normAutofit/>
          </a:bodyPr>
          <a:lstStyle/>
          <a:p>
            <a:r>
              <a:rPr lang="en-US" sz="1400" dirty="0"/>
              <a:t>from </a:t>
            </a:r>
            <a:r>
              <a:rPr lang="en-US" sz="1400" dirty="0" err="1"/>
              <a:t>django.shortcuts</a:t>
            </a:r>
            <a:r>
              <a:rPr lang="en-US" sz="1400" dirty="0"/>
              <a:t> import render</a:t>
            </a:r>
          </a:p>
          <a:p>
            <a:r>
              <a:rPr lang="en-US" sz="1400" dirty="0"/>
              <a:t>from </a:t>
            </a:r>
            <a:r>
              <a:rPr lang="en-US" sz="1400" dirty="0" err="1"/>
              <a:t>rest_framework.decorators</a:t>
            </a:r>
            <a:r>
              <a:rPr lang="en-US" sz="1400" dirty="0"/>
              <a:t> import </a:t>
            </a:r>
            <a:r>
              <a:rPr lang="en-US" sz="1400" dirty="0" err="1"/>
              <a:t>api_view</a:t>
            </a:r>
            <a:endParaRPr lang="en-US" sz="1400" dirty="0"/>
          </a:p>
          <a:p>
            <a:r>
              <a:rPr lang="en-US" sz="1400" dirty="0"/>
              <a:t>from </a:t>
            </a:r>
            <a:r>
              <a:rPr lang="en-US" sz="1400" dirty="0" err="1"/>
              <a:t>rest_framework.response</a:t>
            </a:r>
            <a:r>
              <a:rPr lang="en-US" sz="1400" dirty="0"/>
              <a:t> import Response</a:t>
            </a:r>
          </a:p>
          <a:p>
            <a:r>
              <a:rPr lang="en-US" sz="1400" dirty="0"/>
              <a:t>from .models import Employee</a:t>
            </a:r>
          </a:p>
          <a:p>
            <a:r>
              <a:rPr lang="en-US" sz="1400" dirty="0"/>
              <a:t>from .serializers import </a:t>
            </a:r>
            <a:r>
              <a:rPr lang="en-US" sz="1400" dirty="0" err="1"/>
              <a:t>EmployeeSerializer</a:t>
            </a:r>
            <a:endParaRPr lang="en-US" sz="1400" dirty="0"/>
          </a:p>
          <a:p>
            <a:endParaRPr lang="en-US" sz="1400" dirty="0"/>
          </a:p>
          <a:p>
            <a:r>
              <a:rPr lang="en-US" sz="1400" dirty="0"/>
              <a:t>@api_view(['GET']) </a:t>
            </a:r>
          </a:p>
          <a:p>
            <a:r>
              <a:rPr lang="en-US" sz="1400" dirty="0"/>
              <a:t>def </a:t>
            </a:r>
            <a:r>
              <a:rPr lang="en-US" sz="1400" dirty="0" err="1"/>
              <a:t>first_api_view</a:t>
            </a:r>
            <a:r>
              <a:rPr lang="en-US" sz="1400" dirty="0"/>
              <a:t>(request): </a:t>
            </a:r>
          </a:p>
          <a:p>
            <a:r>
              <a:rPr lang="en-US" sz="1400" dirty="0"/>
              <a:t>    emp= </a:t>
            </a:r>
            <a:r>
              <a:rPr lang="en-US" sz="1400" dirty="0" err="1"/>
              <a:t>Employee.objects.all</a:t>
            </a:r>
            <a:r>
              <a:rPr lang="en-US" sz="1400" dirty="0"/>
              <a:t>()</a:t>
            </a:r>
          </a:p>
          <a:p>
            <a:r>
              <a:rPr lang="en-US" sz="1400" dirty="0"/>
              <a:t>    </a:t>
            </a:r>
            <a:r>
              <a:rPr lang="en-US" sz="1400" dirty="0" err="1"/>
              <a:t>employee_serializer</a:t>
            </a:r>
            <a:r>
              <a:rPr lang="en-US" sz="1400" dirty="0"/>
              <a:t> = </a:t>
            </a:r>
            <a:r>
              <a:rPr lang="en-US" sz="1400" dirty="0" err="1"/>
              <a:t>EmployeeSerializer</a:t>
            </a:r>
            <a:r>
              <a:rPr lang="en-US" sz="1400" dirty="0"/>
              <a:t>(emp, many=True)</a:t>
            </a:r>
          </a:p>
          <a:p>
            <a:r>
              <a:rPr lang="en-US" sz="1400" dirty="0"/>
              <a:t>    return Response(</a:t>
            </a:r>
            <a:r>
              <a:rPr lang="en-US" sz="1400" dirty="0" err="1"/>
              <a:t>employee_serializer.data</a:t>
            </a:r>
            <a:r>
              <a:rPr lang="en-US" sz="1400" dirty="0"/>
              <a:t>)</a:t>
            </a:r>
          </a:p>
          <a:p>
            <a:endParaRPr lang="en-US" sz="1400" dirty="0"/>
          </a:p>
          <a:p>
            <a:endParaRPr lang="en-US" sz="1400" dirty="0"/>
          </a:p>
        </p:txBody>
      </p:sp>
    </p:spTree>
    <p:extLst>
      <p:ext uri="{BB962C8B-B14F-4D97-AF65-F5344CB8AC3E}">
        <p14:creationId xmlns:p14="http://schemas.microsoft.com/office/powerpoint/2010/main" val="2722295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E79FA-2E79-474E-A898-CF744E94CD79}"/>
              </a:ext>
            </a:extLst>
          </p:cNvPr>
          <p:cNvSpPr>
            <a:spLocks noGrp="1"/>
          </p:cNvSpPr>
          <p:nvPr>
            <p:ph type="title"/>
          </p:nvPr>
        </p:nvSpPr>
        <p:spPr/>
        <p:txBody>
          <a:bodyPr/>
          <a:lstStyle/>
          <a:p>
            <a:r>
              <a:rPr lang="en-IN" dirty="0"/>
              <a:t>serializers</a:t>
            </a:r>
          </a:p>
        </p:txBody>
      </p:sp>
      <p:sp>
        <p:nvSpPr>
          <p:cNvPr id="3" name="Content Placeholder 2">
            <a:extLst>
              <a:ext uri="{FF2B5EF4-FFF2-40B4-BE49-F238E27FC236}">
                <a16:creationId xmlns:a16="http://schemas.microsoft.com/office/drawing/2014/main" id="{A6C26A1C-43F1-45F9-A3C7-AA7BFE3EEE10}"/>
              </a:ext>
            </a:extLst>
          </p:cNvPr>
          <p:cNvSpPr>
            <a:spLocks noGrp="1"/>
          </p:cNvSpPr>
          <p:nvPr>
            <p:ph idx="1"/>
          </p:nvPr>
        </p:nvSpPr>
        <p:spPr/>
        <p:txBody>
          <a:bodyPr/>
          <a:lstStyle/>
          <a:p>
            <a:r>
              <a:rPr lang="en-US" dirty="0"/>
              <a:t>if we wanted to return the full details about an actual book in our database with our API? DRF's serializer class helps to convert complex Python objects into formats such as JSON or XML so that they can be transmitted across the web using the HTTP protocol.</a:t>
            </a:r>
            <a:endParaRPr lang="en-IN" dirty="0"/>
          </a:p>
        </p:txBody>
      </p:sp>
    </p:spTree>
    <p:extLst>
      <p:ext uri="{BB962C8B-B14F-4D97-AF65-F5344CB8AC3E}">
        <p14:creationId xmlns:p14="http://schemas.microsoft.com/office/powerpoint/2010/main" val="681798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58E8D-2BA9-4547-8EBC-629633F52117}"/>
              </a:ext>
            </a:extLst>
          </p:cNvPr>
          <p:cNvSpPr>
            <a:spLocks noGrp="1"/>
          </p:cNvSpPr>
          <p:nvPr>
            <p:ph type="title"/>
          </p:nvPr>
        </p:nvSpPr>
        <p:spPr/>
        <p:txBody>
          <a:bodyPr/>
          <a:lstStyle/>
          <a:p>
            <a:r>
              <a:rPr lang="en-US" dirty="0"/>
              <a:t>Creating an API view to display a list of books</a:t>
            </a:r>
            <a:endParaRPr lang="en-IN" dirty="0"/>
          </a:p>
        </p:txBody>
      </p:sp>
      <p:sp>
        <p:nvSpPr>
          <p:cNvPr id="3" name="Content Placeholder 2">
            <a:extLst>
              <a:ext uri="{FF2B5EF4-FFF2-40B4-BE49-F238E27FC236}">
                <a16:creationId xmlns:a16="http://schemas.microsoft.com/office/drawing/2014/main" id="{10BBDB40-B859-48ED-ABBD-22C0C1E65722}"/>
              </a:ext>
            </a:extLst>
          </p:cNvPr>
          <p:cNvSpPr>
            <a:spLocks noGrp="1"/>
          </p:cNvSpPr>
          <p:nvPr>
            <p:ph idx="1"/>
          </p:nvPr>
        </p:nvSpPr>
        <p:spPr/>
        <p:txBody>
          <a:bodyPr>
            <a:normAutofit/>
          </a:bodyPr>
          <a:lstStyle/>
          <a:p>
            <a:r>
              <a:rPr lang="en-US" b="1" dirty="0"/>
              <a:t>1. Create a file named serializers.py in the </a:t>
            </a:r>
            <a:r>
              <a:rPr lang="en-US" b="1" dirty="0" err="1"/>
              <a:t>companyapp</a:t>
            </a:r>
            <a:r>
              <a:rPr lang="en-US" b="1" dirty="0"/>
              <a:t> folder. This is the file where we will place all the serializer code for the APIs. </a:t>
            </a:r>
          </a:p>
          <a:p>
            <a:r>
              <a:rPr lang="en-US" b="1" dirty="0"/>
              <a:t>2. Add the following code to serializers.py: </a:t>
            </a:r>
          </a:p>
          <a:p>
            <a:r>
              <a:rPr lang="en-IN" sz="1700" dirty="0"/>
              <a:t>from </a:t>
            </a:r>
            <a:r>
              <a:rPr lang="en-IN" sz="1700" dirty="0" err="1"/>
              <a:t>rest_framework</a:t>
            </a:r>
            <a:r>
              <a:rPr lang="en-IN" sz="1700" dirty="0"/>
              <a:t> import serializers</a:t>
            </a:r>
          </a:p>
          <a:p>
            <a:r>
              <a:rPr lang="en-IN" sz="1700" dirty="0"/>
              <a:t>class </a:t>
            </a:r>
            <a:r>
              <a:rPr lang="en-IN" sz="1700" dirty="0" err="1"/>
              <a:t>CompanySerializer</a:t>
            </a:r>
            <a:r>
              <a:rPr lang="en-IN" sz="1700" dirty="0"/>
              <a:t>(</a:t>
            </a:r>
            <a:r>
              <a:rPr lang="en-IN" sz="1700" dirty="0" err="1"/>
              <a:t>serializers.Serializer</a:t>
            </a:r>
            <a:r>
              <a:rPr lang="en-IN" sz="1700" dirty="0"/>
              <a:t>):</a:t>
            </a:r>
          </a:p>
          <a:p>
            <a:endParaRPr lang="en-IN" sz="1700" dirty="0"/>
          </a:p>
          <a:p>
            <a:r>
              <a:rPr lang="en-IN" sz="1700" dirty="0"/>
              <a:t>    id = </a:t>
            </a:r>
            <a:r>
              <a:rPr lang="en-IN" sz="1700" dirty="0" err="1"/>
              <a:t>serializers.IntegerField</a:t>
            </a:r>
            <a:r>
              <a:rPr lang="en-IN" sz="1700" dirty="0"/>
              <a:t>(</a:t>
            </a:r>
            <a:r>
              <a:rPr lang="en-IN" sz="1700" dirty="0" err="1"/>
              <a:t>read_only</a:t>
            </a:r>
            <a:r>
              <a:rPr lang="en-IN" sz="1700" dirty="0"/>
              <a:t>=True)</a:t>
            </a:r>
          </a:p>
          <a:p>
            <a:r>
              <a:rPr lang="en-IN" sz="1700" dirty="0"/>
              <a:t>    name = </a:t>
            </a:r>
            <a:r>
              <a:rPr lang="en-IN" sz="1700" dirty="0" err="1"/>
              <a:t>serializers.CharField</a:t>
            </a:r>
            <a:r>
              <a:rPr lang="en-IN" sz="1700" dirty="0"/>
              <a:t>(</a:t>
            </a:r>
            <a:r>
              <a:rPr lang="en-IN" sz="1700" dirty="0" err="1"/>
              <a:t>max_length</a:t>
            </a:r>
            <a:r>
              <a:rPr lang="en-IN" sz="1700" dirty="0"/>
              <a:t>=100)</a:t>
            </a:r>
          </a:p>
          <a:p>
            <a:r>
              <a:rPr lang="en-IN" sz="1700" dirty="0"/>
              <a:t>    location = </a:t>
            </a:r>
            <a:r>
              <a:rPr lang="en-IN" sz="1700" dirty="0" err="1"/>
              <a:t>serializers.CharField</a:t>
            </a:r>
            <a:r>
              <a:rPr lang="en-IN" sz="1700" dirty="0"/>
              <a:t>(</a:t>
            </a:r>
            <a:r>
              <a:rPr lang="en-IN" sz="1700" dirty="0" err="1"/>
              <a:t>max_length</a:t>
            </a:r>
            <a:r>
              <a:rPr lang="en-IN" sz="1700" dirty="0"/>
              <a:t>=100)</a:t>
            </a:r>
          </a:p>
          <a:p>
            <a:r>
              <a:rPr lang="en-IN" sz="1700" dirty="0"/>
              <a:t>    </a:t>
            </a:r>
            <a:r>
              <a:rPr lang="en-IN" sz="1700" dirty="0" err="1"/>
              <a:t>founded_year</a:t>
            </a:r>
            <a:r>
              <a:rPr lang="en-IN" sz="1700" dirty="0"/>
              <a:t> = </a:t>
            </a:r>
            <a:r>
              <a:rPr lang="en-IN" sz="1700" dirty="0" err="1"/>
              <a:t>serializers.IntegerField</a:t>
            </a:r>
            <a:r>
              <a:rPr lang="en-IN" sz="1700" dirty="0"/>
              <a:t>()</a:t>
            </a:r>
          </a:p>
          <a:p>
            <a:endParaRPr lang="en-IN" sz="1700" dirty="0"/>
          </a:p>
          <a:p>
            <a:endParaRPr lang="en-IN" sz="1700" dirty="0"/>
          </a:p>
        </p:txBody>
      </p:sp>
    </p:spTree>
    <p:extLst>
      <p:ext uri="{BB962C8B-B14F-4D97-AF65-F5344CB8AC3E}">
        <p14:creationId xmlns:p14="http://schemas.microsoft.com/office/powerpoint/2010/main" val="3955041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7738D-8C82-4606-823E-F5922C86AA72}"/>
              </a:ext>
            </a:extLst>
          </p:cNvPr>
          <p:cNvSpPr>
            <a:spLocks noGrp="1"/>
          </p:cNvSpPr>
          <p:nvPr>
            <p:ph type="title"/>
          </p:nvPr>
        </p:nvSpPr>
        <p:spPr/>
        <p:txBody>
          <a:bodyPr/>
          <a:lstStyle/>
          <a:p>
            <a:r>
              <a:rPr lang="en-US" b="1" dirty="0"/>
              <a:t>serializers.py</a:t>
            </a:r>
            <a:endParaRPr lang="en-IN" dirty="0"/>
          </a:p>
        </p:txBody>
      </p:sp>
      <p:sp>
        <p:nvSpPr>
          <p:cNvPr id="3" name="Content Placeholder 2">
            <a:extLst>
              <a:ext uri="{FF2B5EF4-FFF2-40B4-BE49-F238E27FC236}">
                <a16:creationId xmlns:a16="http://schemas.microsoft.com/office/drawing/2014/main" id="{5F6CB2C3-F68C-492B-A864-879BE77170FB}"/>
              </a:ext>
            </a:extLst>
          </p:cNvPr>
          <p:cNvSpPr>
            <a:spLocks noGrp="1"/>
          </p:cNvSpPr>
          <p:nvPr>
            <p:ph idx="1"/>
          </p:nvPr>
        </p:nvSpPr>
        <p:spPr/>
        <p:txBody>
          <a:bodyPr/>
          <a:lstStyle/>
          <a:p>
            <a:r>
              <a:rPr lang="en-IN" sz="2000" dirty="0"/>
              <a:t>class </a:t>
            </a:r>
            <a:r>
              <a:rPr lang="en-IN" sz="2000" dirty="0" err="1"/>
              <a:t>EmployeeSerializer</a:t>
            </a:r>
            <a:r>
              <a:rPr lang="en-IN" sz="2000" dirty="0"/>
              <a:t>(</a:t>
            </a:r>
            <a:r>
              <a:rPr lang="en-IN" sz="2000" dirty="0" err="1"/>
              <a:t>serializers.Serializer</a:t>
            </a:r>
            <a:r>
              <a:rPr lang="en-IN" sz="2000" dirty="0"/>
              <a:t>):</a:t>
            </a:r>
          </a:p>
          <a:p>
            <a:endParaRPr lang="en-IN" sz="2000" dirty="0"/>
          </a:p>
          <a:p>
            <a:r>
              <a:rPr lang="en-IN" sz="2000" dirty="0"/>
              <a:t>    id = </a:t>
            </a:r>
            <a:r>
              <a:rPr lang="en-IN" sz="2000" dirty="0" err="1"/>
              <a:t>serializers.IntegerField</a:t>
            </a:r>
            <a:r>
              <a:rPr lang="en-IN" sz="2000" dirty="0"/>
              <a:t>(</a:t>
            </a:r>
            <a:r>
              <a:rPr lang="en-IN" sz="2000" dirty="0" err="1"/>
              <a:t>read_only</a:t>
            </a:r>
            <a:r>
              <a:rPr lang="en-IN" sz="2000" dirty="0"/>
              <a:t>=True)</a:t>
            </a:r>
          </a:p>
          <a:p>
            <a:r>
              <a:rPr lang="en-IN" sz="2000" dirty="0"/>
              <a:t>    company = </a:t>
            </a:r>
            <a:r>
              <a:rPr lang="en-IN" sz="2000" dirty="0" err="1"/>
              <a:t>CompanySerializer</a:t>
            </a:r>
            <a:r>
              <a:rPr lang="en-IN" sz="2000" dirty="0"/>
              <a:t>()</a:t>
            </a:r>
          </a:p>
          <a:p>
            <a:r>
              <a:rPr lang="en-IN" sz="2000" dirty="0"/>
              <a:t>    name = </a:t>
            </a:r>
            <a:r>
              <a:rPr lang="en-IN" sz="2000" dirty="0" err="1"/>
              <a:t>serializers.CharField</a:t>
            </a:r>
            <a:r>
              <a:rPr lang="en-IN" sz="2000" dirty="0"/>
              <a:t>(</a:t>
            </a:r>
            <a:r>
              <a:rPr lang="en-IN" sz="2000" dirty="0" err="1"/>
              <a:t>max_length</a:t>
            </a:r>
            <a:r>
              <a:rPr lang="en-IN" sz="2000" dirty="0"/>
              <a:t>=100)</a:t>
            </a:r>
          </a:p>
          <a:p>
            <a:r>
              <a:rPr lang="en-IN" sz="2000" dirty="0"/>
              <a:t>    email = </a:t>
            </a:r>
            <a:r>
              <a:rPr lang="en-IN" sz="2000" dirty="0" err="1"/>
              <a:t>serializers.EmailField</a:t>
            </a:r>
            <a:r>
              <a:rPr lang="en-IN" sz="2000" dirty="0"/>
              <a:t>()</a:t>
            </a:r>
          </a:p>
          <a:p>
            <a:r>
              <a:rPr lang="en-IN" sz="2000" dirty="0"/>
              <a:t>    salary = </a:t>
            </a:r>
            <a:r>
              <a:rPr lang="en-IN" sz="2000" dirty="0" err="1"/>
              <a:t>serializers.DecimalField</a:t>
            </a:r>
            <a:r>
              <a:rPr lang="en-IN" sz="2000" dirty="0"/>
              <a:t>(</a:t>
            </a:r>
            <a:r>
              <a:rPr lang="en-IN" sz="2000" dirty="0" err="1"/>
              <a:t>max_digits</a:t>
            </a:r>
            <a:r>
              <a:rPr lang="en-IN" sz="2000" dirty="0"/>
              <a:t>=10,decimal_places=2)</a:t>
            </a:r>
          </a:p>
          <a:p>
            <a:r>
              <a:rPr lang="en-IN" sz="2000" dirty="0"/>
              <a:t>    designation = </a:t>
            </a:r>
            <a:r>
              <a:rPr lang="en-IN" sz="2000" dirty="0" err="1"/>
              <a:t>serializers.CharField</a:t>
            </a:r>
            <a:r>
              <a:rPr lang="en-IN" sz="2000" dirty="0"/>
              <a:t>(</a:t>
            </a:r>
            <a:r>
              <a:rPr lang="en-IN" sz="2000" dirty="0" err="1"/>
              <a:t>max_length</a:t>
            </a:r>
            <a:r>
              <a:rPr lang="en-IN" sz="2000" dirty="0"/>
              <a:t>=100)</a:t>
            </a:r>
          </a:p>
          <a:p>
            <a:endParaRPr lang="en-IN" dirty="0"/>
          </a:p>
        </p:txBody>
      </p:sp>
    </p:spTree>
    <p:extLst>
      <p:ext uri="{BB962C8B-B14F-4D97-AF65-F5344CB8AC3E}">
        <p14:creationId xmlns:p14="http://schemas.microsoft.com/office/powerpoint/2010/main" val="1005185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86F4D-F172-41D6-9CA7-83953A6DA60C}"/>
              </a:ext>
            </a:extLst>
          </p:cNvPr>
          <p:cNvSpPr>
            <a:spLocks noGrp="1"/>
          </p:cNvSpPr>
          <p:nvPr>
            <p:ph type="title"/>
          </p:nvPr>
        </p:nvSpPr>
        <p:spPr/>
        <p:txBody>
          <a:bodyPr/>
          <a:lstStyle/>
          <a:p>
            <a:r>
              <a:rPr lang="en-US" dirty="0"/>
              <a:t>Company/urls.py</a:t>
            </a:r>
            <a:endParaRPr lang="en-IN" dirty="0"/>
          </a:p>
        </p:txBody>
      </p:sp>
      <p:sp>
        <p:nvSpPr>
          <p:cNvPr id="3" name="Content Placeholder 2">
            <a:extLst>
              <a:ext uri="{FF2B5EF4-FFF2-40B4-BE49-F238E27FC236}">
                <a16:creationId xmlns:a16="http://schemas.microsoft.com/office/drawing/2014/main" id="{71C8691A-14E8-41D0-A0B4-5C3D9824A7A8}"/>
              </a:ext>
            </a:extLst>
          </p:cNvPr>
          <p:cNvSpPr>
            <a:spLocks noGrp="1"/>
          </p:cNvSpPr>
          <p:nvPr>
            <p:ph idx="1"/>
          </p:nvPr>
        </p:nvSpPr>
        <p:spPr/>
        <p:txBody>
          <a:bodyPr>
            <a:normAutofit/>
          </a:bodyPr>
          <a:lstStyle/>
          <a:p>
            <a:r>
              <a:rPr lang="en-US" b="1" dirty="0"/>
              <a:t>from </a:t>
            </a:r>
            <a:r>
              <a:rPr lang="en-US" b="1" dirty="0" err="1"/>
              <a:t>django.contrib</a:t>
            </a:r>
            <a:r>
              <a:rPr lang="en-US" b="1" dirty="0"/>
              <a:t> import admin</a:t>
            </a:r>
          </a:p>
          <a:p>
            <a:r>
              <a:rPr lang="en-US" b="1" dirty="0"/>
              <a:t>from </a:t>
            </a:r>
            <a:r>
              <a:rPr lang="en-US" b="1" dirty="0" err="1"/>
              <a:t>django.urls</a:t>
            </a:r>
            <a:r>
              <a:rPr lang="en-US" b="1" dirty="0"/>
              <a:t> import </a:t>
            </a:r>
            <a:r>
              <a:rPr lang="en-US" b="1" dirty="0" err="1"/>
              <a:t>path,include</a:t>
            </a:r>
            <a:endParaRPr lang="en-US" b="1" dirty="0"/>
          </a:p>
          <a:p>
            <a:endParaRPr lang="en-US" b="1" dirty="0"/>
          </a:p>
          <a:p>
            <a:r>
              <a:rPr lang="en-US" b="1" dirty="0" err="1"/>
              <a:t>urlpatterns</a:t>
            </a:r>
            <a:r>
              <a:rPr lang="en-US" b="1" dirty="0"/>
              <a:t> = [    path('admin/', </a:t>
            </a:r>
            <a:r>
              <a:rPr lang="en-US" b="1" dirty="0" err="1"/>
              <a:t>admin.site.urls</a:t>
            </a:r>
            <a:r>
              <a:rPr lang="en-US" b="1" dirty="0"/>
              <a:t>),</a:t>
            </a:r>
          </a:p>
          <a:p>
            <a:r>
              <a:rPr lang="en-US" b="1" dirty="0"/>
              <a:t>    path("", include('</a:t>
            </a:r>
            <a:r>
              <a:rPr lang="en-US" b="1" dirty="0" err="1"/>
              <a:t>companyapp.urls</a:t>
            </a:r>
            <a:r>
              <a:rPr lang="en-US" b="1" dirty="0"/>
              <a:t>')),</a:t>
            </a:r>
          </a:p>
          <a:p>
            <a:r>
              <a:rPr lang="en-US" b="1" dirty="0"/>
              <a:t>]</a:t>
            </a:r>
          </a:p>
        </p:txBody>
      </p:sp>
    </p:spTree>
    <p:extLst>
      <p:ext uri="{BB962C8B-B14F-4D97-AF65-F5344CB8AC3E}">
        <p14:creationId xmlns:p14="http://schemas.microsoft.com/office/powerpoint/2010/main" val="3195964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37811-1F95-4AA7-9366-BA5A69F2496F}"/>
              </a:ext>
            </a:extLst>
          </p:cNvPr>
          <p:cNvSpPr>
            <a:spLocks noGrp="1"/>
          </p:cNvSpPr>
          <p:nvPr>
            <p:ph type="title"/>
          </p:nvPr>
        </p:nvSpPr>
        <p:spPr/>
        <p:txBody>
          <a:bodyPr/>
          <a:lstStyle/>
          <a:p>
            <a:r>
              <a:rPr lang="en-US" dirty="0"/>
              <a:t>Companyapp/urls.py</a:t>
            </a:r>
            <a:endParaRPr lang="en-IN" dirty="0"/>
          </a:p>
        </p:txBody>
      </p:sp>
      <p:sp>
        <p:nvSpPr>
          <p:cNvPr id="3" name="Content Placeholder 2">
            <a:extLst>
              <a:ext uri="{FF2B5EF4-FFF2-40B4-BE49-F238E27FC236}">
                <a16:creationId xmlns:a16="http://schemas.microsoft.com/office/drawing/2014/main" id="{19F1C351-A4D5-47E9-B9B1-5128947E4AB5}"/>
              </a:ext>
            </a:extLst>
          </p:cNvPr>
          <p:cNvSpPr>
            <a:spLocks noGrp="1"/>
          </p:cNvSpPr>
          <p:nvPr>
            <p:ph idx="1"/>
          </p:nvPr>
        </p:nvSpPr>
        <p:spPr/>
        <p:txBody>
          <a:bodyPr/>
          <a:lstStyle/>
          <a:p>
            <a:r>
              <a:rPr lang="en-IN" dirty="0"/>
              <a:t>from </a:t>
            </a:r>
            <a:r>
              <a:rPr lang="en-IN" dirty="0" err="1"/>
              <a:t>django.contrib</a:t>
            </a:r>
            <a:r>
              <a:rPr lang="en-IN" dirty="0"/>
              <a:t> import admin</a:t>
            </a:r>
          </a:p>
          <a:p>
            <a:r>
              <a:rPr lang="en-IN" dirty="0"/>
              <a:t>from </a:t>
            </a:r>
            <a:r>
              <a:rPr lang="en-IN" dirty="0" err="1"/>
              <a:t>django.urls</a:t>
            </a:r>
            <a:r>
              <a:rPr lang="en-IN" dirty="0"/>
              <a:t> import </a:t>
            </a:r>
            <a:r>
              <a:rPr lang="en-IN" dirty="0" err="1"/>
              <a:t>path,include</a:t>
            </a:r>
            <a:endParaRPr lang="en-IN" dirty="0"/>
          </a:p>
          <a:p>
            <a:r>
              <a:rPr lang="en-IN" dirty="0"/>
              <a:t>from . import views</a:t>
            </a:r>
          </a:p>
          <a:p>
            <a:endParaRPr lang="en-IN" dirty="0"/>
          </a:p>
          <a:p>
            <a:r>
              <a:rPr lang="en-IN" dirty="0" err="1"/>
              <a:t>urlpatterns</a:t>
            </a:r>
            <a:r>
              <a:rPr lang="en-IN" dirty="0"/>
              <a:t> = [    path("", </a:t>
            </a:r>
            <a:r>
              <a:rPr lang="en-IN" dirty="0" err="1"/>
              <a:t>views.first_api_view</a:t>
            </a:r>
            <a:r>
              <a:rPr lang="en-IN" dirty="0"/>
              <a:t>),]</a:t>
            </a:r>
          </a:p>
          <a:p>
            <a:endParaRPr lang="en-IN" dirty="0"/>
          </a:p>
          <a:p>
            <a:r>
              <a:rPr lang="en-IN" dirty="0">
                <a:solidFill>
                  <a:srgbClr val="FF0000"/>
                </a:solidFill>
              </a:rPr>
              <a:t>Python manage.py </a:t>
            </a:r>
            <a:r>
              <a:rPr lang="en-IN" dirty="0" err="1">
                <a:solidFill>
                  <a:srgbClr val="FF0000"/>
                </a:solidFill>
              </a:rPr>
              <a:t>runserver</a:t>
            </a:r>
            <a:endParaRPr lang="en-IN" dirty="0">
              <a:solidFill>
                <a:srgbClr val="FF0000"/>
              </a:solidFill>
            </a:endParaRPr>
          </a:p>
        </p:txBody>
      </p:sp>
    </p:spTree>
    <p:extLst>
      <p:ext uri="{BB962C8B-B14F-4D97-AF65-F5344CB8AC3E}">
        <p14:creationId xmlns:p14="http://schemas.microsoft.com/office/powerpoint/2010/main" val="956798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C88C0D-04D0-4879-B719-B6A4C6DBAD6C}"/>
              </a:ext>
            </a:extLst>
          </p:cNvPr>
          <p:cNvPicPr>
            <a:picLocks noChangeAspect="1"/>
          </p:cNvPicPr>
          <p:nvPr/>
        </p:nvPicPr>
        <p:blipFill>
          <a:blip r:embed="rId2"/>
          <a:stretch>
            <a:fillRect/>
          </a:stretch>
        </p:blipFill>
        <p:spPr>
          <a:xfrm>
            <a:off x="1373776" y="1011981"/>
            <a:ext cx="8557625" cy="5168467"/>
          </a:xfrm>
          <a:prstGeom prst="rect">
            <a:avLst/>
          </a:prstGeom>
        </p:spPr>
      </p:pic>
      <p:pic>
        <p:nvPicPr>
          <p:cNvPr id="3" name="Picture 2">
            <a:extLst>
              <a:ext uri="{FF2B5EF4-FFF2-40B4-BE49-F238E27FC236}">
                <a16:creationId xmlns:a16="http://schemas.microsoft.com/office/drawing/2014/main" id="{CA70AA18-6EA6-4F65-B0BF-9B0E123FF08E}"/>
              </a:ext>
            </a:extLst>
          </p:cNvPr>
          <p:cNvPicPr>
            <a:picLocks noChangeAspect="1"/>
          </p:cNvPicPr>
          <p:nvPr/>
        </p:nvPicPr>
        <p:blipFill>
          <a:blip r:embed="rId3"/>
          <a:stretch>
            <a:fillRect/>
          </a:stretch>
        </p:blipFill>
        <p:spPr>
          <a:xfrm>
            <a:off x="1394756" y="852128"/>
            <a:ext cx="9402487" cy="5153744"/>
          </a:xfrm>
          <a:prstGeom prst="rect">
            <a:avLst/>
          </a:prstGeom>
        </p:spPr>
      </p:pic>
    </p:spTree>
    <p:extLst>
      <p:ext uri="{BB962C8B-B14F-4D97-AF65-F5344CB8AC3E}">
        <p14:creationId xmlns:p14="http://schemas.microsoft.com/office/powerpoint/2010/main" val="2399316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E851C-958D-464A-87A1-4C29441A28B8}"/>
              </a:ext>
            </a:extLst>
          </p:cNvPr>
          <p:cNvSpPr>
            <a:spLocks noGrp="1"/>
          </p:cNvSpPr>
          <p:nvPr>
            <p:ph type="title"/>
          </p:nvPr>
        </p:nvSpPr>
        <p:spPr/>
        <p:txBody>
          <a:bodyPr/>
          <a:lstStyle/>
          <a:p>
            <a:r>
              <a:rPr lang="en-US" sz="1800" b="1" dirty="0">
                <a:effectLst/>
                <a:latin typeface="Calibri" panose="020F0502020204030204" pitchFamily="34" charset="0"/>
                <a:ea typeface="Calibri" panose="020F0502020204030204" pitchFamily="34" charset="0"/>
                <a:cs typeface="Times New Roman" panose="02020603050405020304" pitchFamily="18" charset="0"/>
              </a:rPr>
              <a:t>serializers.py using </a:t>
            </a: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ModelSerializer</a:t>
            </a:r>
            <a:r>
              <a:rPr lang="en-US" sz="1800" b="1" dirty="0">
                <a:effectLst/>
                <a:latin typeface="Calibri" panose="020F0502020204030204" pitchFamily="34" charset="0"/>
                <a:ea typeface="Calibri" panose="020F0502020204030204" pitchFamily="34" charset="0"/>
                <a:cs typeface="Times New Roman" panose="02020603050405020304" pitchFamily="18" charset="0"/>
              </a:rPr>
              <a:t>(make change in </a:t>
            </a:r>
            <a:r>
              <a:rPr lang="en-US" sz="1800" b="1" dirty="0">
                <a:solidFill>
                  <a:srgbClr val="FF0000"/>
                </a:solidFill>
              </a:rPr>
              <a:t>serializers.py</a:t>
            </a:r>
            <a:r>
              <a:rPr lang="en-US" sz="1800" b="1" dirty="0"/>
              <a:t>)</a:t>
            </a:r>
            <a:br>
              <a:rPr lang="en-US" sz="1800" b="1" dirty="0"/>
            </a:br>
            <a:br>
              <a:rPr lang="en-US" sz="1800" b="1" dirty="0"/>
            </a:br>
            <a:r>
              <a:rPr lang="en-US" sz="1800" b="1" dirty="0" err="1"/>
              <a:t>ModelSerializer</a:t>
            </a:r>
            <a:r>
              <a:rPr lang="en-US" sz="1800" b="1" dirty="0"/>
              <a:t> automatically creates serializer fields from the Django model.</a:t>
            </a:r>
            <a:br>
              <a:rPr lang="en-US" sz="1800" b="1" dirty="0"/>
            </a:br>
            <a:br>
              <a:rPr lang="en-US" sz="1800" b="1" dirty="0"/>
            </a:br>
            <a:r>
              <a:rPr lang="en-US"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DED172D0-9099-4BD0-8DE9-D0ED85B27AE4}"/>
              </a:ext>
            </a:extLst>
          </p:cNvPr>
          <p:cNvSpPr>
            <a:spLocks noGrp="1"/>
          </p:cNvSpPr>
          <p:nvPr>
            <p:ph idx="1"/>
          </p:nvPr>
        </p:nvSpPr>
        <p:spPr/>
        <p:txBody>
          <a:bodyPr>
            <a:normAutofit fontScale="70000" lnSpcReduction="20000"/>
          </a:bodyPr>
          <a:lstStyle/>
          <a:p>
            <a:r>
              <a:rPr lang="en-IN" dirty="0"/>
              <a:t>from </a:t>
            </a:r>
            <a:r>
              <a:rPr lang="en-IN" dirty="0" err="1"/>
              <a:t>rest_framework</a:t>
            </a:r>
            <a:r>
              <a:rPr lang="en-IN" dirty="0"/>
              <a:t> import serializers</a:t>
            </a:r>
          </a:p>
          <a:p>
            <a:r>
              <a:rPr lang="en-IN" dirty="0"/>
              <a:t>from .models import Company, Employee</a:t>
            </a:r>
          </a:p>
          <a:p>
            <a:r>
              <a:rPr lang="en-IN" dirty="0"/>
              <a:t>class </a:t>
            </a:r>
            <a:r>
              <a:rPr lang="en-IN" dirty="0" err="1"/>
              <a:t>CompanySerializer</a:t>
            </a:r>
            <a:r>
              <a:rPr lang="en-IN" dirty="0"/>
              <a:t>(</a:t>
            </a:r>
            <a:r>
              <a:rPr lang="en-IN" dirty="0" err="1"/>
              <a:t>serializers.ModelSerializer</a:t>
            </a:r>
            <a:r>
              <a:rPr lang="en-IN" dirty="0"/>
              <a:t>):</a:t>
            </a:r>
          </a:p>
          <a:p>
            <a:r>
              <a:rPr lang="en-IN" dirty="0"/>
              <a:t>    class Meta:</a:t>
            </a:r>
          </a:p>
          <a:p>
            <a:r>
              <a:rPr lang="en-IN" dirty="0"/>
              <a:t>        model = Company</a:t>
            </a:r>
          </a:p>
          <a:p>
            <a:r>
              <a:rPr lang="en-IN" dirty="0"/>
              <a:t>        fields = "__all__"</a:t>
            </a:r>
          </a:p>
          <a:p>
            <a:endParaRPr lang="en-IN" dirty="0"/>
          </a:p>
          <a:p>
            <a:r>
              <a:rPr lang="en-IN" dirty="0"/>
              <a:t>class </a:t>
            </a:r>
            <a:r>
              <a:rPr lang="en-IN" dirty="0" err="1"/>
              <a:t>EmployeeSerializer</a:t>
            </a:r>
            <a:r>
              <a:rPr lang="en-IN" dirty="0"/>
              <a:t>(</a:t>
            </a:r>
            <a:r>
              <a:rPr lang="en-IN" dirty="0" err="1"/>
              <a:t>serializers.ModelSerializer</a:t>
            </a:r>
            <a:r>
              <a:rPr lang="en-IN" dirty="0"/>
              <a:t>):</a:t>
            </a:r>
          </a:p>
          <a:p>
            <a:r>
              <a:rPr lang="en-IN" dirty="0"/>
              <a:t>    company = </a:t>
            </a:r>
            <a:r>
              <a:rPr lang="en-IN" dirty="0" err="1"/>
              <a:t>CompanySerializer</a:t>
            </a:r>
            <a:r>
              <a:rPr lang="en-IN" dirty="0"/>
              <a:t>(</a:t>
            </a:r>
            <a:r>
              <a:rPr lang="en-IN" dirty="0" err="1"/>
              <a:t>read_only</a:t>
            </a:r>
            <a:r>
              <a:rPr lang="en-IN" dirty="0"/>
              <a:t>=True)</a:t>
            </a:r>
          </a:p>
          <a:p>
            <a:r>
              <a:rPr lang="en-IN" dirty="0"/>
              <a:t>    class Meta:</a:t>
            </a:r>
          </a:p>
          <a:p>
            <a:r>
              <a:rPr lang="en-IN" dirty="0"/>
              <a:t>        model = Employee</a:t>
            </a:r>
          </a:p>
          <a:p>
            <a:r>
              <a:rPr lang="en-IN" dirty="0"/>
              <a:t>        fields = "__all__"</a:t>
            </a:r>
          </a:p>
        </p:txBody>
      </p:sp>
    </p:spTree>
    <p:extLst>
      <p:ext uri="{BB962C8B-B14F-4D97-AF65-F5344CB8AC3E}">
        <p14:creationId xmlns:p14="http://schemas.microsoft.com/office/powerpoint/2010/main" val="2188150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F88F0-69E2-4B94-9D94-06C7477D19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CF824F-8A5A-4E05-9C5D-47FE5742155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94A3662-CA0E-4C09-9490-21A112495EE5}"/>
              </a:ext>
            </a:extLst>
          </p:cNvPr>
          <p:cNvPicPr>
            <a:picLocks noChangeAspect="1"/>
          </p:cNvPicPr>
          <p:nvPr/>
        </p:nvPicPr>
        <p:blipFill>
          <a:blip r:embed="rId2"/>
          <a:stretch>
            <a:fillRect/>
          </a:stretch>
        </p:blipFill>
        <p:spPr>
          <a:xfrm>
            <a:off x="1347125" y="766391"/>
            <a:ext cx="9497750" cy="5325218"/>
          </a:xfrm>
          <a:prstGeom prst="rect">
            <a:avLst/>
          </a:prstGeom>
        </p:spPr>
      </p:pic>
    </p:spTree>
    <p:extLst>
      <p:ext uri="{BB962C8B-B14F-4D97-AF65-F5344CB8AC3E}">
        <p14:creationId xmlns:p14="http://schemas.microsoft.com/office/powerpoint/2010/main" val="4201386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C32A-A1D0-4F5E-9EC7-7524D4E84DBF}"/>
              </a:ext>
            </a:extLst>
          </p:cNvPr>
          <p:cNvSpPr>
            <a:spLocks noGrp="1"/>
          </p:cNvSpPr>
          <p:nvPr>
            <p:ph type="title"/>
          </p:nvPr>
        </p:nvSpPr>
        <p:spPr/>
        <p:txBody>
          <a:bodyPr/>
          <a:lstStyle/>
          <a:p>
            <a:r>
              <a:rPr lang="en-US" dirty="0"/>
              <a:t>Simplifying the code using </a:t>
            </a:r>
            <a:r>
              <a:rPr lang="en-US" dirty="0" err="1"/>
              <a:t>ViewSets</a:t>
            </a:r>
            <a:endParaRPr lang="en-IN" dirty="0"/>
          </a:p>
        </p:txBody>
      </p:sp>
      <p:sp>
        <p:nvSpPr>
          <p:cNvPr id="3" name="Content Placeholder 2">
            <a:extLst>
              <a:ext uri="{FF2B5EF4-FFF2-40B4-BE49-F238E27FC236}">
                <a16:creationId xmlns:a16="http://schemas.microsoft.com/office/drawing/2014/main" id="{BEE71CEE-5529-4AC5-84D5-A9F1B529D8EC}"/>
              </a:ext>
            </a:extLst>
          </p:cNvPr>
          <p:cNvSpPr>
            <a:spLocks noGrp="1"/>
          </p:cNvSpPr>
          <p:nvPr>
            <p:ph idx="1"/>
          </p:nvPr>
        </p:nvSpPr>
        <p:spPr/>
        <p:txBody>
          <a:bodyPr>
            <a:normAutofit/>
          </a:bodyPr>
          <a:lstStyle/>
          <a:p>
            <a:r>
              <a:rPr lang="en-US" dirty="0" err="1"/>
              <a:t>ViewSets</a:t>
            </a:r>
            <a:r>
              <a:rPr lang="en-US" dirty="0"/>
              <a:t> and routers help us  sing class-based further simplify our code. As the name indicates,</a:t>
            </a:r>
          </a:p>
          <a:p>
            <a:r>
              <a:rPr lang="en-US" dirty="0" err="1"/>
              <a:t>ViewSets</a:t>
            </a:r>
            <a:r>
              <a:rPr lang="en-US" dirty="0"/>
              <a:t> are a set of views represented in a single class. </a:t>
            </a:r>
          </a:p>
        </p:txBody>
      </p:sp>
    </p:spTree>
    <p:extLst>
      <p:ext uri="{BB962C8B-B14F-4D97-AF65-F5344CB8AC3E}">
        <p14:creationId xmlns:p14="http://schemas.microsoft.com/office/powerpoint/2010/main" val="2113896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F539F-18B3-4EA2-8992-78438ECD88F8}"/>
              </a:ext>
            </a:extLst>
          </p:cNvPr>
          <p:cNvSpPr>
            <a:spLocks noGrp="1"/>
          </p:cNvSpPr>
          <p:nvPr>
            <p:ph type="title"/>
          </p:nvPr>
        </p:nvSpPr>
        <p:spPr/>
        <p:txBody>
          <a:bodyPr/>
          <a:lstStyle/>
          <a:p>
            <a:r>
              <a:rPr lang="en-US" dirty="0"/>
              <a:t>views.py</a:t>
            </a:r>
            <a:endParaRPr lang="en-IN" dirty="0"/>
          </a:p>
        </p:txBody>
      </p:sp>
      <p:sp>
        <p:nvSpPr>
          <p:cNvPr id="3" name="Content Placeholder 2">
            <a:extLst>
              <a:ext uri="{FF2B5EF4-FFF2-40B4-BE49-F238E27FC236}">
                <a16:creationId xmlns:a16="http://schemas.microsoft.com/office/drawing/2014/main" id="{A44561B1-D43A-4946-9572-A84DBD208942}"/>
              </a:ext>
            </a:extLst>
          </p:cNvPr>
          <p:cNvSpPr>
            <a:spLocks noGrp="1"/>
          </p:cNvSpPr>
          <p:nvPr>
            <p:ph idx="1"/>
          </p:nvPr>
        </p:nvSpPr>
        <p:spPr/>
        <p:txBody>
          <a:bodyPr>
            <a:normAutofit fontScale="92500" lnSpcReduction="10000"/>
          </a:bodyPr>
          <a:lstStyle/>
          <a:p>
            <a:r>
              <a:rPr lang="en-US" dirty="0"/>
              <a:t>from </a:t>
            </a:r>
            <a:r>
              <a:rPr lang="en-US" dirty="0" err="1"/>
              <a:t>rest_framework</a:t>
            </a:r>
            <a:r>
              <a:rPr lang="en-US" dirty="0"/>
              <a:t> import </a:t>
            </a:r>
            <a:r>
              <a:rPr lang="en-US" dirty="0" err="1"/>
              <a:t>viewsets</a:t>
            </a:r>
            <a:endParaRPr lang="en-US" dirty="0"/>
          </a:p>
          <a:p>
            <a:r>
              <a:rPr lang="en-US" dirty="0"/>
              <a:t>from .models import Company, Employee</a:t>
            </a:r>
          </a:p>
          <a:p>
            <a:r>
              <a:rPr lang="en-US" dirty="0"/>
              <a:t>from .serializers import (</a:t>
            </a:r>
            <a:r>
              <a:rPr lang="en-US" dirty="0" err="1"/>
              <a:t>CompanySerializer,EmployeeSerializer</a:t>
            </a:r>
            <a:r>
              <a:rPr lang="en-US" dirty="0"/>
              <a:t>)</a:t>
            </a:r>
          </a:p>
          <a:p>
            <a:endParaRPr lang="en-US" dirty="0"/>
          </a:p>
          <a:p>
            <a:r>
              <a:rPr lang="en-US" dirty="0"/>
              <a:t>class </a:t>
            </a:r>
            <a:r>
              <a:rPr lang="en-US" dirty="0" err="1"/>
              <a:t>CompanyViewSet</a:t>
            </a:r>
            <a:r>
              <a:rPr lang="en-US" dirty="0"/>
              <a:t>(</a:t>
            </a:r>
            <a:r>
              <a:rPr lang="en-US" dirty="0" err="1"/>
              <a:t>viewsets.ModelViewSet</a:t>
            </a:r>
            <a:r>
              <a:rPr lang="en-US" dirty="0"/>
              <a:t>):</a:t>
            </a:r>
          </a:p>
          <a:p>
            <a:r>
              <a:rPr lang="en-US" dirty="0"/>
              <a:t>    </a:t>
            </a:r>
            <a:r>
              <a:rPr lang="en-US" dirty="0" err="1"/>
              <a:t>queryset</a:t>
            </a:r>
            <a:r>
              <a:rPr lang="en-US" dirty="0"/>
              <a:t> = </a:t>
            </a:r>
            <a:r>
              <a:rPr lang="en-US" dirty="0" err="1"/>
              <a:t>Company.objects.all</a:t>
            </a:r>
            <a:r>
              <a:rPr lang="en-US" dirty="0"/>
              <a:t>()</a:t>
            </a:r>
          </a:p>
          <a:p>
            <a:r>
              <a:rPr lang="en-US" dirty="0"/>
              <a:t>    </a:t>
            </a:r>
            <a:r>
              <a:rPr lang="en-US" dirty="0" err="1"/>
              <a:t>serializer_class</a:t>
            </a:r>
            <a:r>
              <a:rPr lang="en-US" dirty="0"/>
              <a:t> = </a:t>
            </a:r>
            <a:r>
              <a:rPr lang="en-US" dirty="0" err="1"/>
              <a:t>CompanySerializer</a:t>
            </a:r>
            <a:endParaRPr lang="en-US" dirty="0"/>
          </a:p>
          <a:p>
            <a:r>
              <a:rPr lang="en-US" dirty="0"/>
              <a:t>class </a:t>
            </a:r>
            <a:r>
              <a:rPr lang="en-US" dirty="0" err="1"/>
              <a:t>EmployeeViewSet</a:t>
            </a:r>
            <a:r>
              <a:rPr lang="en-US" dirty="0"/>
              <a:t>(</a:t>
            </a:r>
            <a:r>
              <a:rPr lang="en-US" dirty="0" err="1"/>
              <a:t>viewsets.ModelViewSet</a:t>
            </a:r>
            <a:r>
              <a:rPr lang="en-US" dirty="0"/>
              <a:t>):</a:t>
            </a:r>
          </a:p>
          <a:p>
            <a:r>
              <a:rPr lang="en-US" dirty="0"/>
              <a:t>    </a:t>
            </a:r>
            <a:r>
              <a:rPr lang="en-US" dirty="0" err="1"/>
              <a:t>queryset</a:t>
            </a:r>
            <a:r>
              <a:rPr lang="en-US" dirty="0"/>
              <a:t> = </a:t>
            </a:r>
            <a:r>
              <a:rPr lang="en-US" dirty="0" err="1"/>
              <a:t>Employee.objects.all</a:t>
            </a:r>
            <a:r>
              <a:rPr lang="en-US" dirty="0"/>
              <a:t>()</a:t>
            </a:r>
          </a:p>
          <a:p>
            <a:r>
              <a:rPr lang="en-US" dirty="0"/>
              <a:t>    </a:t>
            </a:r>
            <a:r>
              <a:rPr lang="en-US" dirty="0" err="1"/>
              <a:t>serializer_class</a:t>
            </a:r>
            <a:r>
              <a:rPr lang="en-US" dirty="0"/>
              <a:t> = </a:t>
            </a:r>
            <a:r>
              <a:rPr lang="en-US" dirty="0" err="1"/>
              <a:t>EmployeeSerializer</a:t>
            </a:r>
            <a:endParaRPr lang="en-US" dirty="0"/>
          </a:p>
        </p:txBody>
      </p:sp>
    </p:spTree>
    <p:extLst>
      <p:ext uri="{BB962C8B-B14F-4D97-AF65-F5344CB8AC3E}">
        <p14:creationId xmlns:p14="http://schemas.microsoft.com/office/powerpoint/2010/main" val="732690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30F2-0BF4-42BC-8507-0A87282C42AF}"/>
              </a:ext>
            </a:extLst>
          </p:cNvPr>
          <p:cNvSpPr>
            <a:spLocks noGrp="1"/>
          </p:cNvSpPr>
          <p:nvPr>
            <p:ph type="title"/>
          </p:nvPr>
        </p:nvSpPr>
        <p:spPr/>
        <p:txBody>
          <a:bodyPr/>
          <a:lstStyle/>
          <a:p>
            <a:r>
              <a:rPr lang="en-US" dirty="0"/>
              <a:t>Companyapp/urls.py</a:t>
            </a:r>
            <a:endParaRPr lang="en-IN" dirty="0"/>
          </a:p>
        </p:txBody>
      </p:sp>
      <p:sp>
        <p:nvSpPr>
          <p:cNvPr id="3" name="Content Placeholder 2">
            <a:extLst>
              <a:ext uri="{FF2B5EF4-FFF2-40B4-BE49-F238E27FC236}">
                <a16:creationId xmlns:a16="http://schemas.microsoft.com/office/drawing/2014/main" id="{A459E04E-9A92-4EE2-B495-54C90E6366EA}"/>
              </a:ext>
            </a:extLst>
          </p:cNvPr>
          <p:cNvSpPr>
            <a:spLocks noGrp="1"/>
          </p:cNvSpPr>
          <p:nvPr>
            <p:ph idx="1"/>
          </p:nvPr>
        </p:nvSpPr>
        <p:spPr/>
        <p:txBody>
          <a:bodyPr/>
          <a:lstStyle/>
          <a:p>
            <a:r>
              <a:rPr lang="en-IN" dirty="0"/>
              <a:t>from </a:t>
            </a:r>
            <a:r>
              <a:rPr lang="en-IN" dirty="0" err="1"/>
              <a:t>django.urls</a:t>
            </a:r>
            <a:r>
              <a:rPr lang="en-IN" dirty="0"/>
              <a:t> import path, include</a:t>
            </a:r>
          </a:p>
          <a:p>
            <a:endParaRPr lang="en-IN" dirty="0"/>
          </a:p>
          <a:p>
            <a:r>
              <a:rPr lang="en-IN" dirty="0"/>
              <a:t>from </a:t>
            </a:r>
            <a:r>
              <a:rPr lang="en-IN" dirty="0" err="1"/>
              <a:t>rest_framework.routers</a:t>
            </a:r>
            <a:r>
              <a:rPr lang="en-IN" dirty="0"/>
              <a:t> import </a:t>
            </a:r>
            <a:r>
              <a:rPr lang="en-IN" dirty="0" err="1"/>
              <a:t>DefaultRouter</a:t>
            </a:r>
            <a:endParaRPr lang="en-IN" dirty="0"/>
          </a:p>
          <a:p>
            <a:r>
              <a:rPr lang="en-IN" dirty="0"/>
              <a:t>from .views import (    </a:t>
            </a:r>
            <a:r>
              <a:rPr lang="en-IN" dirty="0" err="1"/>
              <a:t>CompanyViewSet</a:t>
            </a:r>
            <a:r>
              <a:rPr lang="en-IN" dirty="0"/>
              <a:t>,    </a:t>
            </a:r>
            <a:r>
              <a:rPr lang="en-IN" dirty="0" err="1"/>
              <a:t>EmployeeViewSet</a:t>
            </a:r>
            <a:r>
              <a:rPr lang="en-IN" dirty="0"/>
              <a:t>)</a:t>
            </a:r>
          </a:p>
          <a:p>
            <a:r>
              <a:rPr lang="en-IN" dirty="0"/>
              <a:t>router = </a:t>
            </a:r>
            <a:r>
              <a:rPr lang="en-IN" dirty="0" err="1"/>
              <a:t>DefaultRouter</a:t>
            </a:r>
            <a:r>
              <a:rPr lang="en-IN" dirty="0"/>
              <a:t>()</a:t>
            </a:r>
          </a:p>
          <a:p>
            <a:r>
              <a:rPr lang="en-IN" dirty="0" err="1"/>
              <a:t>router.register</a:t>
            </a:r>
            <a:r>
              <a:rPr lang="en-IN" dirty="0"/>
              <a:t>( 'companies', </a:t>
            </a:r>
            <a:r>
              <a:rPr lang="en-IN" dirty="0" err="1"/>
              <a:t>CompanyViewSet</a:t>
            </a:r>
            <a:r>
              <a:rPr lang="en-IN" dirty="0"/>
              <a:t>)</a:t>
            </a:r>
          </a:p>
          <a:p>
            <a:r>
              <a:rPr lang="en-IN" dirty="0" err="1"/>
              <a:t>router.register</a:t>
            </a:r>
            <a:r>
              <a:rPr lang="en-IN" dirty="0"/>
              <a:t>('employees', </a:t>
            </a:r>
            <a:r>
              <a:rPr lang="en-IN" dirty="0" err="1"/>
              <a:t>EmployeeViewSet</a:t>
            </a:r>
            <a:r>
              <a:rPr lang="en-IN" dirty="0"/>
              <a:t>)</a:t>
            </a:r>
          </a:p>
          <a:p>
            <a:r>
              <a:rPr lang="en-IN" dirty="0" err="1"/>
              <a:t>urlpatterns</a:t>
            </a:r>
            <a:r>
              <a:rPr lang="en-IN" dirty="0"/>
              <a:t> = [   path( '',  include(</a:t>
            </a:r>
            <a:r>
              <a:rPr lang="en-IN" dirty="0" err="1"/>
              <a:t>router.urls</a:t>
            </a:r>
            <a:r>
              <a:rPr lang="en-IN" dirty="0"/>
              <a:t>) ),]</a:t>
            </a:r>
          </a:p>
          <a:p>
            <a:endParaRPr lang="en-IN" dirty="0"/>
          </a:p>
        </p:txBody>
      </p:sp>
    </p:spTree>
    <p:extLst>
      <p:ext uri="{BB962C8B-B14F-4D97-AF65-F5344CB8AC3E}">
        <p14:creationId xmlns:p14="http://schemas.microsoft.com/office/powerpoint/2010/main" val="125320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E460D-0F4B-4EEB-94F3-28FDEE4807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0B95D9-A5AC-41D5-84FD-D6DCC2F237A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08BB4E5-F6EC-4497-8865-A4475CBE0B34}"/>
              </a:ext>
            </a:extLst>
          </p:cNvPr>
          <p:cNvPicPr>
            <a:picLocks noChangeAspect="1"/>
          </p:cNvPicPr>
          <p:nvPr/>
        </p:nvPicPr>
        <p:blipFill>
          <a:blip r:embed="rId2"/>
          <a:stretch>
            <a:fillRect/>
          </a:stretch>
        </p:blipFill>
        <p:spPr>
          <a:xfrm>
            <a:off x="851755" y="666364"/>
            <a:ext cx="10488489" cy="5525271"/>
          </a:xfrm>
          <a:prstGeom prst="rect">
            <a:avLst/>
          </a:prstGeom>
        </p:spPr>
      </p:pic>
    </p:spTree>
    <p:extLst>
      <p:ext uri="{BB962C8B-B14F-4D97-AF65-F5344CB8AC3E}">
        <p14:creationId xmlns:p14="http://schemas.microsoft.com/office/powerpoint/2010/main" val="1492647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2697B-F93B-4EA6-8C33-B37F59F426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5FF913-0DCF-43F0-B351-45C47EF8D41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2D59EED-3430-40EF-9AC2-B2C27542233E}"/>
              </a:ext>
            </a:extLst>
          </p:cNvPr>
          <p:cNvPicPr>
            <a:picLocks noChangeAspect="1"/>
          </p:cNvPicPr>
          <p:nvPr/>
        </p:nvPicPr>
        <p:blipFill>
          <a:blip r:embed="rId2"/>
          <a:stretch>
            <a:fillRect/>
          </a:stretch>
        </p:blipFill>
        <p:spPr>
          <a:xfrm>
            <a:off x="668867" y="905933"/>
            <a:ext cx="10922000" cy="5105400"/>
          </a:xfrm>
          <a:prstGeom prst="rect">
            <a:avLst/>
          </a:prstGeom>
        </p:spPr>
      </p:pic>
    </p:spTree>
    <p:extLst>
      <p:ext uri="{BB962C8B-B14F-4D97-AF65-F5344CB8AC3E}">
        <p14:creationId xmlns:p14="http://schemas.microsoft.com/office/powerpoint/2010/main" val="355576159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127</TotalTime>
  <Words>958</Words>
  <Application>Microsoft Office PowerPoint</Application>
  <PresentationFormat>Widescreen</PresentationFormat>
  <Paragraphs>113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Consolas</vt:lpstr>
      <vt:lpstr>Courier New</vt:lpstr>
      <vt:lpstr>Times New Roman</vt:lpstr>
      <vt:lpstr>Retrospect</vt:lpstr>
      <vt:lpstr>Building a REST API </vt:lpstr>
      <vt:lpstr>PowerPoint Presentation</vt:lpstr>
      <vt:lpstr>DRF</vt:lpstr>
      <vt:lpstr>models.py</vt:lpstr>
      <vt:lpstr>Views.py</vt:lpstr>
      <vt:lpstr>serializers</vt:lpstr>
      <vt:lpstr>Creating an API view to display a list of books</vt:lpstr>
      <vt:lpstr>serializers.py</vt:lpstr>
      <vt:lpstr>Company/urls.py</vt:lpstr>
      <vt:lpstr>Companyapp/urls.py</vt:lpstr>
      <vt:lpstr>PowerPoint Presentation</vt:lpstr>
      <vt:lpstr>serializers.py using ModelSerializer(make change in serializers.py)  ModelSerializer automatically creates serializer fields from the Django model.   </vt:lpstr>
      <vt:lpstr>PowerPoint Presentation</vt:lpstr>
      <vt:lpstr>Simplifying the code using ViewSets</vt:lpstr>
      <vt:lpstr>views.py</vt:lpstr>
      <vt:lpstr>Companyapp/urls.py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REST AP</dc:title>
  <dc:creator>Hp</dc:creator>
  <cp:lastModifiedBy>Hp</cp:lastModifiedBy>
  <cp:revision>31</cp:revision>
  <dcterms:created xsi:type="dcterms:W3CDTF">2026-06-09T10:41:33Z</dcterms:created>
  <dcterms:modified xsi:type="dcterms:W3CDTF">2026-07-01T13:20:28Z</dcterms:modified>
</cp:coreProperties>
</file>